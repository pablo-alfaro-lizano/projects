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Proxima Nova"/>
      <p:regular r:id="rId21"/>
      <p:bold r:id="rId22"/>
      <p:italic r:id="rId23"/>
      <p:boldItalic r:id="rId24"/>
    </p:embeddedFont>
    <p:embeddedFont>
      <p:font typeface="Abel"/>
      <p:regular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roximaNova-bold.fntdata"/><Relationship Id="rId21" Type="http://schemas.openxmlformats.org/officeDocument/2006/relationships/font" Target="fonts/ProximaNova-regular.fntdata"/><Relationship Id="rId24" Type="http://schemas.openxmlformats.org/officeDocument/2006/relationships/font" Target="fonts/ProximaNova-boldItalic.fntdata"/><Relationship Id="rId23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Abel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900cfddb2e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900cfddb2e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900cfddb2e_2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900cfddb2e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900cfddb2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900cfddb2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f98c4559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f98c4559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900cfddb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900cfddb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900cfddb2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900cfddb2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ffc69cec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ffc69cec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900cfddad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900cfddad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f98c4559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f98c4559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900cfddb2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900cfddb2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00cfddad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00cfdda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ffc69cec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ffc69cec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900cfddb2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900cfddb2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900cfddb2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900cfddb2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document/d/1e5nApk3iEZLx_ZTu9wmyyssXpA125_upC5gHabJVG5s/edit#heading=h.avepiz6t7xlk" TargetMode="External"/><Relationship Id="rId4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041725"/>
            <a:ext cx="6179700" cy="1732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latin typeface="Abel"/>
                <a:ea typeface="Abel"/>
                <a:cs typeface="Abel"/>
                <a:sym typeface="Abel"/>
              </a:rPr>
              <a:t>Los efectos socioeconómicos de las pensiones de lujo en Costa Rica 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Grupo: Descartes de realidad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 General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500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Indagar mediante un análisis de coyuntura sobre los efectos socioeconómicos de las pensiones de lujo en Costa Rica y proponer soluciones para mejorar el sistema de jubilación del país.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 Especificos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Describir el sistema de jubilación costarricense actual y sus distintos regímenes.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Conocer los efecto de las pensiones de lujo en el sistema de jubilación de la sociedad costarricense.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Comparar el sistema de pensiones costarricense con el de otros países en vías de desarrollo.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Proponer posibles soluciones que mejoren el sistema de pensiones en del país.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Análisis de coyuntura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271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Acontecimientos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863550"/>
            <a:ext cx="8520600" cy="41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El éxito de una sociedad depende en gran medida de que  tan bien se distribuyen los recursos que genera una nación entre todos sus integrantes físicos y jurídicos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La población de adultos mayores suele ser la más vulnerable al no tener capacidad para seguir trabajando y al no tener el respaldo de familiares que se hagan cargo de ellos.</a:t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●"/>
            </a:pPr>
            <a:r>
              <a:rPr lang="en" sz="1700">
                <a:solidFill>
                  <a:srgbClr val="000000"/>
                </a:solidFill>
              </a:rPr>
              <a:t>En la desigualdad, se observan injusticias que terminan dañando a los más vulnerable.</a:t>
            </a:r>
            <a:endParaRPr sz="1700">
              <a:solidFill>
                <a:srgbClr val="000000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sz="1700">
                <a:solidFill>
                  <a:srgbClr val="000000"/>
                </a:solidFill>
              </a:rPr>
              <a:t>En Costa Rica, el sistema de pensiones es un ejemplo de la sociedad desigual en la que vivimos</a:t>
            </a:r>
            <a:r>
              <a:rPr lang="en" sz="1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Actores</a:t>
            </a:r>
            <a:endParaRPr>
              <a:latin typeface="Abel"/>
              <a:ea typeface="Abel"/>
              <a:cs typeface="Abel"/>
              <a:sym typeface="Abe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450" y="828350"/>
            <a:ext cx="4706275" cy="39724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/>
          <p:nvPr/>
        </p:nvSpPr>
        <p:spPr>
          <a:xfrm>
            <a:off x="4131600" y="4107400"/>
            <a:ext cx="880800" cy="407100"/>
          </a:xfrm>
          <a:prstGeom prst="rect">
            <a:avLst/>
          </a:prstGeom>
          <a:solidFill>
            <a:srgbClr val="1C4587"/>
          </a:solidFill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4131600" y="4048300"/>
            <a:ext cx="880800" cy="3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Pension Complementaria Voluntaria</a:t>
            </a:r>
            <a:endParaRPr sz="7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5202700" y="207225"/>
            <a:ext cx="2301600" cy="9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Regimen</a:t>
            </a: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: Invalidez, Vejez y Muerte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Cuotas </a:t>
            </a: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Tripartarias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Salario promedio de los últimos 20 años. 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7119500" y="2434825"/>
            <a:ext cx="16503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Capitalización</a:t>
            </a: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 Individual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Controlados por CCSS y Administrados por la OPC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4.25% Salario Bruto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5787350" y="4007500"/>
            <a:ext cx="1746600" cy="6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Popular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No lo ofrece la CCSS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Requisitos: 57 </a:t>
            </a: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años</a:t>
            </a: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 de edad y 66 meses antes del retiro.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717375" y="2146188"/>
            <a:ext cx="16503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Mayores de 65 anos 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Administrada por la </a:t>
            </a: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dirección</a:t>
            </a: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 nacional de pensiones y la CCSS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Requisitos: Costarricense, comprobar necesidad de beneficios financieros o invalidez.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Proxima Nova"/>
                <a:ea typeface="Proxima Nova"/>
                <a:cs typeface="Proxima Nova"/>
                <a:sym typeface="Proxima Nova"/>
              </a:rPr>
              <a:t>128,000 poblacion.</a:t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Escenarios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Se evidencia  que existe un grupo de jubilados que tienen pensiones excesivas.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Las principales organizaciones gubernamentales que concentran las pensiones de lujo, son el Poder Judicial, los que entran dentro del Régimen del Magisterio y los Regímenes de pensiones de la Asamblea Legislativa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375" y="1016000"/>
            <a:ext cx="4038774" cy="2429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0"/>
          <p:cNvSpPr txBox="1"/>
          <p:nvPr>
            <p:ph type="title"/>
          </p:nvPr>
        </p:nvSpPr>
        <p:spPr>
          <a:xfrm>
            <a:off x="211150" y="300450"/>
            <a:ext cx="3776100" cy="5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rPr>
              <a:t>Gastos (miles de millones)</a:t>
            </a:r>
            <a:endParaRPr sz="2300">
              <a:solidFill>
                <a:srgbClr val="000000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08" name="Google Shape;108;p20"/>
          <p:cNvSpPr txBox="1"/>
          <p:nvPr>
            <p:ph type="title"/>
          </p:nvPr>
        </p:nvSpPr>
        <p:spPr>
          <a:xfrm>
            <a:off x="5169025" y="0"/>
            <a:ext cx="3017100" cy="41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 sz="2100">
                <a:latin typeface="Abel"/>
                <a:ea typeface="Abel"/>
                <a:cs typeface="Abel"/>
                <a:sym typeface="Abel"/>
              </a:rPr>
              <a:t>Leyes en curso </a:t>
            </a:r>
            <a:endParaRPr sz="2200">
              <a:latin typeface="Abel"/>
              <a:ea typeface="Abel"/>
              <a:cs typeface="Abel"/>
              <a:sym typeface="Abel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9049" y="478775"/>
            <a:ext cx="3017063" cy="449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487600" y="3376275"/>
            <a:ext cx="3223200" cy="3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Fuente:  Periódico La República, 2019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rPr>
              <a:t> Predicciones demográficas de la p</a:t>
            </a:r>
            <a:r>
              <a:rPr lang="en">
                <a:solidFill>
                  <a:srgbClr val="000000"/>
                </a:solidFill>
                <a:latin typeface="Abel"/>
                <a:ea typeface="Abel"/>
                <a:cs typeface="Abel"/>
                <a:sym typeface="Abel"/>
              </a:rPr>
              <a:t>oblación costarricense</a:t>
            </a:r>
            <a:endParaRPr>
              <a:solidFill>
                <a:srgbClr val="000000"/>
              </a:solidFill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500" y="1152475"/>
            <a:ext cx="3852150" cy="364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5650" y="1152475"/>
            <a:ext cx="4216650" cy="364602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1"/>
          <p:cNvSpPr txBox="1"/>
          <p:nvPr/>
        </p:nvSpPr>
        <p:spPr>
          <a:xfrm>
            <a:off x="6808800" y="4703625"/>
            <a:ext cx="2335200" cy="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Fuente:Mideplan,2019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311700" y="2105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Relación de fuerzas 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311700" y="908900"/>
            <a:ext cx="8520600" cy="358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→"/>
            </a:pPr>
            <a:r>
              <a:rPr lang="en" sz="1700">
                <a:solidFill>
                  <a:srgbClr val="000000"/>
                </a:solidFill>
              </a:rPr>
              <a:t>Panamá, Colombia y México</a:t>
            </a:r>
            <a:endParaRPr sz="1700">
              <a:solidFill>
                <a:srgbClr val="000000"/>
              </a:solidFill>
            </a:endParaRPr>
          </a:p>
          <a:p>
            <a:pPr indent="-33655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➔"/>
            </a:pPr>
            <a:r>
              <a:rPr lang="en" sz="1700">
                <a:solidFill>
                  <a:srgbClr val="000000"/>
                </a:solidFill>
              </a:rPr>
              <a:t>Panama: Problemas reconociendo todas las solicitudes del RNC (C.R) sistema de reparto.</a:t>
            </a:r>
            <a:endParaRPr sz="1700">
              <a:solidFill>
                <a:srgbClr val="000000"/>
              </a:solidFill>
            </a:endParaRPr>
          </a:p>
          <a:p>
            <a:pPr indent="-33655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➔"/>
            </a:pPr>
            <a:r>
              <a:rPr lang="en" sz="1700">
                <a:solidFill>
                  <a:srgbClr val="000000"/>
                </a:solidFill>
              </a:rPr>
              <a:t>Colombia: Comprime nuestros cuatro pilares a dos (voluntario y no contributivo), y su vasta población logra apropiar una jubilación justa y deseada.</a:t>
            </a:r>
            <a:endParaRPr sz="1700">
              <a:solidFill>
                <a:srgbClr val="000000"/>
              </a:solidFill>
            </a:endParaRPr>
          </a:p>
          <a:p>
            <a:pPr indent="-33655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➔"/>
            </a:pPr>
            <a:r>
              <a:rPr lang="en" sz="1700">
                <a:solidFill>
                  <a:srgbClr val="000000"/>
                </a:solidFill>
              </a:rPr>
              <a:t>México:</a:t>
            </a:r>
            <a:r>
              <a:rPr lang="en" sz="1700">
                <a:solidFill>
                  <a:srgbClr val="000000"/>
                </a:solidFill>
              </a:rPr>
              <a:t> Maneja cuatro pilares y pago tripartito</a:t>
            </a:r>
            <a:endParaRPr sz="1700">
              <a:solidFill>
                <a:srgbClr val="000000"/>
              </a:solidFill>
            </a:endParaRPr>
          </a:p>
          <a:p>
            <a:pPr indent="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000000"/>
              </a:solidFill>
            </a:endParaRPr>
          </a:p>
          <a:p>
            <a:pPr indent="-3365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→"/>
            </a:pPr>
            <a:r>
              <a:rPr lang="en" sz="1700">
                <a:solidFill>
                  <a:srgbClr val="000000"/>
                </a:solidFill>
              </a:rPr>
              <a:t>Todos comparten la amenaza del crecimiento de la población en vejez. </a:t>
            </a:r>
            <a:endParaRPr sz="1700">
              <a:solidFill>
                <a:srgbClr val="000000"/>
              </a:solidFill>
            </a:endParaRPr>
          </a:p>
          <a:p>
            <a:pPr indent="-336550" lvl="0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➔"/>
            </a:pPr>
            <a:r>
              <a:rPr lang="en" sz="1700">
                <a:solidFill>
                  <a:srgbClr val="000000"/>
                </a:solidFill>
              </a:rPr>
              <a:t>Costa Rica es el único que presenta el problema de las pensiones de lujo de manera tan notoria.</a:t>
            </a:r>
            <a:endParaRPr sz="17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Abel"/>
                <a:ea typeface="Abel"/>
                <a:cs typeface="Abel"/>
                <a:sym typeface="Abel"/>
              </a:rPr>
              <a:t>Articulación de la coyuntura</a:t>
            </a:r>
            <a:endParaRPr>
              <a:latin typeface="Abel"/>
              <a:ea typeface="Abel"/>
              <a:cs typeface="Abel"/>
              <a:sym typeface="Abe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Efectos  socioeconómicos de las pensiones de lujo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>
                <a:solidFill>
                  <a:srgbClr val="000000"/>
                </a:solidFill>
              </a:rPr>
              <a:t>en Costa Rica</a:t>
            </a:r>
            <a:r>
              <a:rPr lang="en" sz="2100">
                <a:solidFill>
                  <a:srgbClr val="000000"/>
                </a:solidFill>
              </a:rPr>
              <a:t>	</a:t>
            </a:r>
            <a:endParaRPr sz="2200"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Se han creado fuertes disparidades entre las pensiones de los empleados públicos y privados.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Una gran parte de los fondos de las pensiones van para pagar las pensiones de un grupo reducido de personas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Situación crítica de la estructura financiera del sistema de reparto.</a:t>
            </a:r>
            <a:endParaRPr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>
                <a:solidFill>
                  <a:srgbClr val="000000"/>
                </a:solidFill>
              </a:rPr>
              <a:t>Creciente descontento social contra los beneficiados de las pensiones de lujo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2600" y="1557438"/>
            <a:ext cx="3909701" cy="260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Datos alarmantes 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311700" y="1136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2019: financiamiento 21% mediante bonos; 61.230 pensionados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2020: 1.1 billones de colones en pensiones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Jubilaciones por encima de 13 millones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10.000 ciudadanos tienen un monto superior a 1.6 millones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Ingresos IVA 490 millones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Contribución solidaria sobre 2,7 millones no aplica para pensionados antes del 1998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203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Posibles soluciones para mejorar el sistema de pensiones de Costa Rica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4345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Ponerle un </a:t>
            </a:r>
            <a:r>
              <a:rPr lang="en">
                <a:solidFill>
                  <a:srgbClr val="000000"/>
                </a:solidFill>
              </a:rPr>
              <a:t>límite</a:t>
            </a:r>
            <a:r>
              <a:rPr lang="en">
                <a:solidFill>
                  <a:srgbClr val="000000"/>
                </a:solidFill>
              </a:rPr>
              <a:t> a la autonomía con la que cuentan diferentes organizaciones gubernamentales.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Aplicación obligatoria de Ley 7605. Tope de 2,7 millones.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Buscar </a:t>
            </a:r>
            <a:r>
              <a:rPr lang="en">
                <a:solidFill>
                  <a:srgbClr val="000000"/>
                </a:solidFill>
              </a:rPr>
              <a:t>alternativas</a:t>
            </a:r>
            <a:r>
              <a:rPr lang="en">
                <a:solidFill>
                  <a:srgbClr val="000000"/>
                </a:solidFill>
              </a:rPr>
              <a:t> para aumentar la cantidad de empleo formal,con el propósito de que aumenta la cantidad de personas cotizando a los fondos de pensiones.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Implementar políticas basadas en la economía del comportamiento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260275" y="1115275"/>
            <a:ext cx="644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Lograr una sociedad más justa e igualitaria.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Propuestas que integren las necesidades y deseos de todos los habitantes.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S</a:t>
            </a:r>
            <a:r>
              <a:rPr lang="en">
                <a:solidFill>
                  <a:srgbClr val="000000"/>
                </a:solidFill>
              </a:rPr>
              <a:t>ubsanar los fondos del sistema de pensiones.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Los desafíos serán cada vez mayores 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