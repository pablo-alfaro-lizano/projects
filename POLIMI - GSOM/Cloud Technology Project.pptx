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Libre Franklin"/>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QIO/k5WejENDqv/Yvn5zYtEyi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LibreFranklin-bold.fntdata"/><Relationship Id="rId12" Type="http://schemas.openxmlformats.org/officeDocument/2006/relationships/font" Target="fonts/LibreFranklin-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ibreFranklin-boldItalic.fntdata"/><Relationship Id="rId14" Type="http://schemas.openxmlformats.org/officeDocument/2006/relationships/font" Target="fonts/LibreFranklin-italic.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b2461e90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2b2461e90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2b2461e90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b2461e909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32b2461e909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b2461e909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2b2461e909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2b2461e909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b0d39761f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2b0d39761f_1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32b0d39761f_1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17" name="Shape 17"/>
        <p:cNvGrpSpPr/>
        <p:nvPr/>
      </p:nvGrpSpPr>
      <p:grpSpPr>
        <a:xfrm>
          <a:off x="0" y="0"/>
          <a:ext cx="0" cy="0"/>
          <a:chOff x="0" y="0"/>
          <a:chExt cx="0" cy="0"/>
        </a:xfrm>
      </p:grpSpPr>
      <p:sp>
        <p:nvSpPr>
          <p:cNvPr id="18" name="Google Shape;18;p9"/>
          <p:cNvSpPr/>
          <p:nvPr/>
        </p:nvSpPr>
        <p:spPr>
          <a:xfrm>
            <a:off x="3175" y="6400800"/>
            <a:ext cx="12188700"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9"/>
          <p:cNvSpPr txBox="1"/>
          <p:nvPr>
            <p:ph type="ctrTitle"/>
          </p:nvPr>
        </p:nvSpPr>
        <p:spPr>
          <a:xfrm>
            <a:off x="1097280" y="758952"/>
            <a:ext cx="10058400" cy="3566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7600"/>
              <a:buFont typeface="Bookman Old Style"/>
              <a:buNone/>
              <a:defRPr sz="76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9"/>
          <p:cNvSpPr txBox="1"/>
          <p:nvPr>
            <p:ph idx="1" type="subTitle"/>
          </p:nvPr>
        </p:nvSpPr>
        <p:spPr>
          <a:xfrm>
            <a:off x="1100051" y="4645152"/>
            <a:ext cx="10058400" cy="1143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cxnSp>
        <p:nvCxnSpPr>
          <p:cNvPr id="21" name="Google Shape;21;p9"/>
          <p:cNvCxnSpPr/>
          <p:nvPr/>
        </p:nvCxnSpPr>
        <p:spPr>
          <a:xfrm>
            <a:off x="1207658" y="4474741"/>
            <a:ext cx="9875400" cy="0"/>
          </a:xfrm>
          <a:prstGeom prst="straightConnector1">
            <a:avLst/>
          </a:prstGeom>
          <a:noFill/>
          <a:ln cap="flat" cmpd="sng" w="12700">
            <a:solidFill>
              <a:srgbClr val="3F3F3F"/>
            </a:solidFill>
            <a:prstDash val="solid"/>
            <a:round/>
            <a:headEnd len="sm" w="sm" type="none"/>
            <a:tailEnd len="sm" w="sm" type="none"/>
          </a:ln>
        </p:spPr>
      </p:cxnSp>
      <p:sp>
        <p:nvSpPr>
          <p:cNvPr id="22" name="Google Shape;22;p9"/>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o" showMasterSp="0" type="blank">
  <p:cSld name="BLANK">
    <p:spTree>
      <p:nvGrpSpPr>
        <p:cNvPr id="25" name="Shape 25"/>
        <p:cNvGrpSpPr/>
        <p:nvPr/>
      </p:nvGrpSpPr>
      <p:grpSpPr>
        <a:xfrm>
          <a:off x="0" y="0"/>
          <a:ext cx="0" cy="0"/>
          <a:chOff x="0" y="0"/>
          <a:chExt cx="0" cy="0"/>
        </a:xfrm>
      </p:grpSpPr>
      <p:sp>
        <p:nvSpPr>
          <p:cNvPr id="26" name="Google Shape;26;p10"/>
          <p:cNvSpPr/>
          <p:nvPr/>
        </p:nvSpPr>
        <p:spPr>
          <a:xfrm>
            <a:off x="3175" y="6400800"/>
            <a:ext cx="12188700"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0"/>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0"/>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0" name="Shape 30"/>
        <p:cNvGrpSpPr/>
        <p:nvPr/>
      </p:nvGrpSpPr>
      <p:grpSpPr>
        <a:xfrm>
          <a:off x="0" y="0"/>
          <a:ext cx="0" cy="0"/>
          <a:chOff x="0" y="0"/>
          <a:chExt cx="0" cy="0"/>
        </a:xfrm>
      </p:grpSpPr>
      <p:sp>
        <p:nvSpPr>
          <p:cNvPr id="31" name="Google Shape;31;p1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47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1"/>
          <p:cNvSpPr txBox="1"/>
          <p:nvPr>
            <p:ph idx="1" type="body"/>
          </p:nvPr>
        </p:nvSpPr>
        <p:spPr>
          <a:xfrm>
            <a:off x="1097280" y="2108201"/>
            <a:ext cx="10058400" cy="37608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3" name="Google Shape;33;p11"/>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1"/>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bg>
      <p:bgPr>
        <a:solidFill>
          <a:schemeClr val="lt1"/>
        </a:solidFill>
      </p:bgPr>
    </p:bg>
    <p:spTree>
      <p:nvGrpSpPr>
        <p:cNvPr id="36" name="Shape 36"/>
        <p:cNvGrpSpPr/>
        <p:nvPr/>
      </p:nvGrpSpPr>
      <p:grpSpPr>
        <a:xfrm>
          <a:off x="0" y="0"/>
          <a:ext cx="0" cy="0"/>
          <a:chOff x="0" y="0"/>
          <a:chExt cx="0" cy="0"/>
        </a:xfrm>
      </p:grpSpPr>
      <p:sp>
        <p:nvSpPr>
          <p:cNvPr id="37" name="Google Shape;37;p12"/>
          <p:cNvSpPr/>
          <p:nvPr/>
        </p:nvSpPr>
        <p:spPr>
          <a:xfrm>
            <a:off x="3175" y="6400800"/>
            <a:ext cx="12188700"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2"/>
          <p:cNvSpPr txBox="1"/>
          <p:nvPr>
            <p:ph type="title"/>
          </p:nvPr>
        </p:nvSpPr>
        <p:spPr>
          <a:xfrm>
            <a:off x="1097280" y="758952"/>
            <a:ext cx="10058400" cy="3566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7600"/>
              <a:buFont typeface="Bookman Old Style"/>
              <a:buNone/>
              <a:defRPr b="0" sz="76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2"/>
          <p:cNvSpPr txBox="1"/>
          <p:nvPr>
            <p:ph idx="1" type="body"/>
          </p:nvPr>
        </p:nvSpPr>
        <p:spPr>
          <a:xfrm>
            <a:off x="1097280" y="4663440"/>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indent="-228600" lvl="1" marL="914400" algn="l">
              <a:lnSpc>
                <a:spcPct val="100000"/>
              </a:lnSpc>
              <a:spcBef>
                <a:spcPts val="200"/>
              </a:spcBef>
              <a:spcAft>
                <a:spcPts val="0"/>
              </a:spcAft>
              <a:buClr>
                <a:srgbClr val="888888"/>
              </a:buClr>
              <a:buSzPts val="1800"/>
              <a:buNone/>
              <a:defRPr sz="1800">
                <a:solidFill>
                  <a:srgbClr val="888888"/>
                </a:solidFill>
              </a:defRPr>
            </a:lvl2pPr>
            <a:lvl3pPr indent="-228600" lvl="2" marL="1371600" algn="l">
              <a:lnSpc>
                <a:spcPct val="100000"/>
              </a:lnSpc>
              <a:spcBef>
                <a:spcPts val="400"/>
              </a:spcBef>
              <a:spcAft>
                <a:spcPts val="0"/>
              </a:spcAft>
              <a:buClr>
                <a:srgbClr val="888888"/>
              </a:buClr>
              <a:buSzPts val="1600"/>
              <a:buNone/>
              <a:defRPr sz="1600">
                <a:solidFill>
                  <a:srgbClr val="888888"/>
                </a:solidFill>
              </a:defRPr>
            </a:lvl3pPr>
            <a:lvl4pPr indent="-228600" lvl="3" marL="1828800" algn="l">
              <a:lnSpc>
                <a:spcPct val="100000"/>
              </a:lnSpc>
              <a:spcBef>
                <a:spcPts val="400"/>
              </a:spcBef>
              <a:spcAft>
                <a:spcPts val="0"/>
              </a:spcAft>
              <a:buClr>
                <a:srgbClr val="888888"/>
              </a:buClr>
              <a:buSzPts val="1400"/>
              <a:buNone/>
              <a:defRPr sz="1400">
                <a:solidFill>
                  <a:srgbClr val="888888"/>
                </a:solidFill>
              </a:defRPr>
            </a:lvl4pPr>
            <a:lvl5pPr indent="-228600" lvl="4" marL="2286000" algn="l">
              <a:lnSpc>
                <a:spcPct val="100000"/>
              </a:lnSpc>
              <a:spcBef>
                <a:spcPts val="400"/>
              </a:spcBef>
              <a:spcAft>
                <a:spcPts val="0"/>
              </a:spcAft>
              <a:buClr>
                <a:srgbClr val="888888"/>
              </a:buClr>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cxnSp>
        <p:nvCxnSpPr>
          <p:cNvPr id="40" name="Google Shape;40;p12"/>
          <p:cNvCxnSpPr/>
          <p:nvPr/>
        </p:nvCxnSpPr>
        <p:spPr>
          <a:xfrm>
            <a:off x="1207658" y="4485132"/>
            <a:ext cx="9875400" cy="0"/>
          </a:xfrm>
          <a:prstGeom prst="straightConnector1">
            <a:avLst/>
          </a:prstGeom>
          <a:noFill/>
          <a:ln cap="flat" cmpd="sng" w="12700">
            <a:solidFill>
              <a:srgbClr val="3F3F3F"/>
            </a:solidFill>
            <a:prstDash val="solid"/>
            <a:round/>
            <a:headEnd len="sm" w="sm" type="none"/>
            <a:tailEnd len="sm" w="sm" type="none"/>
          </a:ln>
        </p:spPr>
      </p:cxnSp>
      <p:sp>
        <p:nvSpPr>
          <p:cNvPr id="41" name="Google Shape;41;p12"/>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2"/>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44" name="Shape 44"/>
        <p:cNvGrpSpPr/>
        <p:nvPr/>
      </p:nvGrpSpPr>
      <p:grpSpPr>
        <a:xfrm>
          <a:off x="0" y="0"/>
          <a:ext cx="0" cy="0"/>
          <a:chOff x="0" y="0"/>
          <a:chExt cx="0" cy="0"/>
        </a:xfrm>
      </p:grpSpPr>
      <p:sp>
        <p:nvSpPr>
          <p:cNvPr id="45" name="Google Shape;45;p13"/>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47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3"/>
          <p:cNvSpPr txBox="1"/>
          <p:nvPr>
            <p:ph idx="1" type="body"/>
          </p:nvPr>
        </p:nvSpPr>
        <p:spPr>
          <a:xfrm>
            <a:off x="1097280" y="2120900"/>
            <a:ext cx="4639800" cy="37482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13"/>
          <p:cNvSpPr txBox="1"/>
          <p:nvPr>
            <p:ph idx="2" type="body"/>
          </p:nvPr>
        </p:nvSpPr>
        <p:spPr>
          <a:xfrm>
            <a:off x="6515944" y="2120900"/>
            <a:ext cx="4639800" cy="37482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13"/>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3"/>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3"/>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51" name="Shape 51"/>
        <p:cNvGrpSpPr/>
        <p:nvPr/>
      </p:nvGrpSpPr>
      <p:grpSpPr>
        <a:xfrm>
          <a:off x="0" y="0"/>
          <a:ext cx="0" cy="0"/>
          <a:chOff x="0" y="0"/>
          <a:chExt cx="0" cy="0"/>
        </a:xfrm>
      </p:grpSpPr>
      <p:sp>
        <p:nvSpPr>
          <p:cNvPr id="52" name="Google Shape;52;p14"/>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47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 type="body"/>
          </p:nvPr>
        </p:nvSpPr>
        <p:spPr>
          <a:xfrm>
            <a:off x="1097280" y="2057400"/>
            <a:ext cx="4639800" cy="73620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14"/>
          <p:cNvSpPr txBox="1"/>
          <p:nvPr>
            <p:ph idx="2" type="body"/>
          </p:nvPr>
        </p:nvSpPr>
        <p:spPr>
          <a:xfrm>
            <a:off x="1097280" y="2958274"/>
            <a:ext cx="4639800" cy="29109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14"/>
          <p:cNvSpPr txBox="1"/>
          <p:nvPr>
            <p:ph idx="3" type="body"/>
          </p:nvPr>
        </p:nvSpPr>
        <p:spPr>
          <a:xfrm>
            <a:off x="6515944" y="2057400"/>
            <a:ext cx="4639800" cy="73620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14"/>
          <p:cNvSpPr txBox="1"/>
          <p:nvPr>
            <p:ph idx="4" type="body"/>
          </p:nvPr>
        </p:nvSpPr>
        <p:spPr>
          <a:xfrm>
            <a:off x="6515944" y="2958273"/>
            <a:ext cx="4639800" cy="29109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14"/>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0" name="Shape 60"/>
        <p:cNvGrpSpPr/>
        <p:nvPr/>
      </p:nvGrpSpPr>
      <p:grpSpPr>
        <a:xfrm>
          <a:off x="0" y="0"/>
          <a:ext cx="0" cy="0"/>
          <a:chOff x="0" y="0"/>
          <a:chExt cx="0" cy="0"/>
        </a:xfrm>
      </p:grpSpPr>
      <p:sp>
        <p:nvSpPr>
          <p:cNvPr id="61" name="Google Shape;61;p15"/>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47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5"/>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65" name="Shape 65"/>
        <p:cNvGrpSpPr/>
        <p:nvPr/>
      </p:nvGrpSpPr>
      <p:grpSpPr>
        <a:xfrm>
          <a:off x="0" y="0"/>
          <a:ext cx="0" cy="0"/>
          <a:chOff x="0" y="0"/>
          <a:chExt cx="0" cy="0"/>
        </a:xfrm>
      </p:grpSpPr>
      <p:sp>
        <p:nvSpPr>
          <p:cNvPr id="66" name="Google Shape;66;p16"/>
          <p:cNvSpPr/>
          <p:nvPr/>
        </p:nvSpPr>
        <p:spPr>
          <a:xfrm>
            <a:off x="16" y="0"/>
            <a:ext cx="4654200" cy="68580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6"/>
          <p:cNvSpPr txBox="1"/>
          <p:nvPr>
            <p:ph type="title"/>
          </p:nvPr>
        </p:nvSpPr>
        <p:spPr>
          <a:xfrm>
            <a:off x="643466" y="786383"/>
            <a:ext cx="3517500" cy="2094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6"/>
          <p:cNvSpPr txBox="1"/>
          <p:nvPr>
            <p:ph idx="1" type="body"/>
          </p:nvPr>
        </p:nvSpPr>
        <p:spPr>
          <a:xfrm>
            <a:off x="5458984" y="812799"/>
            <a:ext cx="5928300" cy="5294700"/>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16"/>
          <p:cNvSpPr txBox="1"/>
          <p:nvPr>
            <p:ph idx="2" type="body"/>
          </p:nvPr>
        </p:nvSpPr>
        <p:spPr>
          <a:xfrm>
            <a:off x="643465" y="3043050"/>
            <a:ext cx="3517500" cy="30645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0" name="Google Shape;70;p16"/>
          <p:cNvSpPr txBox="1"/>
          <p:nvPr>
            <p:ph idx="10" type="dt"/>
          </p:nvPr>
        </p:nvSpPr>
        <p:spPr>
          <a:xfrm>
            <a:off x="643464" y="6446520"/>
            <a:ext cx="3517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1" type="ftr"/>
          </p:nvPr>
        </p:nvSpPr>
        <p:spPr>
          <a:xfrm>
            <a:off x="5458983" y="6446520"/>
            <a:ext cx="53340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73" name="Shape 73"/>
        <p:cNvGrpSpPr/>
        <p:nvPr/>
      </p:nvGrpSpPr>
      <p:grpSpPr>
        <a:xfrm>
          <a:off x="0" y="0"/>
          <a:ext cx="0" cy="0"/>
          <a:chOff x="0" y="0"/>
          <a:chExt cx="0" cy="0"/>
        </a:xfrm>
      </p:grpSpPr>
      <p:sp>
        <p:nvSpPr>
          <p:cNvPr id="74" name="Google Shape;74;p17"/>
          <p:cNvSpPr/>
          <p:nvPr/>
        </p:nvSpPr>
        <p:spPr>
          <a:xfrm>
            <a:off x="0" y="4578350"/>
            <a:ext cx="12188700" cy="22797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7"/>
          <p:cNvSpPr/>
          <p:nvPr>
            <p:ph idx="2" type="pic"/>
          </p:nvPr>
        </p:nvSpPr>
        <p:spPr>
          <a:xfrm>
            <a:off x="15" y="0"/>
            <a:ext cx="12192000" cy="4578300"/>
          </a:xfrm>
          <a:prstGeom prst="rect">
            <a:avLst/>
          </a:prstGeom>
          <a:solidFill>
            <a:srgbClr val="D8D8D8"/>
          </a:solidFill>
          <a:ln>
            <a:noFill/>
          </a:ln>
        </p:spPr>
      </p:sp>
      <p:sp>
        <p:nvSpPr>
          <p:cNvPr id="76" name="Google Shape;76;p17"/>
          <p:cNvSpPr txBox="1"/>
          <p:nvPr>
            <p:ph type="title"/>
          </p:nvPr>
        </p:nvSpPr>
        <p:spPr>
          <a:xfrm>
            <a:off x="1097279" y="4799362"/>
            <a:ext cx="10113600" cy="743700"/>
          </a:xfrm>
          <a:prstGeom prst="rect">
            <a:avLst/>
          </a:prstGeom>
          <a:noFill/>
          <a:ln>
            <a:noFill/>
          </a:ln>
        </p:spPr>
        <p:txBody>
          <a:bodyPr anchorCtr="0" anchor="b" bIns="0" lIns="91425" spcFirstLastPara="1" rIns="91425" wrap="square" tIns="0">
            <a:noAutofit/>
          </a:bodyPr>
          <a:lstStyle>
            <a:lvl1pPr lvl="0" algn="l">
              <a:lnSpc>
                <a:spcPct val="90000"/>
              </a:lnSpc>
              <a:spcBef>
                <a:spcPts val="0"/>
              </a:spcBef>
              <a:spcAft>
                <a:spcPts val="0"/>
              </a:spcAft>
              <a:buClr>
                <a:srgbClr val="FFFFFF"/>
              </a:buClr>
              <a:buSzPts val="3000"/>
              <a:buFont typeface="Bookman Old Style"/>
              <a:buNone/>
              <a:defRPr b="0" sz="3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 type="body"/>
          </p:nvPr>
        </p:nvSpPr>
        <p:spPr>
          <a:xfrm>
            <a:off x="1097279" y="5715000"/>
            <a:ext cx="10113300" cy="609600"/>
          </a:xfrm>
          <a:prstGeom prst="rect">
            <a:avLst/>
          </a:prstGeom>
          <a:noFill/>
          <a:ln>
            <a:noFill/>
          </a:ln>
        </p:spPr>
        <p:txBody>
          <a:bodyPr anchorCtr="0" anchor="t" bIns="0" lIns="91425" spcFirstLastPara="1" rIns="91425" wrap="square" tIns="0">
            <a:normAutofit/>
          </a:bodyPr>
          <a:lstStyle>
            <a:lvl1pPr indent="-228600" lvl="0" marL="457200" algn="l">
              <a:lnSpc>
                <a:spcPct val="11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8" name="Google Shape;78;p17"/>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7"/>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81" name="Shape 81"/>
        <p:cNvGrpSpPr/>
        <p:nvPr/>
      </p:nvGrpSpPr>
      <p:grpSpPr>
        <a:xfrm>
          <a:off x="0" y="0"/>
          <a:ext cx="0" cy="0"/>
          <a:chOff x="0" y="0"/>
          <a:chExt cx="0" cy="0"/>
        </a:xfrm>
      </p:grpSpPr>
      <p:sp>
        <p:nvSpPr>
          <p:cNvPr id="82" name="Google Shape;82;p1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47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 type="body"/>
          </p:nvPr>
        </p:nvSpPr>
        <p:spPr>
          <a:xfrm rot="5400000">
            <a:off x="4246080" y="-1040599"/>
            <a:ext cx="3760800" cy="100584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18"/>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8"/>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8"/>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verticale e testo" showMasterSp="0" type="vertTitleAndTx">
  <p:cSld name="VERTICAL_TITLE_AND_VERTICAL_TEXT">
    <p:spTree>
      <p:nvGrpSpPr>
        <p:cNvPr id="87" name="Shape 87"/>
        <p:cNvGrpSpPr/>
        <p:nvPr/>
      </p:nvGrpSpPr>
      <p:grpSpPr>
        <a:xfrm>
          <a:off x="0" y="0"/>
          <a:ext cx="0" cy="0"/>
          <a:chOff x="0" y="0"/>
          <a:chExt cx="0" cy="0"/>
        </a:xfrm>
      </p:grpSpPr>
      <p:sp>
        <p:nvSpPr>
          <p:cNvPr id="88" name="Google Shape;88;p19"/>
          <p:cNvSpPr/>
          <p:nvPr/>
        </p:nvSpPr>
        <p:spPr>
          <a:xfrm>
            <a:off x="3175" y="6400800"/>
            <a:ext cx="12188700"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9"/>
          <p:cNvSpPr txBox="1"/>
          <p:nvPr>
            <p:ph type="title"/>
          </p:nvPr>
        </p:nvSpPr>
        <p:spPr>
          <a:xfrm rot="5400000">
            <a:off x="7159350" y="1977852"/>
            <a:ext cx="5760000"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 type="body"/>
          </p:nvPr>
        </p:nvSpPr>
        <p:spPr>
          <a:xfrm rot="5400000">
            <a:off x="1825350" y="-574848"/>
            <a:ext cx="5760000" cy="77343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1" name="Google Shape;91;p19"/>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9"/>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9"/>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p:nvPr/>
        </p:nvSpPr>
        <p:spPr>
          <a:xfrm>
            <a:off x="3175" y="6400800"/>
            <a:ext cx="12188700"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700"/>
              <a:buFont typeface="Bookman Old Style"/>
              <a:buNone/>
              <a:defRPr b="0" i="0" sz="4700" u="none" cap="none" strike="noStrike">
                <a:solidFill>
                  <a:srgbClr val="3F3F3F"/>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8"/>
          <p:cNvSpPr txBox="1"/>
          <p:nvPr>
            <p:ph idx="1" type="body"/>
          </p:nvPr>
        </p:nvSpPr>
        <p:spPr>
          <a:xfrm>
            <a:off x="1097280" y="2108201"/>
            <a:ext cx="10058400" cy="3760800"/>
          </a:xfrm>
          <a:prstGeom prst="rect">
            <a:avLst/>
          </a:prstGeom>
          <a:noFill/>
          <a:ln>
            <a:noFill/>
          </a:ln>
        </p:spPr>
        <p:txBody>
          <a:bodyPr anchorCtr="0" anchor="t" bIns="45700" lIns="0" spcFirstLastPara="1" rIns="0" wrap="square" tIns="45700">
            <a:normAutofit/>
          </a:bodyPr>
          <a:lstStyle>
            <a:lvl1pPr indent="-349250" lvl="0" marL="457200" marR="0" rtl="0" algn="l">
              <a:lnSpc>
                <a:spcPct val="110000"/>
              </a:lnSpc>
              <a:spcBef>
                <a:spcPts val="1200"/>
              </a:spcBef>
              <a:spcAft>
                <a:spcPts val="0"/>
              </a:spcAft>
              <a:buClr>
                <a:schemeClr val="accent1"/>
              </a:buClr>
              <a:buSzPts val="1900"/>
              <a:buFont typeface="Calibri"/>
              <a:buChar char=" "/>
              <a:defRPr b="0" i="0" sz="1900" u="none" cap="none" strike="noStrike">
                <a:solidFill>
                  <a:srgbClr val="3F3F3F"/>
                </a:solidFill>
                <a:latin typeface="Libre Franklin"/>
                <a:ea typeface="Libre Franklin"/>
                <a:cs typeface="Libre Franklin"/>
                <a:sym typeface="Libre Franklin"/>
              </a:defRPr>
            </a:lvl1pPr>
            <a:lvl2pPr indent="-336550" lvl="1" marL="914400" marR="0" rtl="0" algn="l">
              <a:lnSpc>
                <a:spcPct val="100000"/>
              </a:lnSpc>
              <a:spcBef>
                <a:spcPts val="200"/>
              </a:spcBef>
              <a:spcAft>
                <a:spcPts val="0"/>
              </a:spcAft>
              <a:buClr>
                <a:srgbClr val="3F3F3F"/>
              </a:buClr>
              <a:buSzPts val="1700"/>
              <a:buFont typeface="Calibri"/>
              <a:buChar char="◦"/>
              <a:defRPr b="0" i="0" sz="1700" u="none" cap="none" strike="noStrike">
                <a:solidFill>
                  <a:srgbClr val="3F3F3F"/>
                </a:solidFill>
                <a:latin typeface="Libre Franklin"/>
                <a:ea typeface="Libre Franklin"/>
                <a:cs typeface="Libre Franklin"/>
                <a:sym typeface="Libre Franklin"/>
              </a:defRPr>
            </a:lvl2pPr>
            <a:lvl3pPr indent="-311150" lvl="2" marL="13716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3pPr>
            <a:lvl4pPr indent="-311150" lvl="3" marL="18288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4pPr>
            <a:lvl5pPr indent="-311150" lvl="4" marL="22860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9pPr>
          </a:lstStyle>
          <a:p/>
        </p:txBody>
      </p:sp>
      <p:sp>
        <p:nvSpPr>
          <p:cNvPr id="13" name="Google Shape;13;p8"/>
          <p:cNvSpPr txBox="1"/>
          <p:nvPr>
            <p:ph idx="10" type="dt"/>
          </p:nvPr>
        </p:nvSpPr>
        <p:spPr>
          <a:xfrm>
            <a:off x="8218426" y="6446838"/>
            <a:ext cx="25848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8"/>
          <p:cNvSpPr txBox="1"/>
          <p:nvPr>
            <p:ph idx="11" type="ftr"/>
          </p:nvPr>
        </p:nvSpPr>
        <p:spPr>
          <a:xfrm>
            <a:off x="1097279" y="6446838"/>
            <a:ext cx="6818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15" name="Google Shape;15;p8"/>
          <p:cNvSpPr txBox="1"/>
          <p:nvPr>
            <p:ph idx="12" type="sldNum"/>
          </p:nvPr>
        </p:nvSpPr>
        <p:spPr>
          <a:xfrm>
            <a:off x="10993582" y="6446838"/>
            <a:ext cx="780000" cy="3651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cxnSp>
        <p:nvCxnSpPr>
          <p:cNvPr id="16" name="Google Shape;16;p8"/>
          <p:cNvCxnSpPr/>
          <p:nvPr/>
        </p:nvCxnSpPr>
        <p:spPr>
          <a:xfrm>
            <a:off x="1193532" y="1897380"/>
            <a:ext cx="9966900" cy="0"/>
          </a:xfrm>
          <a:prstGeom prst="straightConnector1">
            <a:avLst/>
          </a:prstGeom>
          <a:noFill/>
          <a:ln cap="flat" cmpd="sng" w="12700">
            <a:solidFill>
              <a:srgbClr val="3F3F3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
          <p:cNvSpPr/>
          <p:nvPr/>
        </p:nvSpPr>
        <p:spPr>
          <a:xfrm>
            <a:off x="0" y="1"/>
            <a:ext cx="12192001"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99" name="Google Shape;99;p1"/>
          <p:cNvSpPr txBox="1"/>
          <p:nvPr>
            <p:ph type="ctrTitle"/>
          </p:nvPr>
        </p:nvSpPr>
        <p:spPr>
          <a:xfrm>
            <a:off x="4968510" y="639097"/>
            <a:ext cx="6951058" cy="36860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2626"/>
              </a:buClr>
              <a:buSzPts val="7200"/>
              <a:buFont typeface="Bookman Old Style"/>
              <a:buNone/>
            </a:pPr>
            <a:r>
              <a:rPr lang="en-US" sz="7200"/>
              <a:t>Case Study: Global Online Orders </a:t>
            </a:r>
            <a:endParaRPr sz="7200"/>
          </a:p>
        </p:txBody>
      </p:sp>
      <p:sp>
        <p:nvSpPr>
          <p:cNvPr id="100" name="Google Shape;100;p1"/>
          <p:cNvSpPr txBox="1"/>
          <p:nvPr>
            <p:ph idx="1" type="subTitle"/>
          </p:nvPr>
        </p:nvSpPr>
        <p:spPr>
          <a:xfrm>
            <a:off x="5289753" y="4672739"/>
            <a:ext cx="6269347" cy="197082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10000"/>
              </a:lnSpc>
              <a:spcBef>
                <a:spcPts val="0"/>
              </a:spcBef>
              <a:spcAft>
                <a:spcPts val="0"/>
              </a:spcAft>
              <a:buSzPct val="100000"/>
              <a:buNone/>
            </a:pPr>
            <a:r>
              <a:rPr lang="en-US" sz="2400">
                <a:solidFill>
                  <a:srgbClr val="262626"/>
                </a:solidFill>
              </a:rPr>
              <a:t>P</a:t>
            </a:r>
            <a:r>
              <a:rPr lang="en-US">
                <a:solidFill>
                  <a:srgbClr val="262626"/>
                </a:solidFill>
              </a:rPr>
              <a:t>ABLO ALFARO</a:t>
            </a:r>
            <a:endParaRPr/>
          </a:p>
          <a:p>
            <a:pPr indent="0" lvl="0" marL="0" rtl="0" algn="l">
              <a:lnSpc>
                <a:spcPct val="110000"/>
              </a:lnSpc>
              <a:spcBef>
                <a:spcPts val="1400"/>
              </a:spcBef>
              <a:spcAft>
                <a:spcPts val="0"/>
              </a:spcAft>
              <a:buSzPct val="100000"/>
              <a:buNone/>
            </a:pPr>
            <a:r>
              <a:rPr lang="en-US" sz="2400">
                <a:solidFill>
                  <a:srgbClr val="262626"/>
                </a:solidFill>
              </a:rPr>
              <a:t>NICCOLÒ CLOETTA</a:t>
            </a:r>
            <a:endParaRPr/>
          </a:p>
          <a:p>
            <a:pPr indent="0" lvl="0" marL="0" rtl="0" algn="l">
              <a:lnSpc>
                <a:spcPct val="110000"/>
              </a:lnSpc>
              <a:spcBef>
                <a:spcPts val="1400"/>
              </a:spcBef>
              <a:spcAft>
                <a:spcPts val="0"/>
              </a:spcAft>
              <a:buSzPct val="100000"/>
              <a:buNone/>
            </a:pPr>
            <a:r>
              <a:rPr lang="en-US" sz="2400">
                <a:solidFill>
                  <a:srgbClr val="262626"/>
                </a:solidFill>
              </a:rPr>
              <a:t>GIACOMO SALZA</a:t>
            </a:r>
            <a:endParaRPr/>
          </a:p>
          <a:p>
            <a:pPr indent="0" lvl="0" marL="0" rtl="0" algn="l">
              <a:lnSpc>
                <a:spcPct val="110000"/>
              </a:lnSpc>
              <a:spcBef>
                <a:spcPts val="1400"/>
              </a:spcBef>
              <a:spcAft>
                <a:spcPts val="0"/>
              </a:spcAft>
              <a:buSzPct val="100000"/>
              <a:buNone/>
            </a:pPr>
            <a:r>
              <a:rPr lang="en-US">
                <a:solidFill>
                  <a:srgbClr val="262626"/>
                </a:solidFill>
              </a:rPr>
              <a:t>DANS LISMANIS</a:t>
            </a:r>
            <a:endParaRPr sz="2400">
              <a:solidFill>
                <a:srgbClr val="262626"/>
              </a:solidFill>
            </a:endParaRPr>
          </a:p>
        </p:txBody>
      </p:sp>
      <p:pic>
        <p:nvPicPr>
          <p:cNvPr descr="Immagine con edificio, sedia, panca, lato&#10;&#10;Descrizione generata automaticamente" id="101" name="Google Shape;101;p1"/>
          <p:cNvPicPr preferRelativeResize="0"/>
          <p:nvPr/>
        </p:nvPicPr>
        <p:blipFill rotWithShape="1">
          <a:blip r:embed="rId3">
            <a:alphaModFix/>
          </a:blip>
          <a:srcRect b="0" l="0" r="0" t="0"/>
          <a:stretch/>
        </p:blipFill>
        <p:spPr>
          <a:xfrm>
            <a:off x="-1" y="1"/>
            <a:ext cx="4635315" cy="6857999"/>
          </a:xfrm>
          <a:prstGeom prst="rect">
            <a:avLst/>
          </a:prstGeom>
          <a:noFill/>
          <a:ln>
            <a:noFill/>
          </a:ln>
        </p:spPr>
      </p:pic>
      <p:cxnSp>
        <p:nvCxnSpPr>
          <p:cNvPr id="102" name="Google Shape;102;p1"/>
          <p:cNvCxnSpPr/>
          <p:nvPr/>
        </p:nvCxnSpPr>
        <p:spPr>
          <a:xfrm>
            <a:off x="5427754" y="4498925"/>
            <a:ext cx="5636107" cy="0"/>
          </a:xfrm>
          <a:prstGeom prst="straightConnector1">
            <a:avLst/>
          </a:prstGeom>
          <a:noFill/>
          <a:ln cap="flat" cmpd="sng" w="12700">
            <a:solidFill>
              <a:srgbClr val="3F3F3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txBox="1"/>
          <p:nvPr/>
        </p:nvSpPr>
        <p:spPr>
          <a:xfrm>
            <a:off x="106017" y="145774"/>
            <a:ext cx="11887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2400">
                <a:latin typeface="Bookman Old Style"/>
                <a:ea typeface="Bookman Old Style"/>
                <a:cs typeface="Bookman Old Style"/>
                <a:sym typeface="Bookman Old Style"/>
              </a:rPr>
              <a:t>Aim of the project </a:t>
            </a:r>
            <a:endParaRPr/>
          </a:p>
        </p:txBody>
      </p:sp>
      <p:pic>
        <p:nvPicPr>
          <p:cNvPr descr="Imagen que contiene Diagrama&#10;&#10;Descripción generada automáticamente" id="108" name="Google Shape;108;p6"/>
          <p:cNvPicPr preferRelativeResize="0"/>
          <p:nvPr/>
        </p:nvPicPr>
        <p:blipFill rotWithShape="1">
          <a:blip r:embed="rId3">
            <a:alphaModFix/>
          </a:blip>
          <a:srcRect b="0" l="0" r="0" t="0"/>
          <a:stretch/>
        </p:blipFill>
        <p:spPr>
          <a:xfrm>
            <a:off x="7964575" y="1019200"/>
            <a:ext cx="3975624" cy="4378299"/>
          </a:xfrm>
          <a:prstGeom prst="rect">
            <a:avLst/>
          </a:prstGeom>
          <a:noFill/>
          <a:ln>
            <a:noFill/>
          </a:ln>
        </p:spPr>
      </p:pic>
      <p:sp>
        <p:nvSpPr>
          <p:cNvPr id="109" name="Google Shape;109;p6"/>
          <p:cNvSpPr txBox="1"/>
          <p:nvPr/>
        </p:nvSpPr>
        <p:spPr>
          <a:xfrm>
            <a:off x="424070" y="1019208"/>
            <a:ext cx="7540500" cy="3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sz="1800">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rPr b="0" i="0" lang="en-US" sz="1800" u="none" cap="none" strike="noStrike">
                <a:solidFill>
                  <a:srgbClr val="000000"/>
                </a:solidFill>
                <a:latin typeface="Bookman Old Style"/>
                <a:ea typeface="Bookman Old Style"/>
                <a:cs typeface="Bookman Old Style"/>
                <a:sym typeface="Bookman Old Style"/>
              </a:rPr>
              <a:t>A well-known e-commerce platform which specializes in the sales of food has contracted us to evaluate their business</a:t>
            </a:r>
            <a:endParaRPr sz="1800"/>
          </a:p>
          <a:p>
            <a:pPr indent="0" lvl="0" marL="0" marR="0" rtl="0" algn="l">
              <a:lnSpc>
                <a:spcPct val="100000"/>
              </a:lnSpc>
              <a:spcBef>
                <a:spcPts val="0"/>
              </a:spcBef>
              <a:spcAft>
                <a:spcPts val="0"/>
              </a:spcAft>
              <a:buNone/>
            </a:pPr>
            <a:r>
              <a:t/>
            </a:r>
            <a:endParaRPr b="0" i="0" sz="1800" u="none" cap="none" strike="noStrike">
              <a:solidFill>
                <a:srgbClr val="000000"/>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t/>
            </a:r>
            <a:endParaRPr sz="1800">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rPr b="0" i="0" lang="en-US" sz="1800" u="none" cap="none" strike="noStrike">
                <a:solidFill>
                  <a:srgbClr val="000000"/>
                </a:solidFill>
                <a:latin typeface="Bookman Old Style"/>
                <a:ea typeface="Bookman Old Style"/>
                <a:cs typeface="Bookman Old Style"/>
                <a:sym typeface="Bookman Old Style"/>
              </a:rPr>
              <a:t>We have been provided with their operational data and have been asked to evaluate the most important sectors of their business</a:t>
            </a:r>
            <a:r>
              <a:rPr lang="en-US" sz="1800">
                <a:latin typeface="Bookman Old Style"/>
                <a:ea typeface="Bookman Old Style"/>
                <a:cs typeface="Bookman Old Style"/>
                <a:sym typeface="Bookman Old Style"/>
              </a:rPr>
              <a:t>: c</a:t>
            </a:r>
            <a:r>
              <a:rPr b="0" i="0" lang="en-US" sz="1800" u="none" cap="none" strike="noStrike">
                <a:solidFill>
                  <a:srgbClr val="000000"/>
                </a:solidFill>
                <a:latin typeface="Bookman Old Style"/>
                <a:ea typeface="Bookman Old Style"/>
                <a:cs typeface="Bookman Old Style"/>
                <a:sym typeface="Bookman Old Style"/>
              </a:rPr>
              <a:t>ustome</a:t>
            </a:r>
            <a:r>
              <a:rPr lang="en-US" sz="1800">
                <a:latin typeface="Bookman Old Style"/>
                <a:ea typeface="Bookman Old Style"/>
                <a:cs typeface="Bookman Old Style"/>
                <a:sym typeface="Bookman Old Style"/>
              </a:rPr>
              <a:t>r</a:t>
            </a:r>
            <a:r>
              <a:rPr b="0" i="0" lang="en-US" sz="1800" u="none" cap="none" strike="noStrike">
                <a:solidFill>
                  <a:srgbClr val="000000"/>
                </a:solidFill>
                <a:latin typeface="Bookman Old Style"/>
                <a:ea typeface="Bookman Old Style"/>
                <a:cs typeface="Bookman Old Style"/>
                <a:sym typeface="Bookman Old Style"/>
              </a:rPr>
              <a:t>, </a:t>
            </a:r>
            <a:r>
              <a:rPr lang="en-US" sz="1800">
                <a:latin typeface="Bookman Old Style"/>
                <a:ea typeface="Bookman Old Style"/>
                <a:cs typeface="Bookman Old Style"/>
                <a:sym typeface="Bookman Old Style"/>
              </a:rPr>
              <a:t>s</a:t>
            </a:r>
            <a:r>
              <a:rPr b="0" i="0" lang="en-US" sz="1800" u="none" cap="none" strike="noStrike">
                <a:solidFill>
                  <a:srgbClr val="000000"/>
                </a:solidFill>
                <a:latin typeface="Bookman Old Style"/>
                <a:ea typeface="Bookman Old Style"/>
                <a:cs typeface="Bookman Old Style"/>
                <a:sym typeface="Bookman Old Style"/>
              </a:rPr>
              <a:t>ales, suppliers and employees</a:t>
            </a:r>
            <a:endParaRPr sz="1800"/>
          </a:p>
          <a:p>
            <a:pPr indent="0" lvl="0" marL="0" marR="0" rtl="0" algn="l">
              <a:lnSpc>
                <a:spcPct val="100000"/>
              </a:lnSpc>
              <a:spcBef>
                <a:spcPts val="0"/>
              </a:spcBef>
              <a:spcAft>
                <a:spcPts val="0"/>
              </a:spcAft>
              <a:buNone/>
            </a:pPr>
            <a:r>
              <a:t/>
            </a:r>
            <a:endParaRPr b="0" i="0" sz="1800" u="none" cap="none" strike="noStrike">
              <a:solidFill>
                <a:srgbClr val="000000"/>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t/>
            </a:r>
            <a:endParaRPr sz="1800">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rPr b="0" i="0" lang="en-US" sz="1800" u="none" cap="none" strike="noStrike">
                <a:solidFill>
                  <a:srgbClr val="000000"/>
                </a:solidFill>
                <a:latin typeface="Bookman Old Style"/>
                <a:ea typeface="Bookman Old Style"/>
                <a:cs typeface="Bookman Old Style"/>
                <a:sym typeface="Bookman Old Style"/>
              </a:rPr>
              <a:t>We decided that the most effective way would be to provide graphs to visualise the data in order to draw insights that would allow improvements in business decisions</a:t>
            </a:r>
            <a:endParaRPr sz="1800"/>
          </a:p>
        </p:txBody>
      </p:sp>
      <p:sp>
        <p:nvSpPr>
          <p:cNvPr id="110" name="Google Shape;110;p6"/>
          <p:cNvSpPr txBox="1"/>
          <p:nvPr/>
        </p:nvSpPr>
        <p:spPr>
          <a:xfrm>
            <a:off x="8127397" y="4890052"/>
            <a:ext cx="38658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Schema of the e-commerce store data base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2b2461e909_0_0"/>
          <p:cNvSpPr txBox="1"/>
          <p:nvPr>
            <p:ph idx="4294967295" type="body"/>
          </p:nvPr>
        </p:nvSpPr>
        <p:spPr>
          <a:xfrm>
            <a:off x="429948" y="3798800"/>
            <a:ext cx="3399600" cy="2442900"/>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1200"/>
              </a:spcBef>
              <a:spcAft>
                <a:spcPts val="0"/>
              </a:spcAft>
              <a:buSzPts val="1758"/>
              <a:buNone/>
            </a:pPr>
            <a:r>
              <a:rPr lang="en-US" sz="1800">
                <a:latin typeface="Bookman Old Style"/>
                <a:ea typeface="Bookman Old Style"/>
                <a:cs typeface="Bookman Old Style"/>
                <a:sym typeface="Bookman Old Style"/>
              </a:rPr>
              <a:t>It is clear </a:t>
            </a:r>
            <a:r>
              <a:rPr lang="en-US" sz="1800">
                <a:latin typeface="Bookman Old Style"/>
                <a:ea typeface="Bookman Old Style"/>
                <a:cs typeface="Bookman Old Style"/>
                <a:sym typeface="Bookman Old Style"/>
              </a:rPr>
              <a:t>that “Rattlesnake Canyon Grocery” is the largest customer. There is a significant gap </a:t>
            </a:r>
            <a:r>
              <a:rPr lang="en-US" sz="1800">
                <a:latin typeface="Bookman Old Style"/>
                <a:ea typeface="Bookman Old Style"/>
                <a:cs typeface="Bookman Old Style"/>
                <a:sym typeface="Bookman Old Style"/>
              </a:rPr>
              <a:t>between the second largest. This outcome could help improve retention and refine marketing strategies</a:t>
            </a:r>
            <a:endParaRPr sz="1800">
              <a:latin typeface="Bookman Old Style"/>
              <a:ea typeface="Bookman Old Style"/>
              <a:cs typeface="Bookman Old Style"/>
              <a:sym typeface="Bookman Old Style"/>
            </a:endParaRPr>
          </a:p>
          <a:p>
            <a:pPr indent="0" lvl="0" marL="0" rtl="0" algn="l">
              <a:lnSpc>
                <a:spcPct val="100000"/>
              </a:lnSpc>
              <a:spcBef>
                <a:spcPts val="1200"/>
              </a:spcBef>
              <a:spcAft>
                <a:spcPts val="0"/>
              </a:spcAft>
              <a:buSzPts val="1758"/>
              <a:buNone/>
            </a:pPr>
            <a:r>
              <a:t/>
            </a:r>
            <a:endParaRPr sz="1800">
              <a:latin typeface="Bookman Old Style"/>
              <a:ea typeface="Bookman Old Style"/>
              <a:cs typeface="Bookman Old Style"/>
              <a:sym typeface="Bookman Old Style"/>
            </a:endParaRPr>
          </a:p>
          <a:p>
            <a:pPr indent="0" lvl="0" marL="0" rtl="0" algn="l">
              <a:lnSpc>
                <a:spcPct val="100000"/>
              </a:lnSpc>
              <a:spcBef>
                <a:spcPts val="1200"/>
              </a:spcBef>
              <a:spcAft>
                <a:spcPts val="200"/>
              </a:spcAft>
              <a:buSzPts val="1758"/>
              <a:buNone/>
            </a:pPr>
            <a:r>
              <a:t/>
            </a:r>
            <a:endParaRPr sz="1665">
              <a:latin typeface="Bookman Old Style"/>
              <a:ea typeface="Bookman Old Style"/>
              <a:cs typeface="Bookman Old Style"/>
              <a:sym typeface="Bookman Old Style"/>
            </a:endParaRPr>
          </a:p>
        </p:txBody>
      </p:sp>
      <p:pic>
        <p:nvPicPr>
          <p:cNvPr id="117" name="Google Shape;117;g32b2461e909_0_0"/>
          <p:cNvPicPr preferRelativeResize="0"/>
          <p:nvPr/>
        </p:nvPicPr>
        <p:blipFill rotWithShape="1">
          <a:blip r:embed="rId3">
            <a:alphaModFix/>
          </a:blip>
          <a:srcRect b="0" l="0" r="0" t="0"/>
          <a:stretch/>
        </p:blipFill>
        <p:spPr>
          <a:xfrm>
            <a:off x="615950" y="983875"/>
            <a:ext cx="3105149" cy="2745774"/>
          </a:xfrm>
          <a:prstGeom prst="rect">
            <a:avLst/>
          </a:prstGeom>
          <a:noFill/>
          <a:ln>
            <a:noFill/>
          </a:ln>
        </p:spPr>
      </p:pic>
      <p:sp>
        <p:nvSpPr>
          <p:cNvPr id="118" name="Google Shape;118;g32b2461e909_0_0"/>
          <p:cNvSpPr txBox="1"/>
          <p:nvPr>
            <p:ph idx="4294967295" type="body"/>
          </p:nvPr>
        </p:nvSpPr>
        <p:spPr>
          <a:xfrm>
            <a:off x="8143000" y="3798800"/>
            <a:ext cx="3470100" cy="2442900"/>
          </a:xfrm>
          <a:prstGeom prst="rect">
            <a:avLst/>
          </a:prstGeom>
          <a:noFill/>
          <a:ln>
            <a:noFill/>
          </a:ln>
        </p:spPr>
        <p:txBody>
          <a:bodyPr anchorCtr="0" anchor="t" bIns="45700" lIns="0" spcFirstLastPara="1" rIns="0" wrap="square" tIns="45700">
            <a:normAutofit/>
          </a:bodyPr>
          <a:lstStyle/>
          <a:p>
            <a:pPr indent="0" lvl="0" marL="0" rtl="0" algn="l">
              <a:lnSpc>
                <a:spcPct val="110000"/>
              </a:lnSpc>
              <a:spcBef>
                <a:spcPts val="1200"/>
              </a:spcBef>
              <a:spcAft>
                <a:spcPts val="200"/>
              </a:spcAft>
              <a:buSzPts val="1900"/>
              <a:buNone/>
            </a:pPr>
            <a:r>
              <a:rPr lang="en-US" sz="1800">
                <a:latin typeface="Bookman Old Style"/>
                <a:ea typeface="Bookman Old Style"/>
                <a:cs typeface="Bookman Old Style"/>
                <a:sym typeface="Bookman Old Style"/>
              </a:rPr>
              <a:t>The graph above gives a more in-depth view of customer retention. There is a large drop off between number of customers who have placed 2,3 and 4 orders</a:t>
            </a:r>
            <a:endParaRPr sz="1800">
              <a:latin typeface="Bookman Old Style"/>
              <a:ea typeface="Bookman Old Style"/>
              <a:cs typeface="Bookman Old Style"/>
              <a:sym typeface="Bookman Old Style"/>
            </a:endParaRPr>
          </a:p>
        </p:txBody>
      </p:sp>
      <p:sp>
        <p:nvSpPr>
          <p:cNvPr id="119" name="Google Shape;119;g32b2461e909_0_0"/>
          <p:cNvSpPr txBox="1"/>
          <p:nvPr>
            <p:ph idx="4294967295" type="body"/>
          </p:nvPr>
        </p:nvSpPr>
        <p:spPr>
          <a:xfrm>
            <a:off x="4170111" y="3798799"/>
            <a:ext cx="3399631" cy="2442974"/>
          </a:xfrm>
          <a:prstGeom prst="rect">
            <a:avLst/>
          </a:prstGeom>
          <a:noFill/>
          <a:ln>
            <a:noFill/>
          </a:ln>
        </p:spPr>
        <p:txBody>
          <a:bodyPr anchorCtr="0" anchor="t" bIns="45700" lIns="0" spcFirstLastPara="1" rIns="0" wrap="square" tIns="45700">
            <a:normAutofit/>
          </a:bodyPr>
          <a:lstStyle/>
          <a:p>
            <a:pPr indent="0" lvl="0" marL="0" rtl="0" algn="l">
              <a:lnSpc>
                <a:spcPct val="110000"/>
              </a:lnSpc>
              <a:spcBef>
                <a:spcPts val="1200"/>
              </a:spcBef>
              <a:spcAft>
                <a:spcPts val="200"/>
              </a:spcAft>
              <a:buSzPts val="1900"/>
              <a:buNone/>
            </a:pPr>
            <a:r>
              <a:rPr lang="en-US" sz="1800">
                <a:latin typeface="Bookman Old Style"/>
                <a:ea typeface="Bookman Old Style"/>
                <a:cs typeface="Bookman Old Style"/>
                <a:sym typeface="Bookman Old Style"/>
              </a:rPr>
              <a:t>Most (66%) of customers have placed more than one order. Although this is not low, we can see that investing in customer retention might be necessary</a:t>
            </a:r>
            <a:endParaRPr sz="1800">
              <a:latin typeface="Bookman Old Style"/>
              <a:ea typeface="Bookman Old Style"/>
              <a:cs typeface="Bookman Old Style"/>
              <a:sym typeface="Bookman Old Style"/>
            </a:endParaRPr>
          </a:p>
        </p:txBody>
      </p:sp>
      <p:sp>
        <p:nvSpPr>
          <p:cNvPr id="120" name="Google Shape;120;g32b2461e909_0_0"/>
          <p:cNvSpPr txBox="1"/>
          <p:nvPr/>
        </p:nvSpPr>
        <p:spPr>
          <a:xfrm>
            <a:off x="0" y="154603"/>
            <a:ext cx="12192000"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Bookman Old Style"/>
                <a:ea typeface="Bookman Old Style"/>
                <a:cs typeface="Bookman Old Style"/>
                <a:sym typeface="Bookman Old Style"/>
              </a:rPr>
              <a:t>Customer Analysis</a:t>
            </a:r>
            <a:endParaRPr b="0" i="0" sz="1400" u="none" cap="none" strike="noStrike">
              <a:solidFill>
                <a:srgbClr val="000000"/>
              </a:solidFill>
              <a:latin typeface="Arial"/>
              <a:ea typeface="Arial"/>
              <a:cs typeface="Arial"/>
              <a:sym typeface="Arial"/>
            </a:endParaRPr>
          </a:p>
        </p:txBody>
      </p:sp>
      <p:pic>
        <p:nvPicPr>
          <p:cNvPr id="121" name="Google Shape;121;g32b2461e909_0_0"/>
          <p:cNvPicPr preferRelativeResize="0"/>
          <p:nvPr/>
        </p:nvPicPr>
        <p:blipFill rotWithShape="1">
          <a:blip r:embed="rId4">
            <a:alphaModFix/>
          </a:blip>
          <a:srcRect b="0" l="0" r="0" t="0"/>
          <a:stretch/>
        </p:blipFill>
        <p:spPr>
          <a:xfrm>
            <a:off x="8143012" y="1118895"/>
            <a:ext cx="2319650" cy="2319625"/>
          </a:xfrm>
          <a:prstGeom prst="rect">
            <a:avLst/>
          </a:prstGeom>
          <a:noFill/>
          <a:ln>
            <a:noFill/>
          </a:ln>
        </p:spPr>
      </p:pic>
      <p:pic>
        <p:nvPicPr>
          <p:cNvPr id="122" name="Google Shape;122;g32b2461e909_0_0"/>
          <p:cNvPicPr preferRelativeResize="0"/>
          <p:nvPr/>
        </p:nvPicPr>
        <p:blipFill rotWithShape="1">
          <a:blip r:embed="rId5">
            <a:alphaModFix/>
          </a:blip>
          <a:srcRect b="0" l="0" r="0" t="0"/>
          <a:stretch/>
        </p:blipFill>
        <p:spPr>
          <a:xfrm>
            <a:off x="4422950" y="1053025"/>
            <a:ext cx="2740650" cy="2745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idx="10" type="dt"/>
          </p:nvPr>
        </p:nvSpPr>
        <p:spPr>
          <a:xfrm flipH="1">
            <a:off x="12192026" y="6569725"/>
            <a:ext cx="524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128" name="Google Shape;128;p5"/>
          <p:cNvSpPr txBox="1"/>
          <p:nvPr/>
        </p:nvSpPr>
        <p:spPr>
          <a:xfrm>
            <a:off x="1707007" y="197803"/>
            <a:ext cx="8778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Bookman Old Style"/>
                <a:ea typeface="Bookman Old Style"/>
                <a:cs typeface="Bookman Old Style"/>
                <a:sym typeface="Bookman Old Style"/>
              </a:rPr>
              <a:t>Sales Analysis</a:t>
            </a:r>
            <a:endParaRPr b="1" i="0" sz="2400" u="none" cap="none" strike="noStrike">
              <a:solidFill>
                <a:schemeClr val="dk1"/>
              </a:solidFill>
              <a:latin typeface="Bookman Old Style"/>
              <a:ea typeface="Bookman Old Style"/>
              <a:cs typeface="Bookman Old Style"/>
              <a:sym typeface="Bookman Old Style"/>
            </a:endParaRPr>
          </a:p>
        </p:txBody>
      </p:sp>
      <p:sp>
        <p:nvSpPr>
          <p:cNvPr id="129" name="Google Shape;129;p5"/>
          <p:cNvSpPr txBox="1"/>
          <p:nvPr/>
        </p:nvSpPr>
        <p:spPr>
          <a:xfrm>
            <a:off x="183625" y="3567550"/>
            <a:ext cx="5286300" cy="306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l">
              <a:lnSpc>
                <a:spcPct val="115000"/>
              </a:lnSpc>
              <a:spcBef>
                <a:spcPts val="0"/>
              </a:spcBef>
              <a:spcAft>
                <a:spcPts val="0"/>
              </a:spcAft>
              <a:buClr>
                <a:schemeClr val="dk1"/>
              </a:buClr>
              <a:buSzPts val="1100"/>
              <a:buFont typeface="Arial"/>
              <a:buNone/>
            </a:pPr>
            <a:r>
              <a:rPr b="0" i="0" lang="en-US" sz="1800" u="none" cap="none" strike="noStrike">
                <a:solidFill>
                  <a:schemeClr val="dk1"/>
                </a:solidFill>
                <a:latin typeface="Bookman Old Style"/>
                <a:ea typeface="Bookman Old Style"/>
                <a:cs typeface="Bookman Old Style"/>
                <a:sym typeface="Bookman Old Style"/>
              </a:rPr>
              <a:t>The graph above highlights the most in-demand product, offering insights into customer preferences and market demand</a:t>
            </a:r>
            <a:endParaRPr b="0" i="0" sz="1800" u="none" cap="none" strike="noStrike">
              <a:solidFill>
                <a:schemeClr val="dk1"/>
              </a:solidFill>
              <a:latin typeface="Bookman Old Style"/>
              <a:ea typeface="Bookman Old Style"/>
              <a:cs typeface="Bookman Old Style"/>
              <a:sym typeface="Bookman Old Style"/>
            </a:endParaRPr>
          </a:p>
          <a:p>
            <a:pPr indent="0" lvl="0" marL="127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15000"/>
              </a:lnSpc>
              <a:spcBef>
                <a:spcPts val="0"/>
              </a:spcBef>
              <a:spcAft>
                <a:spcPts val="0"/>
              </a:spcAft>
              <a:buClr>
                <a:schemeClr val="dk1"/>
              </a:buClr>
              <a:buSzPts val="1100"/>
              <a:buFont typeface="Arial"/>
              <a:buNone/>
            </a:pPr>
            <a:r>
              <a:rPr b="0" i="0" lang="en-US" sz="1800" u="none" cap="none" strike="noStrike">
                <a:solidFill>
                  <a:schemeClr val="dk1"/>
                </a:solidFill>
                <a:latin typeface="Bookman Old Style"/>
                <a:ea typeface="Bookman Old Style"/>
                <a:cs typeface="Bookman Old Style"/>
                <a:sym typeface="Bookman Old Style"/>
              </a:rPr>
              <a:t>The size of the blocks correspond to their demand (the larger the block the more in demand the product is)</a:t>
            </a:r>
            <a:endParaRPr b="0" i="0" sz="1800" u="none" cap="none" strike="noStrike">
              <a:solidFill>
                <a:schemeClr val="dk1"/>
              </a:solidFill>
              <a:latin typeface="Bookman Old Style"/>
              <a:ea typeface="Bookman Old Style"/>
              <a:cs typeface="Bookman Old Style"/>
              <a:sym typeface="Bookman Old Style"/>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Bookman Old Style"/>
              <a:ea typeface="Bookman Old Style"/>
              <a:cs typeface="Bookman Old Style"/>
              <a:sym typeface="Bookman Old Style"/>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6070400" y="3429000"/>
            <a:ext cx="5917200" cy="23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t/>
            </a:r>
            <a:endParaRPr sz="18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US" sz="1800">
                <a:solidFill>
                  <a:schemeClr val="dk1"/>
                </a:solidFill>
                <a:latin typeface="Bookman Old Style"/>
                <a:ea typeface="Bookman Old Style"/>
                <a:cs typeface="Bookman Old Style"/>
                <a:sym typeface="Bookman Old Style"/>
              </a:rPr>
              <a:t>The graph gives us a good understanding on what kind of products are the most sold, and the least sold. This way the company can adapt their strategy to maximize profitability</a:t>
            </a:r>
            <a:endParaRPr sz="1800">
              <a:solidFill>
                <a:schemeClr val="dk1"/>
              </a:solidFill>
              <a:latin typeface="Bookman Old Style"/>
              <a:ea typeface="Bookman Old Style"/>
              <a:cs typeface="Bookman Old Style"/>
              <a:sym typeface="Bookman Old Style"/>
            </a:endParaRPr>
          </a:p>
          <a:p>
            <a:pPr indent="0" lvl="0" marL="12700" rtl="0" algn="l">
              <a:lnSpc>
                <a:spcPct val="115000"/>
              </a:lnSpc>
              <a:spcBef>
                <a:spcPts val="0"/>
              </a:spcBef>
              <a:spcAft>
                <a:spcPts val="0"/>
              </a:spcAft>
              <a:buClr>
                <a:schemeClr val="dk1"/>
              </a:buClr>
              <a:buSzPts val="1100"/>
              <a:buFont typeface="Arial"/>
              <a:buNone/>
            </a:pPr>
            <a:r>
              <a:t/>
            </a:r>
            <a:endParaRPr sz="1800">
              <a:solidFill>
                <a:schemeClr val="dk1"/>
              </a:solidFill>
              <a:latin typeface="Bookman Old Style"/>
              <a:ea typeface="Bookman Old Style"/>
              <a:cs typeface="Bookman Old Style"/>
              <a:sym typeface="Bookman Old Style"/>
            </a:endParaRPr>
          </a:p>
          <a:p>
            <a:pPr indent="0" lvl="0" marL="12700" rtl="0" algn="l">
              <a:lnSpc>
                <a:spcPct val="115000"/>
              </a:lnSpc>
              <a:spcBef>
                <a:spcPts val="0"/>
              </a:spcBef>
              <a:spcAft>
                <a:spcPts val="0"/>
              </a:spcAft>
              <a:buClr>
                <a:schemeClr val="dk1"/>
              </a:buClr>
              <a:buSzPts val="1100"/>
              <a:buFont typeface="Arial"/>
              <a:buNone/>
            </a:pPr>
            <a:r>
              <a:rPr lang="en-US" sz="1800">
                <a:solidFill>
                  <a:schemeClr val="dk1"/>
                </a:solidFill>
                <a:latin typeface="Bookman Old Style"/>
                <a:ea typeface="Bookman Old Style"/>
                <a:cs typeface="Bookman Old Style"/>
                <a:sym typeface="Bookman Old Style"/>
              </a:rPr>
              <a:t>We can analyse the amount of units sold by category to understand the market demands and the needs of the customers</a:t>
            </a:r>
            <a:endParaRPr sz="1800">
              <a:solidFill>
                <a:schemeClr val="dk1"/>
              </a:solidFill>
              <a:latin typeface="Bookman Old Style"/>
              <a:ea typeface="Bookman Old Style"/>
              <a:cs typeface="Bookman Old Style"/>
              <a:sym typeface="Bookman Old Style"/>
            </a:endParaRPr>
          </a:p>
          <a:p>
            <a:pPr indent="0" lvl="0" marL="12700" rtl="0" algn="l">
              <a:lnSpc>
                <a:spcPct val="115000"/>
              </a:lnSpc>
              <a:spcBef>
                <a:spcPts val="0"/>
              </a:spcBef>
              <a:spcAft>
                <a:spcPts val="0"/>
              </a:spcAft>
              <a:buClr>
                <a:schemeClr val="dk1"/>
              </a:buClr>
              <a:buSzPts val="1100"/>
              <a:buFont typeface="Arial"/>
              <a:buNone/>
            </a:pPr>
            <a:r>
              <a:t/>
            </a:r>
            <a:endParaRPr sz="2000">
              <a:solidFill>
                <a:schemeClr val="dk1"/>
              </a:solidFill>
              <a:latin typeface="Bookman Old Style"/>
              <a:ea typeface="Bookman Old Style"/>
              <a:cs typeface="Bookman Old Style"/>
              <a:sym typeface="Bookman Old Style"/>
            </a:endParaRPr>
          </a:p>
          <a:p>
            <a:pPr indent="0" lvl="0" marL="12700" rtl="0" algn="l">
              <a:lnSpc>
                <a:spcPct val="115000"/>
              </a:lnSpc>
              <a:spcBef>
                <a:spcPts val="0"/>
              </a:spcBef>
              <a:spcAft>
                <a:spcPts val="0"/>
              </a:spcAft>
              <a:buClr>
                <a:schemeClr val="dk1"/>
              </a:buClr>
              <a:buSzPts val="1100"/>
              <a:buFont typeface="Arial"/>
              <a:buNone/>
            </a:pPr>
            <a:r>
              <a:t/>
            </a:r>
            <a:endParaRPr sz="2000">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3F3F3F"/>
              </a:solidFill>
              <a:latin typeface="Libre Franklin"/>
              <a:ea typeface="Libre Franklin"/>
              <a:cs typeface="Libre Franklin"/>
              <a:sym typeface="Libre Franklin"/>
            </a:endParaRPr>
          </a:p>
        </p:txBody>
      </p:sp>
      <p:pic>
        <p:nvPicPr>
          <p:cNvPr id="131" name="Google Shape;131;p5"/>
          <p:cNvPicPr preferRelativeResize="0"/>
          <p:nvPr/>
        </p:nvPicPr>
        <p:blipFill rotWithShape="1">
          <a:blip r:embed="rId3">
            <a:alphaModFix/>
          </a:blip>
          <a:srcRect b="0" l="0" r="0" t="0"/>
          <a:stretch/>
        </p:blipFill>
        <p:spPr>
          <a:xfrm>
            <a:off x="183625" y="811903"/>
            <a:ext cx="5381636" cy="2617097"/>
          </a:xfrm>
          <a:prstGeom prst="rect">
            <a:avLst/>
          </a:prstGeom>
          <a:noFill/>
          <a:ln>
            <a:noFill/>
          </a:ln>
        </p:spPr>
      </p:pic>
      <p:pic>
        <p:nvPicPr>
          <p:cNvPr id="132" name="Google Shape;132;p5"/>
          <p:cNvPicPr preferRelativeResize="0"/>
          <p:nvPr/>
        </p:nvPicPr>
        <p:blipFill rotWithShape="1">
          <a:blip r:embed="rId4">
            <a:alphaModFix/>
          </a:blip>
          <a:srcRect b="0" l="0" r="0" t="0"/>
          <a:stretch/>
        </p:blipFill>
        <p:spPr>
          <a:xfrm>
            <a:off x="6497950" y="811903"/>
            <a:ext cx="5381636" cy="2754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2b2461e909_0_38"/>
          <p:cNvSpPr txBox="1"/>
          <p:nvPr>
            <p:ph idx="10" type="dt"/>
          </p:nvPr>
        </p:nvSpPr>
        <p:spPr>
          <a:xfrm>
            <a:off x="9607201" y="6569713"/>
            <a:ext cx="2584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138" name="Google Shape;138;g32b2461e909_0_38"/>
          <p:cNvSpPr txBox="1"/>
          <p:nvPr/>
        </p:nvSpPr>
        <p:spPr>
          <a:xfrm>
            <a:off x="1707007" y="197803"/>
            <a:ext cx="8778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Bookman Old Style"/>
                <a:ea typeface="Bookman Old Style"/>
                <a:cs typeface="Bookman Old Style"/>
                <a:sym typeface="Bookman Old Style"/>
              </a:rPr>
              <a:t>Sales Analysis</a:t>
            </a:r>
            <a:endParaRPr b="1" i="0" sz="2400" u="none" cap="none" strike="noStrike">
              <a:solidFill>
                <a:schemeClr val="dk1"/>
              </a:solidFill>
              <a:latin typeface="Bookman Old Style"/>
              <a:ea typeface="Bookman Old Style"/>
              <a:cs typeface="Bookman Old Style"/>
              <a:sym typeface="Bookman Old Style"/>
            </a:endParaRPr>
          </a:p>
        </p:txBody>
      </p:sp>
      <p:sp>
        <p:nvSpPr>
          <p:cNvPr id="139" name="Google Shape;139;g32b2461e909_0_38"/>
          <p:cNvSpPr txBox="1"/>
          <p:nvPr/>
        </p:nvSpPr>
        <p:spPr>
          <a:xfrm>
            <a:off x="107100" y="3748950"/>
            <a:ext cx="6017100" cy="2599800"/>
          </a:xfrm>
          <a:prstGeom prst="rect">
            <a:avLst/>
          </a:prstGeom>
          <a:noFill/>
          <a:ln>
            <a:noFill/>
          </a:ln>
        </p:spPr>
        <p:txBody>
          <a:bodyPr anchorCtr="0" anchor="t" bIns="45700" lIns="91425" spcFirstLastPara="1" rIns="91425" wrap="square" tIns="45700">
            <a:spAutoFit/>
          </a:bodyPr>
          <a:lstStyle/>
          <a:p>
            <a:pPr indent="0" lvl="0" marL="12700" marR="0" rtl="0" algn="l">
              <a:lnSpc>
                <a:spcPct val="115000"/>
              </a:lnSpc>
              <a:spcBef>
                <a:spcPts val="0"/>
              </a:spcBef>
              <a:spcAft>
                <a:spcPts val="0"/>
              </a:spcAft>
              <a:buClr>
                <a:schemeClr val="dk1"/>
              </a:buClr>
              <a:buSzPts val="1100"/>
              <a:buFont typeface="Arial"/>
              <a:buNone/>
            </a:pPr>
            <a:r>
              <a:rPr b="0" i="0" lang="en-US" sz="1800" u="none" cap="none" strike="noStrike">
                <a:solidFill>
                  <a:schemeClr val="dk1"/>
                </a:solidFill>
                <a:latin typeface="Bookman Old Style"/>
                <a:ea typeface="Bookman Old Style"/>
                <a:cs typeface="Bookman Old Style"/>
                <a:sym typeface="Bookman Old Style"/>
              </a:rPr>
              <a:t>This graph shows the sales per month as the bar chart with the values on the left axis and also the cumulative sales over the months as the dashed black line with its values on the right vertical axis</a:t>
            </a:r>
            <a:endParaRPr b="0" i="0" sz="1800" u="none" cap="none" strike="noStrike">
              <a:solidFill>
                <a:schemeClr val="dk1"/>
              </a:solidFill>
              <a:latin typeface="Bookman Old Style"/>
              <a:ea typeface="Bookman Old Style"/>
              <a:cs typeface="Bookman Old Style"/>
              <a:sym typeface="Bookman Old Style"/>
            </a:endParaRPr>
          </a:p>
          <a:p>
            <a:pPr indent="0" lvl="0" marL="12700" marR="0" rtl="0" algn="l">
              <a:lnSpc>
                <a:spcPct val="115000"/>
              </a:lnSpc>
              <a:spcBef>
                <a:spcPts val="0"/>
              </a:spcBef>
              <a:spcAft>
                <a:spcPts val="0"/>
              </a:spcAft>
              <a:buClr>
                <a:schemeClr val="dk1"/>
              </a:buClr>
              <a:buSzPts val="1100"/>
              <a:buFont typeface="Arial"/>
              <a:buNone/>
            </a:pPr>
            <a:r>
              <a:t/>
            </a:r>
            <a:endParaRPr sz="1800">
              <a:solidFill>
                <a:schemeClr val="dk1"/>
              </a:solidFill>
              <a:latin typeface="Bookman Old Style"/>
              <a:ea typeface="Bookman Old Style"/>
              <a:cs typeface="Bookman Old Style"/>
              <a:sym typeface="Bookman Old Style"/>
            </a:endParaRPr>
          </a:p>
          <a:p>
            <a:pPr indent="0" lvl="0" marL="12700" marR="0" rtl="0" algn="l">
              <a:lnSpc>
                <a:spcPct val="115000"/>
              </a:lnSpc>
              <a:spcBef>
                <a:spcPts val="0"/>
              </a:spcBef>
              <a:spcAft>
                <a:spcPts val="0"/>
              </a:spcAft>
              <a:buClr>
                <a:schemeClr val="dk1"/>
              </a:buClr>
              <a:buSzPts val="1100"/>
              <a:buFont typeface="Arial"/>
              <a:buNone/>
            </a:pPr>
            <a:r>
              <a:rPr lang="en-US" sz="1800">
                <a:solidFill>
                  <a:schemeClr val="dk1"/>
                </a:solidFill>
                <a:latin typeface="Bookman Old Style"/>
                <a:ea typeface="Bookman Old Style"/>
                <a:cs typeface="Bookman Old Style"/>
                <a:sym typeface="Bookman Old Style"/>
              </a:rPr>
              <a:t>This visualization helps analyze sales trends, identify patterns, and optimize inventory and marketing strategies</a:t>
            </a:r>
            <a:endParaRPr sz="1800">
              <a:solidFill>
                <a:schemeClr val="dk1"/>
              </a:solidFill>
              <a:latin typeface="Bookman Old Style"/>
              <a:ea typeface="Bookman Old Style"/>
              <a:cs typeface="Bookman Old Style"/>
              <a:sym typeface="Bookman Old Style"/>
            </a:endParaRPr>
          </a:p>
        </p:txBody>
      </p:sp>
      <p:sp>
        <p:nvSpPr>
          <p:cNvPr id="140" name="Google Shape;140;g32b2461e909_0_38"/>
          <p:cNvSpPr txBox="1"/>
          <p:nvPr/>
        </p:nvSpPr>
        <p:spPr>
          <a:xfrm>
            <a:off x="6475900" y="3362700"/>
            <a:ext cx="5637300" cy="1428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000">
              <a:solidFill>
                <a:srgbClr val="FF0000"/>
              </a:solidFill>
              <a:latin typeface="Bookman Old Style"/>
              <a:ea typeface="Bookman Old Style"/>
              <a:cs typeface="Bookman Old Style"/>
              <a:sym typeface="Bookman Old Style"/>
            </a:endParaRPr>
          </a:p>
          <a:p>
            <a:pPr indent="0" lvl="0" marL="0" marR="0" rtl="0" algn="l">
              <a:lnSpc>
                <a:spcPct val="115000"/>
              </a:lnSpc>
              <a:spcBef>
                <a:spcPts val="0"/>
              </a:spcBef>
              <a:spcAft>
                <a:spcPts val="0"/>
              </a:spcAft>
              <a:buNone/>
            </a:pPr>
            <a:r>
              <a:rPr lang="en-US" sz="1800">
                <a:solidFill>
                  <a:schemeClr val="dk1"/>
                </a:solidFill>
                <a:latin typeface="Bookman Old Style"/>
                <a:ea typeface="Bookman Old Style"/>
                <a:cs typeface="Bookman Old Style"/>
                <a:sym typeface="Bookman Old Style"/>
              </a:rPr>
              <a:t>The histogram displays the order distribution by product count, offering insights into customer behavior and optimizing sales and logistics</a:t>
            </a:r>
            <a:endParaRPr b="0" i="0" sz="1800" u="none" cap="none" strike="noStrike">
              <a:solidFill>
                <a:schemeClr val="dk1"/>
              </a:solidFill>
              <a:latin typeface="Bookman Old Style"/>
              <a:ea typeface="Bookman Old Style"/>
              <a:cs typeface="Bookman Old Style"/>
              <a:sym typeface="Bookman Old Style"/>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3F3F3F"/>
              </a:solidFill>
              <a:latin typeface="Libre Franklin"/>
              <a:ea typeface="Libre Franklin"/>
              <a:cs typeface="Libre Franklin"/>
              <a:sym typeface="Libre Franklin"/>
            </a:endParaRPr>
          </a:p>
        </p:txBody>
      </p:sp>
      <p:pic>
        <p:nvPicPr>
          <p:cNvPr id="141" name="Google Shape;141;g32b2461e909_0_38"/>
          <p:cNvPicPr preferRelativeResize="0"/>
          <p:nvPr/>
        </p:nvPicPr>
        <p:blipFill rotWithShape="1">
          <a:blip r:embed="rId3">
            <a:alphaModFix/>
          </a:blip>
          <a:srcRect b="0" l="0" r="0" t="0"/>
          <a:stretch/>
        </p:blipFill>
        <p:spPr>
          <a:xfrm>
            <a:off x="779525" y="811900"/>
            <a:ext cx="4468525" cy="2665750"/>
          </a:xfrm>
          <a:prstGeom prst="rect">
            <a:avLst/>
          </a:prstGeom>
          <a:noFill/>
          <a:ln>
            <a:noFill/>
          </a:ln>
        </p:spPr>
      </p:pic>
      <p:pic>
        <p:nvPicPr>
          <p:cNvPr id="142" name="Google Shape;142;g32b2461e909_0_38"/>
          <p:cNvPicPr preferRelativeResize="0"/>
          <p:nvPr/>
        </p:nvPicPr>
        <p:blipFill rotWithShape="1">
          <a:blip r:embed="rId4">
            <a:alphaModFix/>
          </a:blip>
          <a:srcRect b="0" l="0" r="0" t="0"/>
          <a:stretch/>
        </p:blipFill>
        <p:spPr>
          <a:xfrm>
            <a:off x="6096000" y="798400"/>
            <a:ext cx="5537200" cy="26927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2b2461e909_0_52"/>
          <p:cNvSpPr txBox="1"/>
          <p:nvPr>
            <p:ph idx="4294967295" type="body"/>
          </p:nvPr>
        </p:nvSpPr>
        <p:spPr>
          <a:xfrm>
            <a:off x="188853" y="3917993"/>
            <a:ext cx="3782937" cy="2390939"/>
          </a:xfrm>
          <a:prstGeom prst="rect">
            <a:avLst/>
          </a:prstGeom>
          <a:noFill/>
          <a:ln>
            <a:noFill/>
          </a:ln>
        </p:spPr>
        <p:txBody>
          <a:bodyPr anchorCtr="0" anchor="t" bIns="45700" lIns="0" spcFirstLastPara="1" rIns="0" wrap="square" tIns="45700">
            <a:normAutofit/>
          </a:bodyPr>
          <a:lstStyle/>
          <a:p>
            <a:pPr indent="0" lvl="0" marL="0" rtl="0" algn="l">
              <a:lnSpc>
                <a:spcPct val="110000"/>
              </a:lnSpc>
              <a:spcBef>
                <a:spcPts val="1200"/>
              </a:spcBef>
              <a:spcAft>
                <a:spcPts val="200"/>
              </a:spcAft>
              <a:buSzPts val="1900"/>
              <a:buNone/>
            </a:pPr>
            <a:r>
              <a:rPr lang="en-US" sz="1800">
                <a:latin typeface="Bookman Old Style"/>
                <a:ea typeface="Bookman Old Style"/>
                <a:cs typeface="Bookman Old Style"/>
                <a:sym typeface="Bookman Old Style"/>
              </a:rPr>
              <a:t>In this query we find for each country the biggest supplier based on units sold. This allows us to create the visualization on the right</a:t>
            </a:r>
            <a:endParaRPr sz="1800">
              <a:latin typeface="Bookman Old Style"/>
              <a:ea typeface="Bookman Old Style"/>
              <a:cs typeface="Bookman Old Style"/>
              <a:sym typeface="Bookman Old Style"/>
            </a:endParaRPr>
          </a:p>
        </p:txBody>
      </p:sp>
      <p:sp>
        <p:nvSpPr>
          <p:cNvPr id="149" name="Google Shape;149;g32b2461e909_0_52"/>
          <p:cNvSpPr txBox="1"/>
          <p:nvPr>
            <p:ph idx="4294967295" type="body"/>
          </p:nvPr>
        </p:nvSpPr>
        <p:spPr>
          <a:xfrm>
            <a:off x="8143012" y="3917993"/>
            <a:ext cx="3769948" cy="2390938"/>
          </a:xfrm>
          <a:prstGeom prst="rect">
            <a:avLst/>
          </a:prstGeom>
          <a:noFill/>
          <a:ln>
            <a:noFill/>
          </a:ln>
        </p:spPr>
        <p:txBody>
          <a:bodyPr anchorCtr="0" anchor="t" bIns="45700" lIns="0" spcFirstLastPara="1" rIns="0" wrap="square" tIns="45700">
            <a:normAutofit/>
          </a:bodyPr>
          <a:lstStyle/>
          <a:p>
            <a:pPr indent="0" lvl="0" marL="0" rtl="0" algn="l">
              <a:lnSpc>
                <a:spcPct val="110000"/>
              </a:lnSpc>
              <a:spcBef>
                <a:spcPts val="1200"/>
              </a:spcBef>
              <a:spcAft>
                <a:spcPts val="200"/>
              </a:spcAft>
              <a:buSzPts val="1900"/>
              <a:buNone/>
            </a:pPr>
            <a:r>
              <a:rPr lang="en-US" sz="1800">
                <a:latin typeface="Bookman Old Style"/>
                <a:ea typeface="Bookman Old Style"/>
                <a:cs typeface="Bookman Old Style"/>
                <a:sym typeface="Bookman Old Style"/>
              </a:rPr>
              <a:t>This chart gives us an understanding of the order sizes for each category. This way the company can modify their supply to increase utility per units sold</a:t>
            </a:r>
            <a:endParaRPr sz="1800">
              <a:latin typeface="Bookman Old Style"/>
              <a:ea typeface="Bookman Old Style"/>
              <a:cs typeface="Bookman Old Style"/>
              <a:sym typeface="Bookman Old Style"/>
            </a:endParaRPr>
          </a:p>
        </p:txBody>
      </p:sp>
      <p:sp>
        <p:nvSpPr>
          <p:cNvPr id="150" name="Google Shape;150;g32b2461e909_0_52"/>
          <p:cNvSpPr txBox="1"/>
          <p:nvPr>
            <p:ph idx="4294967295" type="body"/>
          </p:nvPr>
        </p:nvSpPr>
        <p:spPr>
          <a:xfrm>
            <a:off x="4170100" y="3918000"/>
            <a:ext cx="3728100" cy="2391000"/>
          </a:xfrm>
          <a:prstGeom prst="rect">
            <a:avLst/>
          </a:prstGeom>
          <a:noFill/>
          <a:ln>
            <a:noFill/>
          </a:ln>
        </p:spPr>
        <p:txBody>
          <a:bodyPr anchorCtr="0" anchor="t" bIns="45700" lIns="0" spcFirstLastPara="1" rIns="0" wrap="square" tIns="45700">
            <a:normAutofit/>
          </a:bodyPr>
          <a:lstStyle/>
          <a:p>
            <a:pPr indent="0" lvl="0" marL="0" rtl="0" algn="l">
              <a:lnSpc>
                <a:spcPct val="110000"/>
              </a:lnSpc>
              <a:spcBef>
                <a:spcPts val="1200"/>
              </a:spcBef>
              <a:spcAft>
                <a:spcPts val="200"/>
              </a:spcAft>
              <a:buSzPts val="1900"/>
              <a:buNone/>
            </a:pPr>
            <a:r>
              <a:rPr lang="en-US" sz="1800">
                <a:latin typeface="Bookman Old Style"/>
                <a:ea typeface="Bookman Old Style"/>
                <a:cs typeface="Bookman Old Style"/>
                <a:sym typeface="Bookman Old Style"/>
              </a:rPr>
              <a:t>W</a:t>
            </a:r>
            <a:r>
              <a:rPr lang="en-US" sz="1800">
                <a:latin typeface="Bookman Old Style"/>
                <a:ea typeface="Bookman Old Style"/>
                <a:cs typeface="Bookman Old Style"/>
                <a:sym typeface="Bookman Old Style"/>
              </a:rPr>
              <a:t>e obtained a visualization of the supply chain by location, to see the the positioning of our suppliers in their respective countries in relation to our company</a:t>
            </a:r>
            <a:endParaRPr sz="1800">
              <a:latin typeface="Bookman Old Style"/>
              <a:ea typeface="Bookman Old Style"/>
              <a:cs typeface="Bookman Old Style"/>
              <a:sym typeface="Bookman Old Style"/>
            </a:endParaRPr>
          </a:p>
        </p:txBody>
      </p:sp>
      <p:sp>
        <p:nvSpPr>
          <p:cNvPr id="151" name="Google Shape;151;g32b2461e909_0_52"/>
          <p:cNvSpPr txBox="1"/>
          <p:nvPr/>
        </p:nvSpPr>
        <p:spPr>
          <a:xfrm>
            <a:off x="0" y="409541"/>
            <a:ext cx="12192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Bookman Old Style"/>
                <a:ea typeface="Bookman Old Style"/>
                <a:cs typeface="Bookman Old Style"/>
                <a:sym typeface="Bookman Old Style"/>
              </a:rPr>
              <a:t>Supplier and Employee </a:t>
            </a:r>
            <a:r>
              <a:rPr b="1" lang="en-US" sz="2400">
                <a:solidFill>
                  <a:schemeClr val="dk1"/>
                </a:solidFill>
                <a:latin typeface="Bookman Old Style"/>
                <a:ea typeface="Bookman Old Style"/>
                <a:cs typeface="Bookman Old Style"/>
                <a:sym typeface="Bookman Old Style"/>
              </a:rPr>
              <a:t>A</a:t>
            </a:r>
            <a:r>
              <a:rPr b="1" i="0" lang="en-US" sz="2400" u="none" cap="none" strike="noStrike">
                <a:solidFill>
                  <a:schemeClr val="dk1"/>
                </a:solidFill>
                <a:latin typeface="Bookman Old Style"/>
                <a:ea typeface="Bookman Old Style"/>
                <a:cs typeface="Bookman Old Style"/>
                <a:sym typeface="Bookman Old Style"/>
              </a:rPr>
              <a:t>nalysis</a:t>
            </a:r>
            <a:endParaRPr b="1" i="0" sz="2400" u="none" cap="none" strike="noStrike">
              <a:solidFill>
                <a:schemeClr val="dk1"/>
              </a:solidFill>
              <a:latin typeface="Bookman Old Style"/>
              <a:ea typeface="Bookman Old Style"/>
              <a:cs typeface="Bookman Old Style"/>
              <a:sym typeface="Bookman Old Style"/>
            </a:endParaRPr>
          </a:p>
        </p:txBody>
      </p:sp>
      <p:pic>
        <p:nvPicPr>
          <p:cNvPr id="152" name="Google Shape;152;g32b2461e909_0_52"/>
          <p:cNvPicPr preferRelativeResize="0"/>
          <p:nvPr/>
        </p:nvPicPr>
        <p:blipFill rotWithShape="1">
          <a:blip r:embed="rId3">
            <a:alphaModFix/>
          </a:blip>
          <a:srcRect b="0" l="0" r="0" t="0"/>
          <a:stretch/>
        </p:blipFill>
        <p:spPr>
          <a:xfrm>
            <a:off x="4170100" y="1059000"/>
            <a:ext cx="3782951" cy="2672350"/>
          </a:xfrm>
          <a:prstGeom prst="rect">
            <a:avLst/>
          </a:prstGeom>
          <a:noFill/>
          <a:ln>
            <a:noFill/>
          </a:ln>
        </p:spPr>
      </p:pic>
      <p:pic>
        <p:nvPicPr>
          <p:cNvPr id="153" name="Google Shape;153;g32b2461e909_0_52"/>
          <p:cNvPicPr preferRelativeResize="0"/>
          <p:nvPr/>
        </p:nvPicPr>
        <p:blipFill rotWithShape="1">
          <a:blip r:embed="rId4">
            <a:alphaModFix/>
          </a:blip>
          <a:srcRect b="0" l="0" r="0" t="0"/>
          <a:stretch/>
        </p:blipFill>
        <p:spPr>
          <a:xfrm>
            <a:off x="86100" y="1059000"/>
            <a:ext cx="4003725" cy="2739800"/>
          </a:xfrm>
          <a:prstGeom prst="rect">
            <a:avLst/>
          </a:prstGeom>
          <a:noFill/>
          <a:ln>
            <a:noFill/>
          </a:ln>
        </p:spPr>
      </p:pic>
      <p:pic>
        <p:nvPicPr>
          <p:cNvPr id="154" name="Google Shape;154;g32b2461e909_0_52"/>
          <p:cNvPicPr preferRelativeResize="0"/>
          <p:nvPr/>
        </p:nvPicPr>
        <p:blipFill rotWithShape="1">
          <a:blip r:embed="rId5">
            <a:alphaModFix/>
          </a:blip>
          <a:srcRect b="0" l="0" r="0" t="0"/>
          <a:stretch/>
        </p:blipFill>
        <p:spPr>
          <a:xfrm>
            <a:off x="8143000" y="1099375"/>
            <a:ext cx="3769949" cy="2631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2b0d39761f_1_63"/>
          <p:cNvSpPr txBox="1"/>
          <p:nvPr/>
        </p:nvSpPr>
        <p:spPr>
          <a:xfrm>
            <a:off x="530450" y="2414050"/>
            <a:ext cx="10851600" cy="908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700"/>
              <a:buFont typeface="Arial"/>
              <a:buNone/>
            </a:pPr>
            <a:r>
              <a:rPr b="1" i="0" lang="en-US" sz="4700" u="none" cap="none" strike="noStrike">
                <a:solidFill>
                  <a:srgbClr val="3F3F3F"/>
                </a:solidFill>
                <a:latin typeface="Bookman Old Style"/>
                <a:ea typeface="Bookman Old Style"/>
                <a:cs typeface="Bookman Old Style"/>
                <a:sym typeface="Bookman Old Style"/>
              </a:rPr>
              <a:t>THANK YOU! </a:t>
            </a:r>
            <a:endParaRPr b="1" i="0" sz="4700" u="none" cap="none" strike="noStrike">
              <a:solidFill>
                <a:srgbClr val="3F3F3F"/>
              </a:solidFill>
              <a:latin typeface="Bookman Old Style"/>
              <a:ea typeface="Bookman Old Style"/>
              <a:cs typeface="Bookman Old Style"/>
              <a:sym typeface="Bookman Old Style"/>
            </a:endParaRPr>
          </a:p>
        </p:txBody>
      </p:sp>
      <p:sp>
        <p:nvSpPr>
          <p:cNvPr id="161" name="Google Shape;161;g32b0d39761f_1_63"/>
          <p:cNvSpPr txBox="1"/>
          <p:nvPr/>
        </p:nvSpPr>
        <p:spPr>
          <a:xfrm>
            <a:off x="3702875" y="2200625"/>
            <a:ext cx="390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rsonalizzata">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2025-01-29T16:35:06Z</dcterms:created>
  <dc:creator>NICCOLO CLOETTA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29f4804-9ab0-4527-a877-f7a87100f5fc_Enabled">
    <vt:lpwstr>true</vt:lpwstr>
  </property>
  <property fmtid="{D5CDD505-2E9C-101B-9397-08002B2CF9AE}" pid="3" name="MSIP_Label_b29f4804-9ab0-4527-a877-f7a87100f5fc_SetDate">
    <vt:lpwstr>2025-02-01T11:55:00Z</vt:lpwstr>
  </property>
  <property fmtid="{D5CDD505-2E9C-101B-9397-08002B2CF9AE}" pid="4" name="MSIP_Label_b29f4804-9ab0-4527-a877-f7a87100f5fc_Method">
    <vt:lpwstr>Standard</vt:lpwstr>
  </property>
  <property fmtid="{D5CDD505-2E9C-101B-9397-08002B2CF9AE}" pid="5" name="MSIP_Label_b29f4804-9ab0-4527-a877-f7a87100f5fc_Name">
    <vt:lpwstr>General</vt:lpwstr>
  </property>
  <property fmtid="{D5CDD505-2E9C-101B-9397-08002B2CF9AE}" pid="6" name="MSIP_Label_b29f4804-9ab0-4527-a877-f7a87100f5fc_SiteId">
    <vt:lpwstr>7a5561df-6599-4898-8a20-cce41db3b44f</vt:lpwstr>
  </property>
  <property fmtid="{D5CDD505-2E9C-101B-9397-08002B2CF9AE}" pid="7" name="MSIP_Label_b29f4804-9ab0-4527-a877-f7a87100f5fc_ActionId">
    <vt:lpwstr>56c34f20-3c41-4970-896b-3377114ee4bf</vt:lpwstr>
  </property>
  <property fmtid="{D5CDD505-2E9C-101B-9397-08002B2CF9AE}" pid="8" name="MSIP_Label_b29f4804-9ab0-4527-a877-f7a87100f5fc_ContentBits">
    <vt:lpwstr>0</vt:lpwstr>
  </property>
  <property fmtid="{D5CDD505-2E9C-101B-9397-08002B2CF9AE}" pid="9" name="MSIP_Label_b29f4804-9ab0-4527-a877-f7a87100f5fc_Tag">
    <vt:lpwstr>50, 3, 0, 1</vt:lpwstr>
  </property>
</Properties>
</file>