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Public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PublicSans-bold.fntdata"/><Relationship Id="rId23" Type="http://schemas.openxmlformats.org/officeDocument/2006/relationships/font" Target="fonts/Public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ublicSans-boldItalic.fntdata"/><Relationship Id="rId25" Type="http://schemas.openxmlformats.org/officeDocument/2006/relationships/font" Target="fonts/Public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uni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380b387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380b387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b872acde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b872acde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b872acde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b872acde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380b38734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380b38734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b872acde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b872acde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b872acde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b872acde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b872acde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4b872acde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b872acde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4b872acde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380b38734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4380b38734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b872acdef_6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b872acdef_6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4b606ffa05_2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4b606ffa05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380b38734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4380b38734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4380b3873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4380b3873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1"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/>
          <p:nvPr/>
        </p:nvSpPr>
        <p:spPr>
          <a:xfrm>
            <a:off x="228600" y="223500"/>
            <a:ext cx="8686800" cy="46965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6" name="Google Shape;126;p13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13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28" name="Google Shape;128;p13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ctrTitle"/>
          </p:nvPr>
        </p:nvSpPr>
        <p:spPr>
          <a:xfrm>
            <a:off x="1858703" y="112365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911"/>
              <a:t>Group 3</a:t>
            </a:r>
            <a:endParaRPr sz="4911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/>
              <a:t>Municipality 9</a:t>
            </a:r>
            <a:endParaRPr sz="6800"/>
          </a:p>
        </p:txBody>
      </p:sp>
      <p:sp>
        <p:nvSpPr>
          <p:cNvPr id="135" name="Google Shape;135;p14"/>
          <p:cNvSpPr txBox="1"/>
          <p:nvPr>
            <p:ph idx="1" type="subTitle"/>
          </p:nvPr>
        </p:nvSpPr>
        <p:spPr>
          <a:xfrm>
            <a:off x="1858700" y="304720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Data Visualization</a:t>
            </a:r>
            <a:endParaRPr b="1" sz="1800"/>
          </a:p>
        </p:txBody>
      </p:sp>
      <p:pic>
        <p:nvPicPr>
          <p:cNvPr id="136" name="Google Shape;1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8326" y="4316671"/>
            <a:ext cx="1069850" cy="54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/>
        </p:nvSpPr>
        <p:spPr>
          <a:xfrm>
            <a:off x="1047550" y="3461950"/>
            <a:ext cx="75450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Pablo Alfaro - Niccolò Cloetta - Benjamín Cruz Infante - Camilo Mercado - Giacomo Salza</a:t>
            </a:r>
            <a:endParaRPr b="1" sz="13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209550" y="262925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00"/>
              <a:t>NIL’s Municipality 9</a:t>
            </a:r>
            <a:endParaRPr sz="4300"/>
          </a:p>
        </p:txBody>
      </p:sp>
      <p:sp>
        <p:nvSpPr>
          <p:cNvPr id="143" name="Google Shape;143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427525" y="913450"/>
            <a:ext cx="7963200" cy="3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9. Porta Garibaldi - Porta Nuova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11. Isola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highlight>
                  <a:schemeClr val="dk1"/>
                </a:highlight>
                <a:latin typeface="Public Sans"/>
                <a:ea typeface="Public Sans"/>
                <a:cs typeface="Public Sans"/>
                <a:sym typeface="Public Sans"/>
              </a:rPr>
              <a:t>12. Maciachini-Maggiolina</a:t>
            </a:r>
            <a:endParaRPr sz="1500">
              <a:highlight>
                <a:schemeClr val="dk1"/>
              </a:highlight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highlight>
                  <a:schemeClr val="dk1"/>
                </a:highlight>
                <a:latin typeface="Public Sans"/>
                <a:ea typeface="Public Sans"/>
                <a:cs typeface="Public Sans"/>
                <a:sym typeface="Public Sans"/>
              </a:rPr>
              <a:t>13. Greco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14. Niguarda - Ca’ Granda 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15. Bicocca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77. Bovisa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78. Farini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79. Dergano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80. Affori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81. Bovisasca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82. Comasina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83. Bruzzano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84. Parco Nord</a:t>
            </a:r>
            <a:endParaRPr sz="1500">
              <a:solidFill>
                <a:schemeClr val="dk1"/>
              </a:solidFill>
              <a:highlight>
                <a:schemeClr val="dk1"/>
              </a:highlight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highlight>
                <a:schemeClr val="dk1"/>
              </a:highlight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45" name="Google Shape;14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300" y="1120325"/>
            <a:ext cx="4507574" cy="339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1359900" y="341225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3530"/>
              <a:t>Research Question</a:t>
            </a:r>
            <a:endParaRPr b="1" sz="3170"/>
          </a:p>
        </p:txBody>
      </p:sp>
      <p:sp>
        <p:nvSpPr>
          <p:cNvPr id="151" name="Google Shape;151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76225" y="3440300"/>
            <a:ext cx="79632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We will illustrate different index generated with the Airbnb Database to get a general snapshot, focusing on help international students for the </a:t>
            </a: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temporarily</a:t>
            </a: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renting</a:t>
            </a: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search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" name="Google Shape;153;p16"/>
          <p:cNvSpPr txBox="1"/>
          <p:nvPr>
            <p:ph idx="1" type="subTitle"/>
          </p:nvPr>
        </p:nvSpPr>
        <p:spPr>
          <a:xfrm>
            <a:off x="371575" y="1245250"/>
            <a:ext cx="8403300" cy="15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n" sz="2660">
                <a:solidFill>
                  <a:srgbClr val="20363F"/>
                </a:solidFill>
                <a:latin typeface="Nunito"/>
                <a:ea typeface="Nunito"/>
                <a:cs typeface="Nunito"/>
                <a:sym typeface="Nunito"/>
              </a:rPr>
              <a:t>What are the most convenient and affordable areas for renting an Airbnb near POLIMI Bovisa (Municipality 9) for international students to stay meanwhile they are looking for a long term place?</a:t>
            </a:r>
            <a:endParaRPr b="1" sz="2660">
              <a:solidFill>
                <a:srgbClr val="2036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01" y="4220483"/>
            <a:ext cx="1711677" cy="534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233200" y="269050"/>
            <a:ext cx="80307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/>
              <a:t>Value for Student Life Index</a:t>
            </a:r>
            <a:endParaRPr b="1" sz="2600">
              <a:solidFill>
                <a:srgbClr val="FF0000"/>
              </a:solidFill>
            </a:endParaRPr>
          </a:p>
        </p:txBody>
      </p:sp>
      <p:sp>
        <p:nvSpPr>
          <p:cNvPr id="160" name="Google Shape;160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26875" y="2793500"/>
            <a:ext cx="3521400" cy="1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362" y="1018075"/>
            <a:ext cx="3844688" cy="3338099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" name="Google Shape;163;p17"/>
          <p:cNvSpPr txBox="1"/>
          <p:nvPr/>
        </p:nvSpPr>
        <p:spPr>
          <a:xfrm>
            <a:off x="233200" y="1018075"/>
            <a:ext cx="4649400" cy="3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Steps of Index Creation</a:t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AutoNum type="arabicPeriod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Cleaned the data for null values in essential fields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AutoNum type="arabicPeriod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Selected price, distance, availability, review score, amenities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AutoNum type="arabicPeriod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Coded each factor to be normalized on a 0-10 scale for comparability. 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For example: 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highlight>
                  <a:srgbClr val="FFF2CC"/>
                </a:highlight>
                <a:latin typeface="Nunito"/>
                <a:ea typeface="Nunito"/>
                <a:cs typeface="Nunito"/>
                <a:sym typeface="Nunito"/>
              </a:rPr>
              <a:t>(Max Price - [Average Price]) / (Max Price - Min Price) * 10</a:t>
            </a:r>
            <a:endParaRPr b="1" sz="1100">
              <a:solidFill>
                <a:srgbClr val="666666"/>
              </a:solidFill>
              <a:highlight>
                <a:srgbClr val="FFF2CC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AutoNum type="arabicPeriod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Assigned scores to each neighborhood under specific factors, like </a:t>
            </a:r>
            <a:r>
              <a:rPr b="1"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lower price is better than higher price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highlight>
                  <a:srgbClr val="FFF2CC"/>
                </a:highlight>
                <a:latin typeface="Nunito"/>
                <a:ea typeface="Nunito"/>
                <a:cs typeface="Nunito"/>
                <a:sym typeface="Nunito"/>
              </a:rPr>
              <a:t>(MAX([Average Price]) - [Average Price]) / (MAX([Average Price]) - MIN([Average Price])) * 10</a:t>
            </a:r>
            <a:endParaRPr b="1" sz="1100">
              <a:solidFill>
                <a:srgbClr val="666666"/>
              </a:solidFill>
              <a:highlight>
                <a:srgbClr val="FFF2CC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AutoNum type="arabicPeriod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Assigned weights to each factor so that certain characteristics are more important than others: </a:t>
            </a:r>
            <a:endParaRPr b="1" sz="1100">
              <a:solidFill>
                <a:srgbClr val="666666"/>
              </a:solidFill>
              <a:highlight>
                <a:srgbClr val="FFF2CC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highlight>
                  <a:srgbClr val="D9EAD3"/>
                </a:highlight>
                <a:latin typeface="Nunito"/>
                <a:ea typeface="Nunito"/>
                <a:cs typeface="Nunito"/>
                <a:sym typeface="Nunito"/>
              </a:rPr>
              <a:t>Price: 30%, Distance: 25%, Review: 20%, Availability:15%, Amenities: 10%</a:t>
            </a:r>
            <a:endParaRPr b="1" sz="1100">
              <a:solidFill>
                <a:schemeClr val="dk2"/>
              </a:solidFill>
              <a:highlight>
                <a:srgbClr val="D9EAD3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AutoNum type="arabicPeriod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Visualized 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through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 heatmap, coloured by </a:t>
            </a:r>
            <a:r>
              <a:rPr b="1"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Value for Student Life Index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Score on a scale from 1-10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➔"/>
            </a:pPr>
            <a:r>
              <a:rPr lang="en" sz="1100">
                <a:solidFill>
                  <a:schemeClr val="dk2"/>
                </a:solidFill>
                <a:highlight>
                  <a:srgbClr val="E06666"/>
                </a:highlight>
                <a:latin typeface="Nunito"/>
                <a:ea typeface="Nunito"/>
                <a:cs typeface="Nunito"/>
                <a:sym typeface="Nunito"/>
              </a:rPr>
              <a:t>Lowest = Garibaldi 3.69</a:t>
            </a:r>
            <a:endParaRPr sz="1100">
              <a:solidFill>
                <a:schemeClr val="dk2"/>
              </a:solidFill>
              <a:highlight>
                <a:srgbClr val="E06666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➔"/>
            </a:pPr>
            <a:r>
              <a:rPr lang="en" sz="1100">
                <a:solidFill>
                  <a:schemeClr val="dk1"/>
                </a:solidFill>
                <a:highlight>
                  <a:srgbClr val="1155CC"/>
                </a:highlight>
                <a:latin typeface="Nunito"/>
                <a:ea typeface="Nunito"/>
                <a:cs typeface="Nunito"/>
                <a:sym typeface="Nunito"/>
              </a:rPr>
              <a:t>Highest = Bovisasca 8.00</a:t>
            </a:r>
            <a:endParaRPr sz="1100">
              <a:solidFill>
                <a:schemeClr val="dk1"/>
              </a:solidFill>
              <a:highlight>
                <a:srgbClr val="1155CC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344125" y="303075"/>
            <a:ext cx="8595300" cy="9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Separated</a:t>
            </a:r>
            <a:r>
              <a:rPr b="1" lang="en" sz="2600"/>
              <a:t> </a:t>
            </a:r>
            <a:r>
              <a:rPr b="1" lang="en" sz="2600"/>
              <a:t>valuation based on: place, price &amp; 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simple index of quality </a:t>
            </a:r>
            <a:endParaRPr sz="3500"/>
          </a:p>
        </p:txBody>
      </p:sp>
      <p:sp>
        <p:nvSpPr>
          <p:cNvPr id="169" name="Google Shape;169;p18"/>
          <p:cNvSpPr txBox="1"/>
          <p:nvPr/>
        </p:nvSpPr>
        <p:spPr>
          <a:xfrm>
            <a:off x="267925" y="1356963"/>
            <a:ext cx="3129900" cy="29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Useful for international students because it allows them to:</a:t>
            </a:r>
            <a:endParaRPr b="1"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"/>
              <a:buChar char="➔"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Finding which combinations are budget-friendly and which are better suited for students with higher financial flexibility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"/>
              <a:buChar char="➔"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Making data-driven decisions by matching budget, property types and neighborhoods preferences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99405" y="150675"/>
            <a:ext cx="52995" cy="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7825" y="1414925"/>
            <a:ext cx="5437474" cy="24463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6823" y="3918600"/>
            <a:ext cx="797750" cy="32197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" name="Google Shape;174;p18"/>
          <p:cNvSpPr/>
          <p:nvPr/>
        </p:nvSpPr>
        <p:spPr>
          <a:xfrm>
            <a:off x="5850363" y="3947350"/>
            <a:ext cx="675000" cy="9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5583150" y="3836188"/>
            <a:ext cx="1325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Avg Price</a:t>
            </a:r>
            <a:endParaRPr sz="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idx="1" type="body"/>
          </p:nvPr>
        </p:nvSpPr>
        <p:spPr>
          <a:xfrm>
            <a:off x="258225" y="1158875"/>
            <a:ext cx="4142700" cy="32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c</a:t>
            </a:r>
            <a:r>
              <a:rPr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horopleth</a:t>
            </a:r>
            <a:r>
              <a:rPr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map shows a general overview of the </a:t>
            </a:r>
            <a:r>
              <a:rPr b="1"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Average </a:t>
            </a:r>
            <a:r>
              <a:rPr b="1"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Simple Value Index</a:t>
            </a:r>
            <a:r>
              <a:rPr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for each neighborhood (NIL) within Municipality 9</a:t>
            </a:r>
            <a:endParaRPr sz="48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2E648E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4800">
              <a:solidFill>
                <a:srgbClr val="2E648E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Simple</a:t>
            </a:r>
            <a:r>
              <a:rPr b="1" lang="en" sz="4800">
                <a:solidFill>
                  <a:srgbClr val="0B5394"/>
                </a:solidFill>
                <a:latin typeface="Nunito"/>
                <a:ea typeface="Nunito"/>
                <a:cs typeface="Nunito"/>
                <a:sym typeface="Nunito"/>
              </a:rPr>
              <a:t> Value Index = Review score value / Price</a:t>
            </a:r>
            <a:endParaRPr b="1" sz="4800">
              <a:solidFill>
                <a:srgbClr val="0B5394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48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➔"/>
            </a:pPr>
            <a:r>
              <a:rPr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color intensity reflects the </a:t>
            </a:r>
            <a:r>
              <a:rPr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Average Simple Value Index </a:t>
            </a:r>
            <a:r>
              <a:rPr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for each NIL					</a:t>
            </a:r>
            <a:endParaRPr sz="48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➔"/>
            </a:pPr>
            <a:r>
              <a:rPr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Areas like </a:t>
            </a:r>
            <a:r>
              <a:rPr b="1"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Dergano, Bovisa, or Affori</a:t>
            </a:r>
            <a:r>
              <a:rPr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may offer better deals overall compared to others like Garibaldi or Farini, which are typically more expensive</a:t>
            </a:r>
            <a:endParaRPr sz="48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"/>
              <a:buChar char="➔"/>
            </a:pPr>
            <a:r>
              <a:rPr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4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imple approach, it offers a quick and intuitive way to highlight NIL’s that combine quality and affordability</a:t>
            </a:r>
            <a:endParaRPr sz="48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/>
              <a:t>   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 txBox="1"/>
          <p:nvPr>
            <p:ph type="title"/>
          </p:nvPr>
        </p:nvSpPr>
        <p:spPr>
          <a:xfrm>
            <a:off x="344125" y="303075"/>
            <a:ext cx="8303400" cy="9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Simple value </a:t>
            </a:r>
            <a:r>
              <a:rPr b="1" lang="en" sz="2600"/>
              <a:t>index</a:t>
            </a:r>
            <a:r>
              <a:rPr b="1" lang="en" sz="2900">
                <a:solidFill>
                  <a:srgbClr val="BF9000"/>
                </a:solidFill>
              </a:rPr>
              <a:t> </a:t>
            </a:r>
            <a:endParaRPr sz="3800"/>
          </a:p>
        </p:txBody>
      </p:sp>
      <p:sp>
        <p:nvSpPr>
          <p:cNvPr id="182" name="Google Shape;182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" name="Google Shape;1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113" y="727175"/>
            <a:ext cx="3756925" cy="3664742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2125" y="727175"/>
            <a:ext cx="3756923" cy="14125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2475" y="3998475"/>
            <a:ext cx="1478175" cy="288275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6" name="Google Shape;186;p19"/>
          <p:cNvSpPr/>
          <p:nvPr/>
        </p:nvSpPr>
        <p:spPr>
          <a:xfrm>
            <a:off x="7044850" y="3998475"/>
            <a:ext cx="810000" cy="1113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7161250" y="3935900"/>
            <a:ext cx="16926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Avg Simple Value Index</a:t>
            </a:r>
            <a:endParaRPr b="1" sz="7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>
            <p:ph idx="1" type="body"/>
          </p:nvPr>
        </p:nvSpPr>
        <p:spPr>
          <a:xfrm>
            <a:off x="352500" y="965450"/>
            <a:ext cx="3442500" cy="38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point map shows individual listings, where </a:t>
            </a:r>
            <a:r>
              <a:rPr b="1"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darker blue circles indicate higher quality with a low price</a:t>
            </a:r>
            <a:r>
              <a:rPr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making them ideal choices for students on a budget</a:t>
            </a:r>
            <a:endParaRPr sz="11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For listing-level analysis, we excluded low-rated listings (review &lt; 4.0) to avoid misleading results and focus only on </a:t>
            </a:r>
            <a:r>
              <a:rPr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acceptable</a:t>
            </a:r>
            <a:r>
              <a:rPr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quality options</a:t>
            </a:r>
            <a:endParaRPr sz="11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Student’s benefits of this visualization:</a:t>
            </a:r>
            <a:endParaRPr sz="11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➔"/>
            </a:pPr>
            <a:r>
              <a:rPr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They can easily spot specific high-value listings near the Bovisa area</a:t>
            </a:r>
            <a:endParaRPr sz="11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➔"/>
            </a:pPr>
            <a:r>
              <a:rPr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It enables more granular, listing-level decision-making instead of general neighborhood trends</a:t>
            </a:r>
            <a:endParaRPr sz="11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(*)Only listings priced between €20 and €100 per night (a realistic range for students) are shown </a:t>
            </a:r>
            <a:endParaRPr sz="11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0000" y="4108300"/>
            <a:ext cx="987150" cy="40195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4" name="Google Shape;194;p20"/>
          <p:cNvSpPr txBox="1"/>
          <p:nvPr>
            <p:ph type="title"/>
          </p:nvPr>
        </p:nvSpPr>
        <p:spPr>
          <a:xfrm>
            <a:off x="344125" y="303075"/>
            <a:ext cx="8303400" cy="6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Simple</a:t>
            </a:r>
            <a:r>
              <a:rPr b="1" lang="en" sz="2600"/>
              <a:t> value index: filtered</a:t>
            </a:r>
            <a:endParaRPr sz="3500"/>
          </a:p>
        </p:txBody>
      </p:sp>
      <p:sp>
        <p:nvSpPr>
          <p:cNvPr id="195" name="Google Shape;195;p20"/>
          <p:cNvSpPr/>
          <p:nvPr/>
        </p:nvSpPr>
        <p:spPr>
          <a:xfrm>
            <a:off x="7867500" y="4140000"/>
            <a:ext cx="690000" cy="97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7783800" y="405030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Avg Simple Value Index</a:t>
            </a:r>
            <a:endParaRPr sz="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7" name="Google Shape;197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6175" y="965475"/>
            <a:ext cx="4780975" cy="29750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type="title"/>
          </p:nvPr>
        </p:nvSpPr>
        <p:spPr>
          <a:xfrm>
            <a:off x="285000" y="398025"/>
            <a:ext cx="42225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630"/>
              <a:t>Best NIL Selection</a:t>
            </a:r>
            <a:endParaRPr b="1" sz="263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630"/>
              <a:t>Based On</a:t>
            </a:r>
            <a:endParaRPr b="1" sz="263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630"/>
              <a:t>Host Quality Index</a:t>
            </a:r>
            <a:r>
              <a:rPr lang="en" sz="3030"/>
              <a:t> </a:t>
            </a:r>
            <a:endParaRPr sz="3030"/>
          </a:p>
        </p:txBody>
      </p:sp>
      <p:sp>
        <p:nvSpPr>
          <p:cNvPr id="204" name="Google Shape;204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285000" y="1710175"/>
            <a:ext cx="40722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Host Quality Index (Overall Average)</a:t>
            </a:r>
            <a:br>
              <a:rPr b="1" lang="en" sz="1100">
                <a:latin typeface="Nunito"/>
                <a:ea typeface="Nunito"/>
                <a:cs typeface="Nunito"/>
                <a:sym typeface="Nunito"/>
              </a:rPr>
            </a:br>
            <a:r>
              <a:rPr lang="en" sz="1100">
                <a:latin typeface="Nunito"/>
                <a:ea typeface="Nunito"/>
                <a:cs typeface="Nunito"/>
                <a:sym typeface="Nunito"/>
              </a:rPr>
              <a:t>This index represents an average of four review scores related to the host, rated from 1 to 5, reflecting different aspects of the guest experience: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latin typeface="Nunito"/>
                <a:ea typeface="Nunito"/>
                <a:cs typeface="Nunito"/>
                <a:sym typeface="Nunito"/>
              </a:rPr>
            </a:br>
            <a:r>
              <a:rPr lang="en" sz="1100">
                <a:latin typeface="Nunito"/>
                <a:ea typeface="Nunito"/>
                <a:cs typeface="Nunito"/>
                <a:sym typeface="Nunito"/>
              </a:rPr>
              <a:t> •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Communication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– clarity and responsiveness of the host</a:t>
            </a:r>
            <a:br>
              <a:rPr lang="en" sz="1100">
                <a:latin typeface="Nunito"/>
                <a:ea typeface="Nunito"/>
                <a:cs typeface="Nunito"/>
                <a:sym typeface="Nunito"/>
              </a:rPr>
            </a:br>
            <a:r>
              <a:rPr lang="en" sz="1100">
                <a:latin typeface="Nunito"/>
                <a:ea typeface="Nunito"/>
                <a:cs typeface="Nunito"/>
                <a:sym typeface="Nunito"/>
              </a:rPr>
              <a:t> •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Accuracy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– match between the listing and reality</a:t>
            </a:r>
            <a:br>
              <a:rPr lang="en" sz="1100">
                <a:latin typeface="Nunito"/>
                <a:ea typeface="Nunito"/>
                <a:cs typeface="Nunito"/>
                <a:sym typeface="Nunito"/>
              </a:rPr>
            </a:br>
            <a:r>
              <a:rPr lang="en" sz="1100">
                <a:latin typeface="Nunito"/>
                <a:ea typeface="Nunito"/>
                <a:cs typeface="Nunito"/>
                <a:sym typeface="Nunito"/>
              </a:rPr>
              <a:t> •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Cleanliness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– hygiene of the accommodation</a:t>
            </a:r>
            <a:br>
              <a:rPr lang="en" sz="1100">
                <a:latin typeface="Nunito"/>
                <a:ea typeface="Nunito"/>
                <a:cs typeface="Nunito"/>
                <a:sym typeface="Nunito"/>
              </a:rPr>
            </a:br>
            <a:r>
              <a:rPr lang="en" sz="1100">
                <a:latin typeface="Nunito"/>
                <a:ea typeface="Nunito"/>
                <a:cs typeface="Nunito"/>
                <a:sym typeface="Nunito"/>
              </a:rPr>
              <a:t> •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Check-in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– ease and timeliness of the arrival process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(*) Only hosts with a minimum score of 4.5 are considered for the  Host quality index Visualization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1025" y="520600"/>
            <a:ext cx="4254749" cy="4100526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2575" y="2883625"/>
            <a:ext cx="266400" cy="1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000" y="3106225"/>
            <a:ext cx="266400" cy="1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9600" y="3283825"/>
            <a:ext cx="266400" cy="1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7250" y="3509475"/>
            <a:ext cx="266400" cy="17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8623" y="651250"/>
            <a:ext cx="5691124" cy="4188399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6" name="Google Shape;216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22"/>
          <p:cNvSpPr txBox="1"/>
          <p:nvPr>
            <p:ph type="title"/>
          </p:nvPr>
        </p:nvSpPr>
        <p:spPr>
          <a:xfrm>
            <a:off x="322500" y="195525"/>
            <a:ext cx="8925000" cy="8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788"/>
              <a:buFont typeface="Arial"/>
              <a:buNone/>
            </a:pPr>
            <a:r>
              <a:rPr b="1" lang="en" sz="2930"/>
              <a:t>Connectivity to Politecnico di Milano - Bovisa Campus</a:t>
            </a:r>
            <a:endParaRPr sz="2930"/>
          </a:p>
        </p:txBody>
      </p:sp>
      <p:sp>
        <p:nvSpPr>
          <p:cNvPr id="218" name="Google Shape;218;p22"/>
          <p:cNvSpPr txBox="1"/>
          <p:nvPr/>
        </p:nvSpPr>
        <p:spPr>
          <a:xfrm>
            <a:off x="322500" y="862225"/>
            <a:ext cx="2527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/>
              <a:t>Python function </a:t>
            </a:r>
            <a:r>
              <a:rPr lang="en" sz="1200"/>
              <a:t>connected to </a:t>
            </a:r>
            <a:r>
              <a:rPr b="1" lang="en" sz="1200"/>
              <a:t>Google Maps API </a:t>
            </a:r>
            <a:r>
              <a:rPr lang="en" sz="1200"/>
              <a:t>that computes for each AirBnB the </a:t>
            </a:r>
            <a:r>
              <a:rPr b="1" lang="en" sz="1200"/>
              <a:t>time taken to get to Polimi Bovisa</a:t>
            </a:r>
            <a:br>
              <a:rPr b="1" lang="en" sz="1200"/>
            </a:br>
            <a:endParaRPr b="1" sz="1200"/>
          </a:p>
        </p:txBody>
      </p:sp>
      <p:sp>
        <p:nvSpPr>
          <p:cNvPr id="219" name="Google Shape;219;p22"/>
          <p:cNvSpPr/>
          <p:nvPr/>
        </p:nvSpPr>
        <p:spPr>
          <a:xfrm>
            <a:off x="493225" y="2346725"/>
            <a:ext cx="2126100" cy="1074900"/>
          </a:xfrm>
          <a:prstGeom prst="wedgeRectCallout">
            <a:avLst>
              <a:gd fmla="val 155396" name="adj1"/>
              <a:gd fmla="val -1823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Behaving as expected,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the closer to campus, the faster you get there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" name="Google Shape;220;p22"/>
          <p:cNvGrpSpPr/>
          <p:nvPr/>
        </p:nvGrpSpPr>
        <p:grpSpPr>
          <a:xfrm>
            <a:off x="205125" y="825550"/>
            <a:ext cx="6924924" cy="3944400"/>
            <a:chOff x="205125" y="825550"/>
            <a:chExt cx="6924924" cy="3944400"/>
          </a:xfrm>
        </p:grpSpPr>
        <p:sp>
          <p:nvSpPr>
            <p:cNvPr id="221" name="Google Shape;221;p22"/>
            <p:cNvSpPr/>
            <p:nvPr/>
          </p:nvSpPr>
          <p:spPr>
            <a:xfrm rot="4247205">
              <a:off x="4132032" y="2335984"/>
              <a:ext cx="3855235" cy="923533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22"/>
            <p:cNvSpPr/>
            <p:nvPr/>
          </p:nvSpPr>
          <p:spPr>
            <a:xfrm>
              <a:off x="493225" y="3609425"/>
              <a:ext cx="2126100" cy="1074900"/>
            </a:xfrm>
            <a:prstGeom prst="wedgeRectCallout">
              <a:avLst>
                <a:gd fmla="val 213619" name="adj1"/>
                <a:gd fmla="val 11224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Calibri"/>
                  <a:ea typeface="Calibri"/>
                  <a:cs typeface="Calibri"/>
                  <a:sym typeface="Calibri"/>
                </a:rPr>
                <a:t>Along the train track, </a:t>
              </a: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the time is significantly reduced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3" name="Google Shape;22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05125" y="3421625"/>
              <a:ext cx="548700" cy="548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4" name="Google Shape;22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7675" y="707975"/>
            <a:ext cx="1383779" cy="10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246300" y="171825"/>
            <a:ext cx="8925000" cy="8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930"/>
              <a:t>Connectivity to Duomo di Milano (City Center)</a:t>
            </a:r>
            <a:endParaRPr sz="2930"/>
          </a:p>
        </p:txBody>
      </p:sp>
      <p:sp>
        <p:nvSpPr>
          <p:cNvPr id="231" name="Google Shape;231;p23"/>
          <p:cNvSpPr txBox="1"/>
          <p:nvPr/>
        </p:nvSpPr>
        <p:spPr>
          <a:xfrm>
            <a:off x="391225" y="951200"/>
            <a:ext cx="2482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/>
              <a:t>Python function </a:t>
            </a:r>
            <a:r>
              <a:rPr lang="en" sz="1200"/>
              <a:t>connected to </a:t>
            </a:r>
            <a:r>
              <a:rPr b="1" lang="en" sz="1200"/>
              <a:t>Google Maps API </a:t>
            </a:r>
            <a:r>
              <a:rPr lang="en" sz="1200"/>
              <a:t>that computes for each AirBnB the </a:t>
            </a:r>
            <a:r>
              <a:rPr b="1" lang="en" sz="1200"/>
              <a:t>time taken to get to Duomo</a:t>
            </a:r>
            <a:br>
              <a:rPr b="1" lang="en" sz="1200"/>
            </a:br>
            <a:endParaRPr b="1" sz="1200"/>
          </a:p>
        </p:txBody>
      </p:sp>
      <p:pic>
        <p:nvPicPr>
          <p:cNvPr id="232" name="Google Shape;2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5400" y="758400"/>
            <a:ext cx="5078250" cy="40897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3" name="Google Shape;233;p23"/>
          <p:cNvSpPr/>
          <p:nvPr/>
        </p:nvSpPr>
        <p:spPr>
          <a:xfrm>
            <a:off x="493225" y="2346725"/>
            <a:ext cx="2126100" cy="1074900"/>
          </a:xfrm>
          <a:prstGeom prst="wedgeRectCallout">
            <a:avLst>
              <a:gd fmla="val 167443" name="adj1"/>
              <a:gd fmla="val -12743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You can live 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almost up to Comasina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and still be 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17 minutes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from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 Duomo…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493225" y="3598250"/>
            <a:ext cx="2126100" cy="1074900"/>
          </a:xfrm>
          <a:prstGeom prst="wedgeRectCallout">
            <a:avLst>
              <a:gd fmla="val 201070" name="adj1"/>
              <a:gd fmla="val -3141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Taking the same time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as living in 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Garibaldi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, or even less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8350" y="804026"/>
            <a:ext cx="1230425" cy="9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/>
          <p:nvPr>
            <p:ph type="title"/>
          </p:nvPr>
        </p:nvSpPr>
        <p:spPr>
          <a:xfrm>
            <a:off x="421650" y="350600"/>
            <a:ext cx="7626000" cy="7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Hypothetical</a:t>
            </a:r>
            <a:r>
              <a:rPr b="1" lang="en"/>
              <a:t> situation:</a:t>
            </a:r>
            <a:endParaRPr b="1"/>
          </a:p>
        </p:txBody>
      </p:sp>
      <p:sp>
        <p:nvSpPr>
          <p:cNvPr id="241" name="Google Shape;241;p24"/>
          <p:cNvSpPr txBox="1"/>
          <p:nvPr>
            <p:ph idx="1" type="body"/>
          </p:nvPr>
        </p:nvSpPr>
        <p:spPr>
          <a:xfrm>
            <a:off x="465450" y="1031175"/>
            <a:ext cx="47310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Felipe, from Uruguay and future student of Master BADS 2026, asks us for help finding a place for 30 to 90 days, he needs: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Nunito"/>
              <a:buChar char="★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Entire Place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★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Suitable for one person (0-1 bedrooms &amp; 1-2 bathrooms)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★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Willing to pay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between 20 to 60 euros per night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★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Really care about the Host Quality (Index +4)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★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Lives in a neighbour at most 20 minutes away from Polimi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2" name="Google Shape;2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000" y="2846175"/>
            <a:ext cx="2147700" cy="1918625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3" name="Google Shape;24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075" y="750075"/>
            <a:ext cx="3208674" cy="372880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345000" y="285000"/>
            <a:ext cx="8362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🔍 </a:t>
            </a:r>
            <a:r>
              <a:rPr b="1" lang="en" sz="2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Key Conclusions</a:t>
            </a:r>
            <a:r>
              <a:rPr b="1" lang="en"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5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Municipality 9 Airbnb Insights for International Students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510000" y="1185000"/>
            <a:ext cx="82350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Life Quality Index visualizations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(considering price, distance, availability, review score, amenities) provided a broader picture of student experience in different zones, beyond price alone → </a:t>
            </a:r>
            <a:r>
              <a:rPr lang="en" sz="1100">
                <a:highlight>
                  <a:srgbClr val="FFF2CC"/>
                </a:highlight>
                <a:latin typeface="Nunito"/>
                <a:ea typeface="Nunito"/>
                <a:cs typeface="Nunito"/>
                <a:sym typeface="Nunito"/>
              </a:rPr>
              <a:t>Bovisasca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appears as top 1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				</a:t>
            </a:r>
            <a:endParaRPr b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Simple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Quality Index (Review Score / Price)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revealed optimal value-for-money places, highlighting spots where students can find well-rated listings without overpaying → </a:t>
            </a:r>
            <a:r>
              <a:rPr lang="en" sz="1100">
                <a:highlight>
                  <a:srgbClr val="FFF2CC"/>
                </a:highlight>
                <a:latin typeface="Nunito"/>
                <a:ea typeface="Nunito"/>
                <a:cs typeface="Nunito"/>
                <a:sym typeface="Nunito"/>
              </a:rPr>
              <a:t>Dergano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stands out in this dimension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					</a:t>
            </a:r>
            <a:endParaRPr b="1"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Host Quality visualization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allowed us to identify neighborhoods with consistently high host ratings, helping students choose listings with reliable service and communication → </a:t>
            </a:r>
            <a:r>
              <a:rPr lang="en" sz="1100">
                <a:highlight>
                  <a:srgbClr val="FFF2CC"/>
                </a:highlight>
                <a:latin typeface="Nunito"/>
                <a:ea typeface="Nunito"/>
                <a:cs typeface="Nunito"/>
                <a:sym typeface="Nunito"/>
              </a:rPr>
              <a:t>Comasina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as the top 1 in this Index</a:t>
            </a:r>
            <a:br>
              <a:rPr lang="en" sz="1100">
                <a:latin typeface="Nunito"/>
                <a:ea typeface="Nunito"/>
                <a:cs typeface="Nunito"/>
                <a:sym typeface="Nunito"/>
              </a:rPr>
            </a:br>
            <a:r>
              <a:rPr lang="en" sz="1100">
                <a:latin typeface="Nunito"/>
                <a:ea typeface="Nunito"/>
                <a:cs typeface="Nunito"/>
                <a:sym typeface="Nunito"/>
              </a:rPr>
              <a:t>													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Distance-based locations,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closer to a train station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in this NIL,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imply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 less travel time to Bovisa</a:t>
            </a:r>
            <a:br>
              <a:rPr lang="en" sz="1100">
                <a:latin typeface="Nunito"/>
                <a:ea typeface="Nunito"/>
                <a:cs typeface="Nunito"/>
                <a:sym typeface="Nunito"/>
              </a:rPr>
            </a:br>
            <a:endParaRPr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With all of the index above, we can make specific recommendations of places align with the needs and </a:t>
            </a:r>
            <a:r>
              <a:rPr b="1" lang="en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requirements</a:t>
            </a:r>
            <a:r>
              <a:rPr b="1" lang="en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of the different </a:t>
            </a:r>
            <a:r>
              <a:rPr b="1" lang="en" sz="1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international students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"/>
          <p:cNvSpPr txBox="1"/>
          <p:nvPr>
            <p:ph type="title"/>
          </p:nvPr>
        </p:nvSpPr>
        <p:spPr>
          <a:xfrm>
            <a:off x="789150" y="635600"/>
            <a:ext cx="51585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100"/>
              <a:t>Thank you!</a:t>
            </a:r>
            <a:endParaRPr sz="7100"/>
          </a:p>
        </p:txBody>
      </p:sp>
      <p:pic>
        <p:nvPicPr>
          <p:cNvPr id="257" name="Google Shape;2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2499" y="3429327"/>
            <a:ext cx="2038175" cy="103105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6"/>
          <p:cNvSpPr txBox="1"/>
          <p:nvPr/>
        </p:nvSpPr>
        <p:spPr>
          <a:xfrm>
            <a:off x="3267900" y="1647600"/>
            <a:ext cx="51585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And if you need help for a place in Municipality 9, do not hesitate to contact us </a:t>
            </a:r>
            <a:r>
              <a:rPr lang="en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😉</a:t>
            </a:r>
            <a:endParaRPr sz="1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