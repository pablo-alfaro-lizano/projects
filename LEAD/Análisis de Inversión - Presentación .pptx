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Nunito"/>
      <p:regular r:id="rId30"/>
      <p:bold r:id="rId31"/>
      <p:italic r:id="rId32"/>
      <p:boldItalic r:id="rId33"/>
    </p:embeddedFont>
    <p:embeddedFont>
      <p:font typeface="Maven Pro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6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5.xml"/><Relationship Id="rId32" Type="http://schemas.openxmlformats.org/officeDocument/2006/relationships/font" Target="fonts/Nunito-italic.fntdata"/><Relationship Id="rId13" Type="http://schemas.openxmlformats.org/officeDocument/2006/relationships/slide" Target="slides/slide8.xml"/><Relationship Id="rId35" Type="http://schemas.openxmlformats.org/officeDocument/2006/relationships/font" Target="fonts/MavenPro-bold.fntdata"/><Relationship Id="rId12" Type="http://schemas.openxmlformats.org/officeDocument/2006/relationships/slide" Target="slides/slide7.xml"/><Relationship Id="rId34" Type="http://schemas.openxmlformats.org/officeDocument/2006/relationships/font" Target="fonts/MavenPro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a951de9fb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a951de9fb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a951de9fb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a951de9fb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a951de9fb8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a951de9fb8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a951de9fb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a951de9fb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a951de9fb8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a951de9fb8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a951de9fb8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a951de9fb8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a951de9fb8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a951de9fb8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a951de9fb8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a951de9fb8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a951de9fb8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a951de9fb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a951de9fb8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a951de9fb8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a951de9fb8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a951de9fb8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7f803045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7f803045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a951de9fb8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a951de9fb8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a973cbfca0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a973cbfca0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a973cbfca0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a973cbfca0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a951de9fb8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a951de9fb8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a951de9fb8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a951de9fb8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a951de9fb8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a951de9fb8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a951de9fb8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a951de9fb8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a951de9fb8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a951de9fb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a951de9fb8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a951de9fb8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a951de9fb8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a951de9fb8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a98f4906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a98f4906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title"/>
          </p:nvPr>
        </p:nvSpPr>
        <p:spPr>
          <a:xfrm>
            <a:off x="456000" y="2057400"/>
            <a:ext cx="8688000" cy="11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Idea de inversión</a:t>
            </a:r>
            <a:endParaRPr sz="6500"/>
          </a:p>
        </p:txBody>
      </p:sp>
      <p:sp>
        <p:nvSpPr>
          <p:cNvPr id="278" name="Google Shape;278;p13"/>
          <p:cNvSpPr txBox="1"/>
          <p:nvPr>
            <p:ph idx="1" type="body"/>
          </p:nvPr>
        </p:nvSpPr>
        <p:spPr>
          <a:xfrm>
            <a:off x="1388550" y="3226650"/>
            <a:ext cx="63669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Análisis de Inversión</a:t>
            </a:r>
            <a:br>
              <a:rPr lang="en" sz="1400"/>
            </a:br>
            <a:r>
              <a:rPr lang="en" sz="1400"/>
              <a:t>Ignacio González, David López, Joseph Lee, Pablo Alfaro &amp; Felipe Labarca</a:t>
            </a:r>
            <a:endParaRPr sz="1400"/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862" y="214827"/>
            <a:ext cx="2790276" cy="17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2152650" y="429825"/>
            <a:ext cx="4686300" cy="8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Tabla de Contenidos</a:t>
            </a:r>
            <a:endParaRPr/>
          </a:p>
        </p:txBody>
      </p:sp>
      <p:sp>
        <p:nvSpPr>
          <p:cNvPr id="285" name="Google Shape;285;p14"/>
          <p:cNvSpPr txBox="1"/>
          <p:nvPr>
            <p:ph type="title"/>
          </p:nvPr>
        </p:nvSpPr>
        <p:spPr>
          <a:xfrm>
            <a:off x="2184750" y="1446000"/>
            <a:ext cx="4164900" cy="8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-43434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Sobre la empresa</a:t>
            </a:r>
            <a:endParaRPr/>
          </a:p>
        </p:txBody>
      </p:sp>
      <p:sp>
        <p:nvSpPr>
          <p:cNvPr id="286" name="Google Shape;286;p14"/>
          <p:cNvSpPr txBox="1"/>
          <p:nvPr>
            <p:ph type="title"/>
          </p:nvPr>
        </p:nvSpPr>
        <p:spPr>
          <a:xfrm>
            <a:off x="2087700" y="2121850"/>
            <a:ext cx="4768200" cy="8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2. Análisis del mercado</a:t>
            </a:r>
            <a:endParaRPr sz="3200"/>
          </a:p>
        </p:txBody>
      </p:sp>
      <p:sp>
        <p:nvSpPr>
          <p:cNvPr id="287" name="Google Shape;287;p14"/>
          <p:cNvSpPr txBox="1"/>
          <p:nvPr>
            <p:ph type="title"/>
          </p:nvPr>
        </p:nvSpPr>
        <p:spPr>
          <a:xfrm>
            <a:off x="2087700" y="2821350"/>
            <a:ext cx="6147600" cy="80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3. Proyecciones y valoraciones</a:t>
            </a:r>
            <a:endParaRPr sz="3200"/>
          </a:p>
        </p:txBody>
      </p:sp>
      <p:sp>
        <p:nvSpPr>
          <p:cNvPr id="288" name="Google Shape;288;p14"/>
          <p:cNvSpPr txBox="1"/>
          <p:nvPr>
            <p:ph type="title"/>
          </p:nvPr>
        </p:nvSpPr>
        <p:spPr>
          <a:xfrm>
            <a:off x="2087700" y="3624150"/>
            <a:ext cx="6147600" cy="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4. Conclusiones finales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641350" lvl="0" marL="457200" rtl="0" algn="l">
              <a:spcBef>
                <a:spcPts val="0"/>
              </a:spcBef>
              <a:spcAft>
                <a:spcPts val="0"/>
              </a:spcAft>
              <a:buSzPts val="6500"/>
              <a:buAutoNum type="arabicPeriod"/>
            </a:pPr>
            <a:r>
              <a:rPr lang="en" sz="6500"/>
              <a:t>SOBRE LA EMPRESA</a:t>
            </a:r>
            <a:endParaRPr sz="6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idx="1" type="subTitle"/>
          </p:nvPr>
        </p:nvSpPr>
        <p:spPr>
          <a:xfrm>
            <a:off x="824000" y="1396925"/>
            <a:ext cx="7752900" cy="3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Fundada en 1958 en Fresno, California, Estados Unidos como BankAmericard y luego en 1976 se convierte en Visa.</a:t>
            </a:r>
            <a:endParaRPr/>
          </a:p>
          <a:p>
            <a:pPr indent="-32258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Oficinas Centrales: San Francisco, California.</a:t>
            </a:r>
            <a:endParaRPr/>
          </a:p>
          <a:p>
            <a:pPr indent="-32258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Visa es la marca líder en el </a:t>
            </a:r>
            <a:r>
              <a:rPr lang="en"/>
              <a:t>mundo </a:t>
            </a:r>
            <a:r>
              <a:rPr lang="en"/>
              <a:t>de pagos </a:t>
            </a:r>
            <a:r>
              <a:rPr lang="en"/>
              <a:t>tecnológicos con más de 255B de transacciones de pago y ubicada en más de 80M de puntos de venta en el mundo</a:t>
            </a:r>
            <a:r>
              <a:rPr lang="en"/>
              <a:t>. </a:t>
            </a:r>
            <a:endParaRPr/>
          </a:p>
          <a:p>
            <a:pPr indent="-32258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 solicitan más de 2.5 </a:t>
            </a:r>
            <a:r>
              <a:rPr lang="en"/>
              <a:t>millones de tarjetas</a:t>
            </a:r>
            <a:r>
              <a:rPr lang="en"/>
              <a:t> de crédito por año </a:t>
            </a:r>
            <a:r>
              <a:rPr lang="en"/>
              <a:t>convirtiéndose</a:t>
            </a:r>
            <a:r>
              <a:rPr lang="en"/>
              <a:t> en </a:t>
            </a:r>
            <a:r>
              <a:rPr lang="en"/>
              <a:t>la marca de tarjetas más solicitada</a:t>
            </a:r>
            <a:r>
              <a:rPr lang="en"/>
              <a:t>. </a:t>
            </a:r>
            <a:endParaRPr/>
          </a:p>
          <a:p>
            <a:pPr indent="-32258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Es el mayor propietario de la red de pagos minoristas.</a:t>
            </a:r>
            <a:endParaRPr/>
          </a:p>
          <a:p>
            <a:pPr indent="-32258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Visa es el intermediario que permite a distintos bancos </a:t>
            </a:r>
            <a:r>
              <a:rPr lang="en"/>
              <a:t>emitir</a:t>
            </a:r>
            <a:r>
              <a:rPr lang="en"/>
              <a:t> tarjetas de crédito como de débito para los clientes y también facilita a los comercios los pagos entre bancos u otros comerciantes. </a:t>
            </a:r>
            <a:endParaRPr/>
          </a:p>
          <a:p>
            <a:pPr indent="-322580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n"/>
              <a:t>La </a:t>
            </a:r>
            <a:r>
              <a:rPr lang="en"/>
              <a:t>compañía</a:t>
            </a:r>
            <a:r>
              <a:rPr lang="en"/>
              <a:t> conecta negocios, consumidores y entidades financieras en 200 países del mundo.</a:t>
            </a:r>
            <a:endParaRPr/>
          </a:p>
        </p:txBody>
      </p:sp>
      <p:sp>
        <p:nvSpPr>
          <p:cNvPr id="299" name="Google Shape;299;p16"/>
          <p:cNvSpPr txBox="1"/>
          <p:nvPr>
            <p:ph type="ctrTitle"/>
          </p:nvPr>
        </p:nvSpPr>
        <p:spPr>
          <a:xfrm>
            <a:off x="824000" y="73575"/>
            <a:ext cx="7394400" cy="14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Sobre la empresa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ctrTitle"/>
          </p:nvPr>
        </p:nvSpPr>
        <p:spPr>
          <a:xfrm>
            <a:off x="824000" y="232925"/>
            <a:ext cx="1650600" cy="11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Misión</a:t>
            </a:r>
            <a:endParaRPr/>
          </a:p>
        </p:txBody>
      </p:sp>
      <p:sp>
        <p:nvSpPr>
          <p:cNvPr id="305" name="Google Shape;305;p17"/>
          <p:cNvSpPr txBox="1"/>
          <p:nvPr>
            <p:ph idx="1" type="subTitle"/>
          </p:nvPr>
        </p:nvSpPr>
        <p:spPr>
          <a:xfrm>
            <a:off x="775475" y="951050"/>
            <a:ext cx="4075800" cy="22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8EAED"/>
              </a:solidFill>
              <a:highlight>
                <a:srgbClr val="303134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Eliminar obstáculos y conectar a más personas a la economía mundial</a:t>
            </a:r>
            <a:br>
              <a:rPr lang="en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Permitir que los consumidores, las empresas, los bancos y los gobiernos utilicen la moneda digital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824000" y="3034675"/>
            <a:ext cx="179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Visión</a:t>
            </a:r>
            <a:endParaRPr/>
          </a:p>
        </p:txBody>
      </p:sp>
      <p:sp>
        <p:nvSpPr>
          <p:cNvPr id="307" name="Google Shape;307;p17"/>
          <p:cNvSpPr txBox="1"/>
          <p:nvPr>
            <p:ph idx="1" type="subTitle"/>
          </p:nvPr>
        </p:nvSpPr>
        <p:spPr>
          <a:xfrm>
            <a:off x="824000" y="3532625"/>
            <a:ext cx="4075800" cy="11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Ser la mejor forma de pagar y ser pagados, para todo el mundo, en todas partes. Cada transacción de Visa es una promesa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ctrTitle"/>
          </p:nvPr>
        </p:nvSpPr>
        <p:spPr>
          <a:xfrm>
            <a:off x="436700" y="174700"/>
            <a:ext cx="5085300" cy="98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de Negocio</a:t>
            </a:r>
            <a:endParaRPr/>
          </a:p>
        </p:txBody>
      </p:sp>
      <p:sp>
        <p:nvSpPr>
          <p:cNvPr id="313" name="Google Shape;313;p18"/>
          <p:cNvSpPr txBox="1"/>
          <p:nvPr>
            <p:ph idx="1" type="subTitle"/>
          </p:nvPr>
        </p:nvSpPr>
        <p:spPr>
          <a:xfrm>
            <a:off x="388175" y="977225"/>
            <a:ext cx="7802700" cy="3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Infraestructura VisaNet -&gt; facilita el comercio global en más de 200 países </a:t>
            </a:r>
            <a:br>
              <a:rPr lang="en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Intermediario que transfiere información y dinero entre consumidores, negocios, instituciones financieras, etc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Genera ingresos por el volumen de pagos realizados con sus productos y por el número de transacciones procesadas en su red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Transacción → 5 partes: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875" y="3684875"/>
            <a:ext cx="1527950" cy="13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7175" y="3684875"/>
            <a:ext cx="1660618" cy="13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1150" y="3684875"/>
            <a:ext cx="1819800" cy="13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4300" y="3684875"/>
            <a:ext cx="1713775" cy="13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50" y="208650"/>
            <a:ext cx="8398252" cy="4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/>
          <p:nvPr>
            <p:ph type="ctrTitle"/>
          </p:nvPr>
        </p:nvSpPr>
        <p:spPr>
          <a:xfrm>
            <a:off x="186675" y="0"/>
            <a:ext cx="4580400" cy="98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Áreas de Negocio</a:t>
            </a:r>
            <a:endParaRPr/>
          </a:p>
        </p:txBody>
      </p:sp>
      <p:sp>
        <p:nvSpPr>
          <p:cNvPr id="328" name="Google Shape;328;p20"/>
          <p:cNvSpPr txBox="1"/>
          <p:nvPr>
            <p:ph idx="1" type="subTitle"/>
          </p:nvPr>
        </p:nvSpPr>
        <p:spPr>
          <a:xfrm>
            <a:off x="250950" y="1196425"/>
            <a:ext cx="8642100" cy="3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23077"/>
              <a:buChar char="●"/>
            </a:pPr>
            <a:r>
              <a:rPr b="1" lang="en"/>
              <a:t>Visa Direct: </a:t>
            </a:r>
            <a:r>
              <a:rPr lang="en"/>
              <a:t>servicio que facilita la transferencia de fondos entre clientes o entidades financieras. También transacciones transfronterizas.</a:t>
            </a:r>
            <a:endParaRPr sz="1300">
              <a:solidFill>
                <a:srgbClr val="5C5C5C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Soluciones Cripto:</a:t>
            </a:r>
            <a:r>
              <a:rPr lang="en"/>
              <a:t> </a:t>
            </a:r>
            <a:r>
              <a:rPr lang="en"/>
              <a:t>asesoría</a:t>
            </a:r>
            <a:r>
              <a:rPr lang="en"/>
              <a:t> y acceso a NFTs, </a:t>
            </a:r>
            <a:r>
              <a:rPr lang="en"/>
              <a:t>asesoría</a:t>
            </a:r>
            <a:r>
              <a:rPr lang="en"/>
              <a:t> para </a:t>
            </a:r>
            <a:r>
              <a:rPr lang="en"/>
              <a:t>movimiento</a:t>
            </a:r>
            <a:r>
              <a:rPr lang="en"/>
              <a:t> en ‘stablecoins’, accesibilidad a criptomonedas, tarjetas crypto, </a:t>
            </a:r>
            <a:r>
              <a:rPr lang="en"/>
              <a:t>asesoría</a:t>
            </a:r>
            <a:r>
              <a:rPr lang="en"/>
              <a:t> de inversión en cripto.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Visa Consulting + Analytics:</a:t>
            </a:r>
            <a:r>
              <a:rPr lang="en"/>
              <a:t> servicios de </a:t>
            </a:r>
            <a:r>
              <a:rPr lang="en"/>
              <a:t>consultoría </a:t>
            </a:r>
            <a:r>
              <a:rPr lang="en"/>
              <a:t>en base a </a:t>
            </a:r>
            <a:r>
              <a:rPr lang="en"/>
              <a:t>análisis</a:t>
            </a:r>
            <a:r>
              <a:rPr lang="en"/>
              <a:t> efectivos para guiar al cliente.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23077"/>
              <a:buChar char="●"/>
            </a:pPr>
            <a:r>
              <a:rPr b="1" lang="en"/>
              <a:t>Analytics Platform: </a:t>
            </a:r>
            <a:r>
              <a:rPr lang="en"/>
              <a:t>servicio de ayuda para analizar el rendimiento del tarjetahabiente, del comercio y de la transacción.</a:t>
            </a:r>
            <a:endParaRPr sz="1300">
              <a:solidFill>
                <a:srgbClr val="5C5C5C"/>
              </a:solidFill>
              <a:highlight>
                <a:srgbClr val="EEEEEE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3D Secure:</a:t>
            </a:r>
            <a:r>
              <a:rPr lang="en"/>
              <a:t> servicio que permite el intercambio de datos entre el comercio, el emisor de la tarjeta cuando sea necesario así como la </a:t>
            </a:r>
            <a:r>
              <a:rPr lang="en"/>
              <a:t>validación</a:t>
            </a:r>
            <a:r>
              <a:rPr lang="en"/>
              <a:t> de </a:t>
            </a:r>
            <a:r>
              <a:rPr lang="en"/>
              <a:t>transacciones</a:t>
            </a:r>
            <a:r>
              <a:rPr lang="en"/>
              <a:t> para validar la </a:t>
            </a:r>
            <a:r>
              <a:rPr lang="en"/>
              <a:t>legitimidad</a:t>
            </a:r>
            <a:r>
              <a:rPr lang="en"/>
              <a:t> los propietarios.  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Prevención de fraude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Soluciones para empresas + gobiernos: tarjetas corporativas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Tarjetas de crédito + débito para pequeñas empresa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n"/>
              <a:t>Visa Payment Controls: control de gastos</a:t>
            </a:r>
            <a:endParaRPr/>
          </a:p>
        </p:txBody>
      </p:sp>
      <p:pic>
        <p:nvPicPr>
          <p:cNvPr id="329" name="Google Shape;329;p20"/>
          <p:cNvPicPr preferRelativeResize="0"/>
          <p:nvPr/>
        </p:nvPicPr>
        <p:blipFill rotWithShape="1">
          <a:blip r:embed="rId3">
            <a:alphaModFix/>
          </a:blip>
          <a:srcRect b="0" l="24646" r="21507" t="0"/>
          <a:stretch/>
        </p:blipFill>
        <p:spPr>
          <a:xfrm>
            <a:off x="5355950" y="67075"/>
            <a:ext cx="3472726" cy="11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 txBox="1"/>
          <p:nvPr>
            <p:ph type="ctrTitle"/>
          </p:nvPr>
        </p:nvSpPr>
        <p:spPr>
          <a:xfrm>
            <a:off x="753100" y="0"/>
            <a:ext cx="5989500" cy="98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Generación de ingresos</a:t>
            </a:r>
            <a:endParaRPr/>
          </a:p>
        </p:txBody>
      </p:sp>
      <p:sp>
        <p:nvSpPr>
          <p:cNvPr id="335" name="Google Shape;335;p21"/>
          <p:cNvSpPr txBox="1"/>
          <p:nvPr>
            <p:ph idx="1" type="subTitle"/>
          </p:nvPr>
        </p:nvSpPr>
        <p:spPr>
          <a:xfrm>
            <a:off x="421500" y="1106975"/>
            <a:ext cx="7260300" cy="38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/>
              <a:t>Ingreso por Servicios:</a:t>
            </a:r>
            <a:r>
              <a:rPr lang="en"/>
              <a:t> al otorgar el servicio de tarjetas visa  a </a:t>
            </a:r>
            <a:r>
              <a:rPr lang="en"/>
              <a:t>instituciones</a:t>
            </a:r>
            <a:r>
              <a:rPr lang="en"/>
              <a:t> financieras, variando en el tamaño de la cantidad de pagos utilizados.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u="sng"/>
              <a:t>Procesador de datos</a:t>
            </a:r>
            <a:r>
              <a:rPr lang="en"/>
              <a:t>: basado en el volumen de transacciones procesadas, autorización de pagos, acceso a la red, mantenimiento y soporte a la infraestructura de procesamiento de información.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u="sng"/>
              <a:t>Transacciones internacionales</a:t>
            </a:r>
            <a:r>
              <a:rPr lang="en"/>
              <a:t>: procesando </a:t>
            </a:r>
            <a:r>
              <a:rPr lang="en"/>
              <a:t>transacciones</a:t>
            </a:r>
            <a:r>
              <a:rPr lang="en"/>
              <a:t> transfronterizas, también el cobro de comisiones por </a:t>
            </a:r>
            <a:r>
              <a:rPr lang="en"/>
              <a:t>conversión</a:t>
            </a:r>
            <a:r>
              <a:rPr lang="en"/>
              <a:t> de monedas. 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u="sng"/>
              <a:t>Incentivos de clientes</a:t>
            </a:r>
            <a:r>
              <a:rPr lang="en"/>
              <a:t>: contratos de largo plazo para clientes institucionales para incrementar el volumen de pagos.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u="sng"/>
              <a:t>Derechos de licencia</a:t>
            </a:r>
            <a:endParaRPr u="sng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u="sng"/>
              <a:t>Servicios de valor agregado</a:t>
            </a:r>
            <a:endParaRPr u="sng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u="sng"/>
              <a:t>Servicios adicionales para cuentas habientes</a:t>
            </a:r>
            <a:endParaRPr u="sn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/>
          <p:nvPr>
            <p:ph type="title"/>
          </p:nvPr>
        </p:nvSpPr>
        <p:spPr>
          <a:xfrm>
            <a:off x="824000" y="1613825"/>
            <a:ext cx="69690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2. ANÁLISIS DEL MERCADO</a:t>
            </a:r>
            <a:endParaRPr sz="6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"/>
          <p:cNvSpPr txBox="1"/>
          <p:nvPr>
            <p:ph type="ctrTitle"/>
          </p:nvPr>
        </p:nvSpPr>
        <p:spPr>
          <a:xfrm>
            <a:off x="775475" y="381322"/>
            <a:ext cx="4255500" cy="141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Industrias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796300" y="1641375"/>
            <a:ext cx="5980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Servicios financieros.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Tarjetas: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Credito.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Debito.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Prepago.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Contactless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Servicios </a:t>
            </a: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Electrónicos</a:t>
            </a: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Plataformas digitales de pago.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Soporte de plataformas financieras.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Servicios de crypto. 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 txBox="1"/>
          <p:nvPr>
            <p:ph type="ctrTitle"/>
          </p:nvPr>
        </p:nvSpPr>
        <p:spPr>
          <a:xfrm>
            <a:off x="775475" y="381325"/>
            <a:ext cx="5603100" cy="141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Principales Competidores</a:t>
            </a:r>
            <a:endParaRPr/>
          </a:p>
        </p:txBody>
      </p:sp>
      <p:pic>
        <p:nvPicPr>
          <p:cNvPr id="352" name="Google Shape;3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8650" y="1889100"/>
            <a:ext cx="1757501" cy="13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111" y="3364700"/>
            <a:ext cx="2729252" cy="153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563" y="1648538"/>
            <a:ext cx="2770324" cy="1846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0755" y="3485688"/>
            <a:ext cx="2262720" cy="14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60902" y="1864661"/>
            <a:ext cx="2512578" cy="14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30025" y="3486137"/>
            <a:ext cx="2512575" cy="1413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50" y="2681450"/>
            <a:ext cx="2223950" cy="230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150" y="203150"/>
            <a:ext cx="2246990" cy="230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2545" y="2692137"/>
            <a:ext cx="2247000" cy="228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2562" y="537463"/>
            <a:ext cx="3472526" cy="40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62550" y="203150"/>
            <a:ext cx="2247000" cy="2312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 txBox="1"/>
          <p:nvPr>
            <p:ph type="ctrTitle"/>
          </p:nvPr>
        </p:nvSpPr>
        <p:spPr>
          <a:xfrm>
            <a:off x="384125" y="45900"/>
            <a:ext cx="8069100" cy="141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 competidores</a:t>
            </a:r>
            <a:endParaRPr/>
          </a:p>
        </p:txBody>
      </p:sp>
      <p:sp>
        <p:nvSpPr>
          <p:cNvPr id="372" name="Google Shape;372;p26"/>
          <p:cNvSpPr txBox="1"/>
          <p:nvPr>
            <p:ph idx="1" type="subTitle"/>
          </p:nvPr>
        </p:nvSpPr>
        <p:spPr>
          <a:xfrm>
            <a:off x="537500" y="1323600"/>
            <a:ext cx="4255500" cy="24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Master card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American express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275" y="2141975"/>
            <a:ext cx="6883450" cy="26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625" y="923925"/>
            <a:ext cx="7524750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 txBox="1"/>
          <p:nvPr>
            <p:ph idx="1" type="subTitle"/>
          </p:nvPr>
        </p:nvSpPr>
        <p:spPr>
          <a:xfrm>
            <a:off x="564775" y="744875"/>
            <a:ext cx="45378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Centrados en USA: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VISA = 45%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MASTERCARD: 30%</a:t>
            </a:r>
            <a:endParaRPr/>
          </a:p>
        </p:txBody>
      </p:sp>
      <p:pic>
        <p:nvPicPr>
          <p:cNvPr id="384" name="Google Shape;3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704050"/>
            <a:ext cx="8991599" cy="1735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/>
          <p:nvPr>
            <p:ph type="title"/>
          </p:nvPr>
        </p:nvSpPr>
        <p:spPr>
          <a:xfrm>
            <a:off x="824000" y="1613825"/>
            <a:ext cx="7822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3. PROYECCIÓN Y VALORACIONES</a:t>
            </a:r>
            <a:endParaRPr sz="6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"/>
          <p:cNvSpPr txBox="1"/>
          <p:nvPr>
            <p:ph type="ctrTitle"/>
          </p:nvPr>
        </p:nvSpPr>
        <p:spPr>
          <a:xfrm>
            <a:off x="766550" y="-3"/>
            <a:ext cx="4255500" cy="141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Proyeccione</a:t>
            </a:r>
            <a:r>
              <a:rPr lang="en"/>
              <a:t>s</a:t>
            </a:r>
            <a:endParaRPr/>
          </a:p>
        </p:txBody>
      </p:sp>
      <p:sp>
        <p:nvSpPr>
          <p:cNvPr id="395" name="Google Shape;395;p30"/>
          <p:cNvSpPr txBox="1"/>
          <p:nvPr>
            <p:ph idx="1" type="subTitle"/>
          </p:nvPr>
        </p:nvSpPr>
        <p:spPr>
          <a:xfrm>
            <a:off x="824000" y="1009575"/>
            <a:ext cx="4140600" cy="3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5 años: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Ventas: $72.932.659,2  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Costo de ventas: $14.265.538,56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Ingreso neto antes de impuestos: $41.371.698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Ingreso neto: $29.171.485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Gastos de operaciones: $9.694.407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Otros gastos: $7.600.576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Ingreso operativo (WBITDA): $48.972.183,33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/>
              <a:t>Ganancias brutas: $58.666.659.59</a:t>
            </a:r>
            <a:endParaRPr/>
          </a:p>
        </p:txBody>
      </p:sp>
      <p:pic>
        <p:nvPicPr>
          <p:cNvPr id="396" name="Google Shape;3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6950" y="103563"/>
            <a:ext cx="4255500" cy="4936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3725" y="0"/>
            <a:ext cx="3554898" cy="51435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48665"/>
            <a:ext cx="9144000" cy="4046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3" name="Google Shape;41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0985"/>
            <a:ext cx="9144001" cy="4101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4"/>
          <p:cNvSpPr txBox="1"/>
          <p:nvPr>
            <p:ph type="title"/>
          </p:nvPr>
        </p:nvSpPr>
        <p:spPr>
          <a:xfrm>
            <a:off x="824000" y="1613825"/>
            <a:ext cx="7822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4. CONCLUSIONES</a:t>
            </a:r>
            <a:endParaRPr sz="6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5"/>
          <p:cNvSpPr txBox="1"/>
          <p:nvPr>
            <p:ph type="ctrTitle"/>
          </p:nvPr>
        </p:nvSpPr>
        <p:spPr>
          <a:xfrm>
            <a:off x="775475" y="381325"/>
            <a:ext cx="5367600" cy="141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 </a:t>
            </a:r>
            <a:endParaRPr/>
          </a:p>
        </p:txBody>
      </p:sp>
      <p:sp>
        <p:nvSpPr>
          <p:cNvPr id="424" name="Google Shape;424;p35"/>
          <p:cNvSpPr txBox="1"/>
          <p:nvPr>
            <p:ph idx="1" type="subTitle"/>
          </p:nvPr>
        </p:nvSpPr>
        <p:spPr>
          <a:xfrm>
            <a:off x="775475" y="1397700"/>
            <a:ext cx="7599600" cy="3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 </a:t>
            </a:r>
            <a:r>
              <a:rPr lang="en"/>
              <a:t>tecnología</a:t>
            </a:r>
            <a:r>
              <a:rPr lang="en"/>
              <a:t> avanza exponencialmente.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 transición a lo digital cada vez es mayor. El dinero se mueve cada vez más de manera digital, se disminuye el uso del efectivo. Crecimiento de comercio </a:t>
            </a:r>
            <a:r>
              <a:rPr lang="en"/>
              <a:t>electrónico</a:t>
            </a:r>
            <a:r>
              <a:rPr lang="en"/>
              <a:t>.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Network effect(</a:t>
            </a:r>
            <a:r>
              <a:rPr lang="en"/>
              <a:t>Entre mayor tamaño mayor crecimiento) provoca menor costo al procesar transacciones y crea un mayor margen.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</a:t>
            </a:r>
            <a:r>
              <a:rPr lang="en"/>
              <a:t>lta ventaja competitiva(wide moat) ante competidores así como una a</a:t>
            </a:r>
            <a:r>
              <a:rPr lang="en"/>
              <a:t>lta barrera de entrada al poseer la infraestructura más grande de red en la industria..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Apoyo de las criptomonedas o monedas digitales.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</a:t>
            </a:r>
            <a:r>
              <a:rPr lang="en"/>
              <a:t>ntidades</a:t>
            </a:r>
            <a:r>
              <a:rPr lang="en"/>
              <a:t> </a:t>
            </a:r>
            <a:r>
              <a:rPr lang="en"/>
              <a:t>segura</a:t>
            </a:r>
            <a:r>
              <a:rPr lang="en"/>
              <a:t>(que previene fraude) y cuida la información.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Incorporación de servicios fintech.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Posee y protege bases de datos </a:t>
            </a:r>
            <a:r>
              <a:rPr lang="en"/>
              <a:t>importantísimas</a:t>
            </a:r>
            <a:r>
              <a:rPr lang="en"/>
              <a:t>(patrones de consumo, información de los clientes, actitudes de consumo, movimientos de los mercados, movimiento del dinero).</a:t>
            </a:r>
            <a:endParaRPr/>
          </a:p>
          <a:p>
            <a:pPr indent="-314960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n"/>
              <a:t>De acuerdo a los servicios promueve la </a:t>
            </a:r>
            <a:r>
              <a:rPr lang="en"/>
              <a:t>economía</a:t>
            </a:r>
            <a:r>
              <a:rPr lang="en"/>
              <a:t> y el comercio mundial.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"/>
          <p:cNvSpPr txBox="1"/>
          <p:nvPr>
            <p:ph type="ctrTitle"/>
          </p:nvPr>
        </p:nvSpPr>
        <p:spPr>
          <a:xfrm>
            <a:off x="824000" y="512220"/>
            <a:ext cx="4255500" cy="11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final</a:t>
            </a:r>
            <a:endParaRPr/>
          </a:p>
        </p:txBody>
      </p:sp>
      <p:sp>
        <p:nvSpPr>
          <p:cNvPr id="430" name="Google Shape;430;p36"/>
          <p:cNvSpPr txBox="1"/>
          <p:nvPr>
            <p:ph idx="1" type="subTitle"/>
          </p:nvPr>
        </p:nvSpPr>
        <p:spPr>
          <a:xfrm>
            <a:off x="824000" y="1506500"/>
            <a:ext cx="58746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Frecuente </a:t>
            </a:r>
            <a:r>
              <a:rPr lang="en"/>
              <a:t>actualización</a:t>
            </a:r>
            <a:r>
              <a:rPr lang="en"/>
              <a:t> de repertorio.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Adaptación</a:t>
            </a:r>
            <a:r>
              <a:rPr lang="en"/>
              <a:t> constante.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Valorada por </a:t>
            </a:r>
            <a:r>
              <a:rPr lang="en"/>
              <a:t>clientes.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Confianza.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Líder en su mercado.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1" name="Google Shape;4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838" y="3009418"/>
            <a:ext cx="3600324" cy="18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