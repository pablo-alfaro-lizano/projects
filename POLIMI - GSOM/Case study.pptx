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y="5143500" cx="9144000"/>
  <p:notesSz cx="6858000" cy="9144000"/>
  <p:embeddedFontLst>
    <p:embeddedFont>
      <p:font typeface="Roboto"/>
      <p:regular r:id="rId22"/>
      <p:bold r:id="rId23"/>
      <p:italic r:id="rId24"/>
      <p:boldItalic r:id="rId25"/>
    </p:embeddedFont>
    <p:embeddedFont>
      <p:font typeface="Roboto Mono"/>
      <p:regular r:id="rId26"/>
      <p:bold r:id="rId27"/>
      <p:italic r:id="rId28"/>
      <p:boldItalic r:id="rId2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31997670-9CFD-42E9-A878-423AD1B3E741}">
  <a:tblStyle styleId="{31997670-9CFD-42E9-A878-423AD1B3E741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font" Target="fonts/Roboto-regular.fntdata"/><Relationship Id="rId21" Type="http://schemas.openxmlformats.org/officeDocument/2006/relationships/slide" Target="slides/slide15.xml"/><Relationship Id="rId24" Type="http://schemas.openxmlformats.org/officeDocument/2006/relationships/font" Target="fonts/Roboto-italic.fntdata"/><Relationship Id="rId23" Type="http://schemas.openxmlformats.org/officeDocument/2006/relationships/font" Target="fonts/Roboto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RobotoMono-regular.fntdata"/><Relationship Id="rId25" Type="http://schemas.openxmlformats.org/officeDocument/2006/relationships/font" Target="fonts/Roboto-boldItalic.fntdata"/><Relationship Id="rId28" Type="http://schemas.openxmlformats.org/officeDocument/2006/relationships/font" Target="fonts/RobotoMono-italic.fntdata"/><Relationship Id="rId27" Type="http://schemas.openxmlformats.org/officeDocument/2006/relationships/font" Target="fonts/RobotoMono-bold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RobotoMono-boldItalic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c6f9e470d_0_0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c6f9e470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c6f9e470d_0_24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c6f9e470d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c6f9e470d_0_5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c6f9e470d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c6f9e470d_0_37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c6f9e470d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5fe7de9932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g35fe7de9932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5fe7de9932_0_5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35fe7de9932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5fe7de9932_2_54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" name="Google Shape;131;g35fe7de9932_2_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c6f9e470d_0_43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Google Shape;137;gc6f9e470d_0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5fe7de9932_2_7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g35fe7de9932_2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6006d80574_0_1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" name="Google Shape;149;g36006d80574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6006d80574_0_10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" name="Google Shape;156;g36006d80574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35ff298d2bc_0_15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" name="Google Shape;163;g35ff298d2bc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36006d80574_0_36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" name="Google Shape;170;g36006d80574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35fe7de9932_2_69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" name="Google Shape;177;g35fe7de9932_2_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36006d80574_0_45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4" name="Google Shape;184;g36006d80574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11" name="Google Shape;11;p2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" name="Google Shape;12;p2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" name="Google Shape;16;p2"/>
          <p:cNvSpPr txBox="1"/>
          <p:nvPr>
            <p:ph type="ctrTitle"/>
          </p:nvPr>
        </p:nvSpPr>
        <p:spPr>
          <a:xfrm>
            <a:off x="598100" y="1775222"/>
            <a:ext cx="8222100" cy="838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598088" y="2715913"/>
            <a:ext cx="8222100" cy="4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8" name="Google Shape;18;p2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oogle Shape;20;p3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21" name="Google Shape;21;p3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" name="Google Shape;22;p3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6" name="Google Shape;26;p3"/>
          <p:cNvSpPr txBox="1"/>
          <p:nvPr>
            <p:ph type="title"/>
          </p:nvPr>
        </p:nvSpPr>
        <p:spPr>
          <a:xfrm>
            <a:off x="598100" y="2152347"/>
            <a:ext cx="8222100" cy="83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7" name="Google Shape;27;p3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oogle Shape;29;p4"/>
          <p:cNvGrpSpPr/>
          <p:nvPr/>
        </p:nvGrpSpPr>
        <p:grpSpPr>
          <a:xfrm>
            <a:off x="0" y="3903669"/>
            <a:ext cx="9144000" cy="1239925"/>
            <a:chOff x="0" y="3903669"/>
            <a:chExt cx="9144000" cy="1239925"/>
          </a:xfrm>
        </p:grpSpPr>
        <p:sp>
          <p:nvSpPr>
            <p:cNvPr id="30" name="Google Shape;30;p4"/>
            <p:cNvSpPr/>
            <p:nvPr/>
          </p:nvSpPr>
          <p:spPr>
            <a:xfrm>
              <a:off x="8154895" y="3903669"/>
              <a:ext cx="989100" cy="9879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4"/>
            <p:cNvSpPr/>
            <p:nvPr/>
          </p:nvSpPr>
          <p:spPr>
            <a:xfrm flipH="1">
              <a:off x="6181163" y="3903669"/>
              <a:ext cx="989100" cy="9879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4"/>
            <p:cNvSpPr/>
            <p:nvPr/>
          </p:nvSpPr>
          <p:spPr>
            <a:xfrm>
              <a:off x="7170274" y="3903669"/>
              <a:ext cx="989100" cy="9879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4"/>
            <p:cNvSpPr/>
            <p:nvPr/>
          </p:nvSpPr>
          <p:spPr>
            <a:xfrm rot="10800000">
              <a:off x="8154757" y="3903682"/>
              <a:ext cx="989100" cy="987900"/>
            </a:xfrm>
            <a:prstGeom prst="rtTriangl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" name="Google Shape;34;p4"/>
            <p:cNvSpPr/>
            <p:nvPr/>
          </p:nvSpPr>
          <p:spPr>
            <a:xfrm>
              <a:off x="0" y="4891594"/>
              <a:ext cx="9144000" cy="2520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5" name="Google Shape;35;p4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6" name="Google Shape;36;p4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7" name="Google Shape;37;p4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5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0" name="Google Shape;40;p5"/>
          <p:cNvSpPr txBox="1"/>
          <p:nvPr>
            <p:ph idx="1" type="body"/>
          </p:nvPr>
        </p:nvSpPr>
        <p:spPr>
          <a:xfrm>
            <a:off x="311700" y="1229975"/>
            <a:ext cx="39999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1" name="Google Shape;41;p5"/>
          <p:cNvSpPr txBox="1"/>
          <p:nvPr>
            <p:ph idx="2" type="body"/>
          </p:nvPr>
        </p:nvSpPr>
        <p:spPr>
          <a:xfrm>
            <a:off x="4832400" y="1229975"/>
            <a:ext cx="39999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2" name="Google Shape;42;p5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6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5" name="Google Shape;45;p6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8" name="Google Shape;48;p7"/>
          <p:cNvSpPr txBox="1"/>
          <p:nvPr>
            <p:ph idx="1" type="body"/>
          </p:nvPr>
        </p:nvSpPr>
        <p:spPr>
          <a:xfrm>
            <a:off x="311700" y="1465804"/>
            <a:ext cx="2808000" cy="310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9" name="Google Shape;49;p7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4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" name="Google Shape;51;p8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52" name="Google Shape;52;p8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" name="Google Shape;53;p8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" name="Google Shape;54;p8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" name="Google Shape;55;p8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" name="Google Shape;56;p8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7" name="Google Shape;57;p8"/>
          <p:cNvSpPr txBox="1"/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8" name="Google Shape;58;p8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9"/>
          <p:cNvSpPr/>
          <p:nvPr/>
        </p:nvSpPr>
        <p:spPr>
          <a:xfrm>
            <a:off x="4572000" y="-17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61" name="Google Shape;61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9"/>
          <p:cNvSpPr txBox="1"/>
          <p:nvPr>
            <p:ph type="title"/>
          </p:nvPr>
        </p:nvSpPr>
        <p:spPr>
          <a:xfrm>
            <a:off x="265500" y="1151100"/>
            <a:ext cx="4045200" cy="1564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63" name="Google Shape;63;p9"/>
          <p:cNvSpPr txBox="1"/>
          <p:nvPr>
            <p:ph idx="1" type="subTitle"/>
          </p:nvPr>
        </p:nvSpPr>
        <p:spPr>
          <a:xfrm>
            <a:off x="265500" y="2769001"/>
            <a:ext cx="4045200" cy="126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64" name="Google Shape;64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5" name="Google Shape;65;p9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0"/>
          <p:cNvSpPr txBox="1"/>
          <p:nvPr>
            <p:ph idx="1" type="body"/>
          </p:nvPr>
        </p:nvSpPr>
        <p:spPr>
          <a:xfrm>
            <a:off x="319500" y="423057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68" name="Google Shape;68;p10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oogle Shape;70;p11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71" name="Google Shape;71;p11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p11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" name="Google Shape;73;p11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11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" name="Google Shape;75;p11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6" name="Google Shape;76;p11"/>
          <p:cNvSpPr txBox="1"/>
          <p:nvPr>
            <p:ph hasCustomPrompt="1" type="title"/>
          </p:nvPr>
        </p:nvSpPr>
        <p:spPr>
          <a:xfrm>
            <a:off x="311700" y="1256050"/>
            <a:ext cx="8520600" cy="2030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7" name="Google Shape;77;p11"/>
          <p:cNvSpPr txBox="1"/>
          <p:nvPr>
            <p:ph idx="1" type="body"/>
          </p:nvPr>
        </p:nvSpPr>
        <p:spPr>
          <a:xfrm>
            <a:off x="311700" y="3369225"/>
            <a:ext cx="8520600" cy="128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8" name="Google Shape;78;p11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2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geometric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●"/>
              <a:defRPr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3"/>
          <p:cNvSpPr txBox="1"/>
          <p:nvPr>
            <p:ph type="ctrTitle"/>
          </p:nvPr>
        </p:nvSpPr>
        <p:spPr>
          <a:xfrm>
            <a:off x="598100" y="1775222"/>
            <a:ext cx="8222100" cy="838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Semantics Project Group 3</a:t>
            </a:r>
            <a:endParaRPr/>
          </a:p>
        </p:txBody>
      </p:sp>
      <p:sp>
        <p:nvSpPr>
          <p:cNvPr id="86" name="Google Shape;86;p13"/>
          <p:cNvSpPr txBox="1"/>
          <p:nvPr>
            <p:ph idx="1" type="subTitle"/>
          </p:nvPr>
        </p:nvSpPr>
        <p:spPr>
          <a:xfrm>
            <a:off x="598088" y="2715913"/>
            <a:ext cx="8222100" cy="4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David Carrascosa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Albert Baito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Pablo Alfaro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Camilo Mercado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Andrea Bellini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4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Steps</a:t>
            </a:r>
            <a:endParaRPr/>
          </a:p>
        </p:txBody>
      </p:sp>
      <p:sp>
        <p:nvSpPr>
          <p:cNvPr id="92" name="Google Shape;92;p14"/>
          <p:cNvSpPr/>
          <p:nvPr/>
        </p:nvSpPr>
        <p:spPr>
          <a:xfrm>
            <a:off x="813350" y="1304875"/>
            <a:ext cx="2469300" cy="607800"/>
          </a:xfrm>
          <a:prstGeom prst="homePlate">
            <a:avLst>
              <a:gd fmla="val 50000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121875" lIns="121875" spcFirstLastPara="1" rIns="121875" wrap="square" tIns="121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14"/>
          <p:cNvSpPr txBox="1"/>
          <p:nvPr>
            <p:ph idx="4294967295" type="body"/>
          </p:nvPr>
        </p:nvSpPr>
        <p:spPr>
          <a:xfrm>
            <a:off x="1499150" y="1451576"/>
            <a:ext cx="2257200" cy="314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Step 1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94" name="Google Shape;94;p14"/>
          <p:cNvSpPr txBox="1"/>
          <p:nvPr>
            <p:ph idx="4294967295" type="body"/>
          </p:nvPr>
        </p:nvSpPr>
        <p:spPr>
          <a:xfrm>
            <a:off x="813350" y="2222975"/>
            <a:ext cx="17670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800"/>
              </a:spcAft>
              <a:buNone/>
            </a:pPr>
            <a:r>
              <a:rPr b="1" lang="en" sz="1600"/>
              <a:t>Choose Recipe</a:t>
            </a:r>
            <a:r>
              <a:rPr lang="en" sz="1600"/>
              <a:t> </a:t>
            </a:r>
            <a:endParaRPr sz="1600"/>
          </a:p>
        </p:txBody>
      </p:sp>
      <p:sp>
        <p:nvSpPr>
          <p:cNvPr id="95" name="Google Shape;95;p14"/>
          <p:cNvSpPr/>
          <p:nvPr/>
        </p:nvSpPr>
        <p:spPr>
          <a:xfrm>
            <a:off x="3044777" y="1304875"/>
            <a:ext cx="2760600" cy="607800"/>
          </a:xfrm>
          <a:prstGeom prst="chevron">
            <a:avLst>
              <a:gd fmla="val 50000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121875" lIns="121875" spcFirstLastPara="1" rIns="121875" wrap="square" tIns="121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14"/>
          <p:cNvSpPr txBox="1"/>
          <p:nvPr>
            <p:ph idx="4294967295" type="body"/>
          </p:nvPr>
        </p:nvSpPr>
        <p:spPr>
          <a:xfrm>
            <a:off x="3932301" y="1451575"/>
            <a:ext cx="1119900" cy="314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Step</a:t>
            </a:r>
            <a:r>
              <a:rPr lang="en">
                <a:solidFill>
                  <a:schemeClr val="lt1"/>
                </a:solidFill>
              </a:rPr>
              <a:t> 2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97" name="Google Shape;97;p14"/>
          <p:cNvSpPr txBox="1"/>
          <p:nvPr>
            <p:ph idx="4294967295" type="body"/>
          </p:nvPr>
        </p:nvSpPr>
        <p:spPr>
          <a:xfrm>
            <a:off x="2920950" y="2222975"/>
            <a:ext cx="3087600" cy="843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800"/>
              </a:spcAft>
              <a:buNone/>
            </a:pPr>
            <a:r>
              <a:rPr b="1" lang="en" sz="1600"/>
              <a:t>Annotate Recipe RDFA HTML</a:t>
            </a:r>
            <a:endParaRPr b="1" sz="1600"/>
          </a:p>
        </p:txBody>
      </p:sp>
      <p:sp>
        <p:nvSpPr>
          <p:cNvPr id="98" name="Google Shape;98;p14"/>
          <p:cNvSpPr/>
          <p:nvPr/>
        </p:nvSpPr>
        <p:spPr>
          <a:xfrm>
            <a:off x="5567502" y="1304875"/>
            <a:ext cx="2760600" cy="607800"/>
          </a:xfrm>
          <a:prstGeom prst="chevron">
            <a:avLst>
              <a:gd fmla="val 50000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121875" lIns="121875" spcFirstLastPara="1" rIns="121875" wrap="square" tIns="121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14"/>
          <p:cNvSpPr txBox="1"/>
          <p:nvPr>
            <p:ph idx="4294967295" type="body"/>
          </p:nvPr>
        </p:nvSpPr>
        <p:spPr>
          <a:xfrm>
            <a:off x="6482833" y="1451576"/>
            <a:ext cx="2257200" cy="314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Step 3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00" name="Google Shape;100;p14"/>
          <p:cNvSpPr txBox="1"/>
          <p:nvPr>
            <p:ph idx="4294967295" type="body"/>
          </p:nvPr>
        </p:nvSpPr>
        <p:spPr>
          <a:xfrm>
            <a:off x="5927728" y="2233731"/>
            <a:ext cx="1767000" cy="59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800"/>
              </a:spcAft>
              <a:buNone/>
            </a:pPr>
            <a:r>
              <a:rPr b="1" lang="en" sz="1600"/>
              <a:t>Translate to TTL</a:t>
            </a:r>
            <a:endParaRPr sz="1600"/>
          </a:p>
        </p:txBody>
      </p:sp>
      <p:sp>
        <p:nvSpPr>
          <p:cNvPr id="101" name="Google Shape;101;p14"/>
          <p:cNvSpPr/>
          <p:nvPr/>
        </p:nvSpPr>
        <p:spPr>
          <a:xfrm>
            <a:off x="813350" y="3133675"/>
            <a:ext cx="7514700" cy="607800"/>
          </a:xfrm>
          <a:prstGeom prst="homePlate">
            <a:avLst>
              <a:gd fmla="val 50000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121875" lIns="121875" spcFirstLastPara="1" rIns="121875" wrap="square" tIns="121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14"/>
          <p:cNvSpPr txBox="1"/>
          <p:nvPr>
            <p:ph idx="4294967295" type="body"/>
          </p:nvPr>
        </p:nvSpPr>
        <p:spPr>
          <a:xfrm>
            <a:off x="3932301" y="3280375"/>
            <a:ext cx="1119900" cy="314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Step 4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03" name="Google Shape;103;p14"/>
          <p:cNvSpPr txBox="1"/>
          <p:nvPr>
            <p:ph idx="4294967295" type="body"/>
          </p:nvPr>
        </p:nvSpPr>
        <p:spPr>
          <a:xfrm>
            <a:off x="3606750" y="3823175"/>
            <a:ext cx="1604700" cy="843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800"/>
              </a:spcAft>
              <a:buNone/>
            </a:pPr>
            <a:r>
              <a:rPr b="1" lang="en" sz="1600"/>
              <a:t>Query Creation</a:t>
            </a:r>
            <a:endParaRPr b="1" sz="16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5"/>
          <p:cNvSpPr txBox="1"/>
          <p:nvPr>
            <p:ph type="title"/>
          </p:nvPr>
        </p:nvSpPr>
        <p:spPr>
          <a:xfrm>
            <a:off x="311700" y="486200"/>
            <a:ext cx="2633100" cy="149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Step 1: Recipe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/>
              <a:t>Spaghetti </a:t>
            </a:r>
            <a:r>
              <a:rPr b="1" i="1" lang="en"/>
              <a:t>Carbonara</a:t>
            </a:r>
            <a:endParaRPr b="1" i="1"/>
          </a:p>
        </p:txBody>
      </p:sp>
      <p:pic>
        <p:nvPicPr>
          <p:cNvPr id="109" name="Google Shape;109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44925" y="647075"/>
            <a:ext cx="6044452" cy="4028651"/>
          </a:xfrm>
          <a:prstGeom prst="rect">
            <a:avLst/>
          </a:prstGeom>
          <a:noFill/>
          <a:ln>
            <a:noFill/>
          </a:ln>
          <a:effectLst>
            <a:reflection blurRad="0" dir="5400000" dist="38100" endA="0" endPos="30000" fadeDir="5400012" kx="0" rotWithShape="0" algn="bl" stPos="0" sy="-100000" ky="0"/>
          </a:effec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6"/>
          <p:cNvSpPr txBox="1"/>
          <p:nvPr>
            <p:ph type="title"/>
          </p:nvPr>
        </p:nvSpPr>
        <p:spPr>
          <a:xfrm>
            <a:off x="265500" y="-120450"/>
            <a:ext cx="4045200" cy="1564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HTML Annotation</a:t>
            </a:r>
            <a:endParaRPr/>
          </a:p>
        </p:txBody>
      </p:sp>
      <p:sp>
        <p:nvSpPr>
          <p:cNvPr id="115" name="Google Shape;115;p16"/>
          <p:cNvSpPr txBox="1"/>
          <p:nvPr>
            <p:ph idx="1" type="subTitle"/>
          </p:nvPr>
        </p:nvSpPr>
        <p:spPr>
          <a:xfrm>
            <a:off x="-53975" y="1256875"/>
            <a:ext cx="4524000" cy="351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/>
              <a:t>Ingredients</a:t>
            </a:r>
            <a:r>
              <a:rPr lang="en" sz="1200"/>
              <a:t>:</a:t>
            </a:r>
            <a:endParaRPr sz="1200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-"/>
            </a:pPr>
            <a:r>
              <a:rPr lang="en" sz="1200"/>
              <a:t>200 g Spaghetti</a:t>
            </a:r>
            <a:endParaRPr sz="1200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-"/>
            </a:pPr>
            <a:r>
              <a:rPr lang="en" sz="1200"/>
              <a:t>100 g pancetta</a:t>
            </a:r>
            <a:endParaRPr sz="1200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-"/>
            </a:pPr>
            <a:r>
              <a:rPr lang="en" sz="1200"/>
              <a:t>2 large eggs</a:t>
            </a:r>
            <a:endParaRPr sz="1200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-"/>
            </a:pPr>
            <a:r>
              <a:rPr lang="en" sz="1200"/>
              <a:t>50 g pecorino cheese</a:t>
            </a:r>
            <a:endParaRPr sz="1200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-"/>
            </a:pPr>
            <a:r>
              <a:rPr lang="en" sz="1200"/>
              <a:t>Freshly</a:t>
            </a:r>
            <a:r>
              <a:rPr lang="en" sz="1200"/>
              <a:t> ground black pepper</a:t>
            </a:r>
            <a:endParaRPr sz="1200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-"/>
            </a:pPr>
            <a:r>
              <a:rPr lang="en" sz="1200"/>
              <a:t>Salt</a:t>
            </a:r>
            <a:endParaRPr sz="12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/>
              <a:t>Instructions</a:t>
            </a:r>
            <a:endParaRPr b="1" sz="1200"/>
          </a:p>
          <a:p>
            <a:pPr indent="-3048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-"/>
            </a:pPr>
            <a:r>
              <a:rPr lang="en" sz="1200"/>
              <a:t>Bring a large pot of salted water to a boil and cook spaghetti until al dente.</a:t>
            </a:r>
            <a:endParaRPr sz="1200"/>
          </a:p>
          <a:p>
            <a:pPr indent="-3048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-"/>
            </a:pPr>
            <a:r>
              <a:rPr lang="en" sz="1200"/>
              <a:t>In a bowl, beat eggs and mix in grated pecorino cheese.</a:t>
            </a:r>
            <a:endParaRPr sz="1200"/>
          </a:p>
          <a:p>
            <a:pPr indent="-3048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-"/>
            </a:pPr>
            <a:r>
              <a:rPr lang="en" sz="1200"/>
              <a:t>In a pan over medium heat, cook pancetta until crisp.</a:t>
            </a:r>
            <a:endParaRPr sz="1200"/>
          </a:p>
          <a:p>
            <a:pPr indent="-3048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-"/>
            </a:pPr>
            <a:r>
              <a:rPr lang="en" sz="1200"/>
              <a:t>Drain pasta (reserving some cooking water) and add it to the pan with pancetta.</a:t>
            </a:r>
            <a:endParaRPr sz="1200"/>
          </a:p>
          <a:p>
            <a:pPr indent="-3048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-"/>
            </a:pPr>
            <a:r>
              <a:rPr lang="en" sz="1200"/>
              <a:t>Remove pan from heat; pour egg–cheese mixture over pasta, stirring quickly to create a creamy sauce. If needed, add a tablespoon of pasta water.</a:t>
            </a:r>
            <a:endParaRPr sz="1200"/>
          </a:p>
          <a:p>
            <a:pPr indent="-3048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-"/>
            </a:pPr>
            <a:r>
              <a:rPr lang="en" sz="1200"/>
              <a:t>Season generously with freshly ground black pepper and serve immediately.</a:t>
            </a:r>
            <a:endParaRPr sz="1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16"/>
          <p:cNvSpPr txBox="1"/>
          <p:nvPr>
            <p:ph idx="2" type="body"/>
          </p:nvPr>
        </p:nvSpPr>
        <p:spPr>
          <a:xfrm>
            <a:off x="4916600" y="737725"/>
            <a:ext cx="3837000" cy="4285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 u="sng"/>
              <a:t>Description:</a:t>
            </a:r>
            <a:endParaRPr b="1" sz="1600" u="sng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600"/>
              <a:t>Author: </a:t>
            </a:r>
            <a:r>
              <a:rPr i="1" lang="en" sz="1600"/>
              <a:t>Emanuele</a:t>
            </a:r>
            <a:r>
              <a:rPr i="1" lang="en" sz="1600"/>
              <a:t> Rossi</a:t>
            </a:r>
            <a:endParaRPr i="1" sz="16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600"/>
              <a:t>Date Published: June 1, 2025</a:t>
            </a:r>
            <a:endParaRPr sz="16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600"/>
              <a:t>Description: "A classic Italian pasta dish made with eggs, cheese, pancetta, and pepper."</a:t>
            </a:r>
            <a:endParaRPr sz="16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600"/>
              <a:t>Key Words: "pasta, carbonara, Italian"</a:t>
            </a:r>
            <a:endParaRPr sz="16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600"/>
              <a:t>Prep Time: 10 minutes</a:t>
            </a:r>
            <a:endParaRPr sz="16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600"/>
              <a:t>Cook Time: 15 minutes</a:t>
            </a:r>
            <a:endParaRPr sz="16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600"/>
              <a:t>Nutrition: 550 calories</a:t>
            </a:r>
            <a:endParaRPr sz="16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600"/>
              <a:t>Rating: 4.8 / 5 (125 reviews)</a:t>
            </a:r>
            <a:endParaRPr sz="1600"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16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1" name="Google Shape;121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1" cy="5143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8"/>
          <p:cNvSpPr txBox="1"/>
          <p:nvPr>
            <p:ph type="title"/>
          </p:nvPr>
        </p:nvSpPr>
        <p:spPr>
          <a:xfrm>
            <a:off x="185425" y="246475"/>
            <a:ext cx="4045200" cy="907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RDF Conversion</a:t>
            </a:r>
            <a:endParaRPr/>
          </a:p>
        </p:txBody>
      </p:sp>
      <p:sp>
        <p:nvSpPr>
          <p:cNvPr id="127" name="Google Shape;127;p18"/>
          <p:cNvSpPr txBox="1"/>
          <p:nvPr/>
        </p:nvSpPr>
        <p:spPr>
          <a:xfrm>
            <a:off x="185425" y="2008700"/>
            <a:ext cx="4352100" cy="153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Using EasyRDF, we extracted structured data from an HTML page containing a recipe and transformed it into RDF Turtle format using the Schema.org vocabulary.</a:t>
            </a:r>
            <a:endParaRPr i="1"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aphicFrame>
        <p:nvGraphicFramePr>
          <p:cNvPr id="128" name="Google Shape;128;p18"/>
          <p:cNvGraphicFramePr/>
          <p:nvPr/>
        </p:nvGraphicFramePr>
        <p:xfrm>
          <a:off x="4572000" y="1524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{31997670-9CFD-42E9-A878-423AD1B3E741}</a:tableStyleId>
              </a:tblPr>
              <a:tblGrid>
                <a:gridCol w="2594775"/>
                <a:gridCol w="1977225"/>
              </a:tblGrid>
              <a:tr h="4833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 u="sng">
                          <a:solidFill>
                            <a:schemeClr val="lt1"/>
                          </a:solidFill>
                        </a:rPr>
                        <a:t>HTML (RDFa Embedded)</a:t>
                      </a:r>
                      <a:endParaRPr b="1" sz="1100" u="sng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 u="sng">
                          <a:solidFill>
                            <a:schemeClr val="lt1"/>
                          </a:solidFill>
                        </a:rPr>
                        <a:t>RDF Turtle Output</a:t>
                      </a:r>
                      <a:endParaRPr b="1" sz="1100" u="sng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902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93C47D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&lt;h1 property="name"&gt;Spaghetti Carbonara&lt;/h1&gt;</a:t>
                      </a:r>
                      <a:endParaRPr sz="1100">
                        <a:solidFill>
                          <a:srgbClr val="93C47D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93C47D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schema:name "Spaghetti Carbonara"@en ;</a:t>
                      </a:r>
                      <a:endParaRPr sz="1100">
                        <a:solidFill>
                          <a:srgbClr val="93C47D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/>
                </a:tc>
              </a:tr>
              <a:tr h="11246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93C47D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&lt;span property="author" typeof="Person"&gt;&lt;span property="name"&gt;Emanuele Rossi&lt;/span&gt;&lt;/span&gt;</a:t>
                      </a:r>
                      <a:endParaRPr sz="1100">
                        <a:solidFill>
                          <a:srgbClr val="93C47D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93C47D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schema:author [ a schema:Person ; schema:name "Emanuele Rossi"@en ] ;</a:t>
                      </a:r>
                      <a:endParaRPr sz="1100">
                        <a:solidFill>
                          <a:srgbClr val="93C47D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/>
                </a:tc>
              </a:tr>
              <a:tr h="11246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93C47D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&lt;time property="datePublished" content="2025-06-01"&gt;June 1, 2025&lt;/time&gt;</a:t>
                      </a:r>
                      <a:endParaRPr sz="1100">
                        <a:solidFill>
                          <a:srgbClr val="93C47D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93C47D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schema:datePublished "2025-06-01"^^xsd:date ;</a:t>
                      </a:r>
                      <a:endParaRPr sz="1100">
                        <a:solidFill>
                          <a:srgbClr val="93C47D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/>
                </a:tc>
              </a:tr>
              <a:tr h="902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93C47D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&lt;li property="recipeIngredient"&gt;200 g spaghetti&lt;/li&gt;</a:t>
                      </a:r>
                      <a:endParaRPr sz="1100">
                        <a:solidFill>
                          <a:srgbClr val="93C47D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93C47D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schema:recipeIngredient "200 g spaghetti"@en ;</a:t>
                      </a:r>
                      <a:endParaRPr sz="1100">
                        <a:solidFill>
                          <a:srgbClr val="93C47D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19"/>
          <p:cNvSpPr txBox="1"/>
          <p:nvPr>
            <p:ph type="title"/>
          </p:nvPr>
        </p:nvSpPr>
        <p:spPr>
          <a:xfrm>
            <a:off x="311700" y="486200"/>
            <a:ext cx="2633100" cy="149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Graph</a:t>
            </a:r>
            <a:endParaRPr b="1" i="1"/>
          </a:p>
        </p:txBody>
      </p:sp>
      <p:pic>
        <p:nvPicPr>
          <p:cNvPr id="134" name="Google Shape;134;p19" title="graph.png"/>
          <p:cNvPicPr preferRelativeResize="0"/>
          <p:nvPr/>
        </p:nvPicPr>
        <p:blipFill rotWithShape="1">
          <a:blip r:embed="rId3">
            <a:alphaModFix/>
          </a:blip>
          <a:srcRect b="0" l="14599" r="14599" t="0"/>
          <a:stretch/>
        </p:blipFill>
        <p:spPr>
          <a:xfrm>
            <a:off x="0" y="-63500"/>
            <a:ext cx="8903775" cy="52069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0"/>
          <p:cNvSpPr txBox="1"/>
          <p:nvPr>
            <p:ph type="title"/>
          </p:nvPr>
        </p:nvSpPr>
        <p:spPr>
          <a:xfrm>
            <a:off x="598100" y="2152347"/>
            <a:ext cx="8222100" cy="83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Queries on SPARQL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1"/>
          <p:cNvSpPr txBox="1"/>
          <p:nvPr>
            <p:ph type="title"/>
          </p:nvPr>
        </p:nvSpPr>
        <p:spPr>
          <a:xfrm>
            <a:off x="669075" y="1048675"/>
            <a:ext cx="3036000" cy="799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100"/>
              <a:t>Show</a:t>
            </a:r>
            <a:r>
              <a:rPr lang="en" sz="3100"/>
              <a:t> recipe</a:t>
            </a:r>
            <a:endParaRPr sz="3100"/>
          </a:p>
        </p:txBody>
      </p:sp>
      <p:sp>
        <p:nvSpPr>
          <p:cNvPr id="145" name="Google Shape;145;p21"/>
          <p:cNvSpPr txBox="1"/>
          <p:nvPr/>
        </p:nvSpPr>
        <p:spPr>
          <a:xfrm>
            <a:off x="5474400" y="1048675"/>
            <a:ext cx="3081900" cy="116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PREFIX ns0: &lt;https://schema.org/&gt;</a:t>
            </a:r>
            <a:endParaRPr sz="9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PREFIX xsd: &lt;http://www.w3.org/2001/XMLSchema#&gt;</a:t>
            </a:r>
            <a:endParaRPr sz="9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SELECT ?recipe</a:t>
            </a:r>
            <a:endParaRPr sz="9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WHERE {</a:t>
            </a:r>
            <a:endParaRPr sz="9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  ?recipe a ns0:Recipe .</a:t>
            </a:r>
            <a:endParaRPr sz="9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}</a:t>
            </a:r>
            <a:endParaRPr sz="9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6" name="Google Shape;146;p21"/>
          <p:cNvSpPr txBox="1"/>
          <p:nvPr/>
        </p:nvSpPr>
        <p:spPr>
          <a:xfrm>
            <a:off x="5474400" y="2571750"/>
            <a:ext cx="3000000" cy="21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-----------------------------------------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| recipe                                |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=========================================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| &lt;http://example.org/recipe/carbonara&gt; |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-----------------------------------------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2"/>
          <p:cNvSpPr txBox="1"/>
          <p:nvPr/>
        </p:nvSpPr>
        <p:spPr>
          <a:xfrm>
            <a:off x="5218975" y="562350"/>
            <a:ext cx="3081900" cy="116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PREFIX ns0: &lt;https://schema.org/&gt;</a:t>
            </a:r>
            <a:endParaRPr sz="9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PREFIX xsd: &lt;http://www.w3.org/2001/XMLSchema#&gt;</a:t>
            </a:r>
            <a:endParaRPr sz="9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SELECT ?recipe ?title ?authorName ?img</a:t>
            </a:r>
            <a:endParaRPr sz="9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WHERE {</a:t>
            </a:r>
            <a:endParaRPr sz="9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  ?recipe a ns0:Recipe .</a:t>
            </a:r>
            <a:endParaRPr sz="9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  ?recipe ns0:name ?title .</a:t>
            </a:r>
            <a:endParaRPr sz="9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  ?recipe ns0:author ?person .</a:t>
            </a:r>
            <a:endParaRPr sz="9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  ?person ns0:name ?authorName .</a:t>
            </a:r>
            <a:endParaRPr sz="9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  ?recipe ns0:image ?img .</a:t>
            </a:r>
            <a:endParaRPr sz="9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}</a:t>
            </a:r>
            <a:endParaRPr sz="9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2" name="Google Shape;152;p22"/>
          <p:cNvSpPr txBox="1"/>
          <p:nvPr>
            <p:ph type="title"/>
          </p:nvPr>
        </p:nvSpPr>
        <p:spPr>
          <a:xfrm>
            <a:off x="708250" y="1177638"/>
            <a:ext cx="3036000" cy="799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100"/>
              <a:t>Recipe’s name, author, image</a:t>
            </a:r>
            <a:endParaRPr sz="3100"/>
          </a:p>
        </p:txBody>
      </p:sp>
      <p:sp>
        <p:nvSpPr>
          <p:cNvPr id="153" name="Google Shape;153;p22"/>
          <p:cNvSpPr txBox="1"/>
          <p:nvPr/>
        </p:nvSpPr>
        <p:spPr>
          <a:xfrm>
            <a:off x="1175625" y="2021475"/>
            <a:ext cx="6931500" cy="29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---------------------------------------------------------------------------------------------------------------------------------------------------------------------------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| recipe                                | title                    | authorName          | img                                                                            |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===========================================================================================================================================================================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| &lt;http://example.org/recipe/carbonara&gt; | "Spaghetti Carbonara"@en | "Emanuele Rossi"@en | &lt;https://upload.wikimedia.org/wikipedia/commons/3/33/Espaguetis_carbonara.jpg&gt; |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---------------------------------------------------------------------------------------------------------------------------------------------------------------------------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23"/>
          <p:cNvSpPr txBox="1"/>
          <p:nvPr/>
        </p:nvSpPr>
        <p:spPr>
          <a:xfrm>
            <a:off x="5359900" y="491075"/>
            <a:ext cx="3081900" cy="116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PREFIX ns0: &lt;https://schema.org/&gt;</a:t>
            </a:r>
            <a:endParaRPr sz="9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PREFIX xsd: &lt;http://www.w3.org/2001/XMLSchema#&gt;</a:t>
            </a:r>
            <a:endParaRPr sz="9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ASK</a:t>
            </a:r>
            <a:endParaRPr sz="9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WHERE {</a:t>
            </a:r>
            <a:endParaRPr sz="9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  ?recipe a ns0:Recipe .</a:t>
            </a:r>
            <a:endParaRPr sz="9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  ?recipe ns0:recipeIngredient ?ing .</a:t>
            </a:r>
            <a:endParaRPr sz="9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  filter contains(lcase(?ing), 'egg')</a:t>
            </a:r>
            <a:endParaRPr sz="9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}</a:t>
            </a:r>
            <a:endParaRPr sz="9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9" name="Google Shape;159;p23"/>
          <p:cNvSpPr txBox="1"/>
          <p:nvPr>
            <p:ph type="title"/>
          </p:nvPr>
        </p:nvSpPr>
        <p:spPr>
          <a:xfrm>
            <a:off x="711325" y="859767"/>
            <a:ext cx="3036000" cy="799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100"/>
              <a:t>Does the r</a:t>
            </a:r>
            <a:r>
              <a:rPr lang="en" sz="3100"/>
              <a:t>ecipe include eggs</a:t>
            </a:r>
            <a:endParaRPr sz="3100"/>
          </a:p>
        </p:txBody>
      </p:sp>
      <p:sp>
        <p:nvSpPr>
          <p:cNvPr id="160" name="Google Shape;160;p23"/>
          <p:cNvSpPr txBox="1"/>
          <p:nvPr/>
        </p:nvSpPr>
        <p:spPr>
          <a:xfrm>
            <a:off x="5400850" y="196650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yes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4"/>
          <p:cNvSpPr txBox="1"/>
          <p:nvPr>
            <p:ph type="title"/>
          </p:nvPr>
        </p:nvSpPr>
        <p:spPr>
          <a:xfrm>
            <a:off x="526275" y="3205900"/>
            <a:ext cx="3569100" cy="799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3100"/>
              <a:t>Is the recipe’s caloreies above 600?</a:t>
            </a:r>
            <a:br>
              <a:rPr b="1" lang="en" sz="3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b="1" sz="3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3100"/>
          </a:p>
        </p:txBody>
      </p:sp>
      <p:sp>
        <p:nvSpPr>
          <p:cNvPr id="166" name="Google Shape;166;p24"/>
          <p:cNvSpPr txBox="1"/>
          <p:nvPr/>
        </p:nvSpPr>
        <p:spPr>
          <a:xfrm>
            <a:off x="5368425" y="430425"/>
            <a:ext cx="3081900" cy="116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Query:</a:t>
            </a:r>
            <a:endParaRPr sz="10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PREFIX ns0: &lt;https://schema.org/&gt;</a:t>
            </a:r>
            <a:endParaRPr sz="10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PREFIX xsd: &lt;http://www.w3.org/2001/XMLSchema#&gt;</a:t>
            </a:r>
            <a:endParaRPr sz="10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ASK</a:t>
            </a:r>
            <a:endParaRPr sz="10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WHERE {</a:t>
            </a:r>
            <a:endParaRPr sz="10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  ?rcp a ns0:Recipe ;</a:t>
            </a:r>
            <a:endParaRPr sz="10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       ns0:name ?name ;</a:t>
            </a:r>
            <a:endParaRPr sz="10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       ns0:nutrition ?nutrition .</a:t>
            </a:r>
            <a:endParaRPr sz="10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  ?nutrition ns0:calories ?cal</a:t>
            </a:r>
            <a:endParaRPr sz="10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  BIND(xsd:integer(substr(?cal, 1, 3)) AS ?calories)</a:t>
            </a:r>
            <a:endParaRPr sz="10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  FILTER(?calories &gt; 600)</a:t>
            </a:r>
            <a:endParaRPr sz="10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}</a:t>
            </a:r>
            <a:endParaRPr sz="10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7" name="Google Shape;167;p24"/>
          <p:cNvSpPr txBox="1"/>
          <p:nvPr/>
        </p:nvSpPr>
        <p:spPr>
          <a:xfrm>
            <a:off x="5409375" y="3135425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25"/>
          <p:cNvSpPr txBox="1"/>
          <p:nvPr>
            <p:ph type="title"/>
          </p:nvPr>
        </p:nvSpPr>
        <p:spPr>
          <a:xfrm>
            <a:off x="499075" y="2051025"/>
            <a:ext cx="3036000" cy="799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1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100"/>
              <a:t>Count how many ingredients each recipe has</a:t>
            </a:r>
            <a:endParaRPr sz="3100"/>
          </a:p>
        </p:txBody>
      </p:sp>
      <p:sp>
        <p:nvSpPr>
          <p:cNvPr id="173" name="Google Shape;173;p25"/>
          <p:cNvSpPr txBox="1"/>
          <p:nvPr/>
        </p:nvSpPr>
        <p:spPr>
          <a:xfrm>
            <a:off x="5098750" y="486200"/>
            <a:ext cx="3081900" cy="116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SELECT ?recipe (COUNT(?ing) AS ?ingredientCount)</a:t>
            </a:r>
            <a:endParaRPr sz="8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WHERE {</a:t>
            </a:r>
            <a:endParaRPr sz="8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  ?recipe a ns0:Recipe .</a:t>
            </a:r>
            <a:endParaRPr sz="8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  ?recipe ns0:recipeIngredient ?ing .</a:t>
            </a:r>
            <a:endParaRPr sz="8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}</a:t>
            </a:r>
            <a:endParaRPr sz="8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GROUP BY ?recipe</a:t>
            </a:r>
            <a:endParaRPr sz="8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4" name="Google Shape;174;p25"/>
          <p:cNvSpPr txBox="1"/>
          <p:nvPr/>
        </p:nvSpPr>
        <p:spPr>
          <a:xfrm>
            <a:off x="4668875" y="1654700"/>
            <a:ext cx="4393800" cy="169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-----------------------------------------------------------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| recipe                                | ingredientCount |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===========================================================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| &lt;http://example.org/recipe/carbonara&gt; | 6               |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-----------------------------------------------------------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26"/>
          <p:cNvSpPr txBox="1"/>
          <p:nvPr>
            <p:ph type="title"/>
          </p:nvPr>
        </p:nvSpPr>
        <p:spPr>
          <a:xfrm>
            <a:off x="516675" y="1553000"/>
            <a:ext cx="3036000" cy="799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100"/>
              <a:t>Show recipe along with their calorie count</a:t>
            </a:r>
            <a:endParaRPr sz="3100"/>
          </a:p>
        </p:txBody>
      </p:sp>
      <p:sp>
        <p:nvSpPr>
          <p:cNvPr id="180" name="Google Shape;180;p26"/>
          <p:cNvSpPr txBox="1"/>
          <p:nvPr/>
        </p:nvSpPr>
        <p:spPr>
          <a:xfrm>
            <a:off x="5081100" y="503825"/>
            <a:ext cx="3081900" cy="116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SELECT ?recipe ?title ?cal</a:t>
            </a:r>
            <a:endParaRPr sz="8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WHERE {</a:t>
            </a:r>
            <a:endParaRPr sz="8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  ?recipe a ns0:Recipe .</a:t>
            </a:r>
            <a:endParaRPr sz="8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  ?recipe ns0:name ?title .</a:t>
            </a:r>
            <a:endParaRPr sz="8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  OPTIONAL {</a:t>
            </a:r>
            <a:endParaRPr sz="8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    ?recipe ns0:nutrition ?nut .</a:t>
            </a:r>
            <a:endParaRPr sz="8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    ?nut ns0:calories ?cal .</a:t>
            </a:r>
            <a:endParaRPr sz="8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  }</a:t>
            </a:r>
            <a:endParaRPr sz="8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}</a:t>
            </a:r>
            <a:endParaRPr sz="8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1" name="Google Shape;181;p26"/>
          <p:cNvSpPr txBox="1"/>
          <p:nvPr/>
        </p:nvSpPr>
        <p:spPr>
          <a:xfrm>
            <a:off x="4583700" y="1725150"/>
            <a:ext cx="4393800" cy="320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----------------------------------------------------------------------------------------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| recipe                                | title                    | cal               |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========================================================================================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| &lt;http://example.org/recipe/carbonara&gt; | "Spaghetti Carbonara"@en | "550 calories"@en |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----------------------------------------------------------------------------------------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27"/>
          <p:cNvSpPr txBox="1"/>
          <p:nvPr>
            <p:ph type="title"/>
          </p:nvPr>
        </p:nvSpPr>
        <p:spPr>
          <a:xfrm>
            <a:off x="499050" y="2248775"/>
            <a:ext cx="3036000" cy="799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100"/>
              <a:t>Does the recipe belong to category Pasta or Italian?</a:t>
            </a:r>
            <a:endParaRPr sz="3100"/>
          </a:p>
        </p:txBody>
      </p:sp>
      <p:sp>
        <p:nvSpPr>
          <p:cNvPr id="187" name="Google Shape;187;p27"/>
          <p:cNvSpPr txBox="1"/>
          <p:nvPr/>
        </p:nvSpPr>
        <p:spPr>
          <a:xfrm>
            <a:off x="5081100" y="503825"/>
            <a:ext cx="3081900" cy="116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ASK</a:t>
            </a:r>
            <a:endParaRPr sz="8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WHERE {</a:t>
            </a:r>
            <a:endParaRPr sz="8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  ?recipe a ns0:Recipe .</a:t>
            </a:r>
            <a:endParaRPr sz="8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  {</a:t>
            </a:r>
            <a:endParaRPr sz="8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    ?recipe ns0:recipeCategory "Pasta"@en .</a:t>
            </a:r>
            <a:endParaRPr sz="8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  }</a:t>
            </a:r>
            <a:endParaRPr sz="8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  UNION</a:t>
            </a:r>
            <a:endParaRPr sz="8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  {</a:t>
            </a:r>
            <a:endParaRPr sz="8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    ?recipe ns0:recipeCuisine "Italian"@en .</a:t>
            </a:r>
            <a:endParaRPr sz="8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  }</a:t>
            </a:r>
            <a:endParaRPr sz="8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}</a:t>
            </a:r>
            <a:endParaRPr sz="8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8" name="Google Shape;188;p27"/>
          <p:cNvSpPr txBox="1"/>
          <p:nvPr/>
        </p:nvSpPr>
        <p:spPr>
          <a:xfrm>
            <a:off x="5081100" y="2048400"/>
            <a:ext cx="43938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yes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Geometric">
  <a:themeElements>
    <a:clrScheme name="Geometric">
      <a:dk1>
        <a:srgbClr val="2A3990"/>
      </a:dk1>
      <a:lt1>
        <a:srgbClr val="FFFFFF"/>
      </a:lt1>
      <a:dk2>
        <a:srgbClr val="434343"/>
      </a:dk2>
      <a:lt2>
        <a:srgbClr val="999999"/>
      </a:lt2>
      <a:accent1>
        <a:srgbClr val="212D74"/>
      </a:accent1>
      <a:accent2>
        <a:srgbClr val="3949AB"/>
      </a:accent2>
      <a:accent3>
        <a:srgbClr val="9C254D"/>
      </a:accent3>
      <a:accent4>
        <a:srgbClr val="D23369"/>
      </a:accent4>
      <a:accent5>
        <a:srgbClr val="F06292"/>
      </a:accent5>
      <a:accent6>
        <a:srgbClr val="7890CD"/>
      </a:accent6>
      <a:hlink>
        <a:srgbClr val="F06292"/>
      </a:hlink>
      <a:folHlink>
        <a:srgbClr val="F0629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