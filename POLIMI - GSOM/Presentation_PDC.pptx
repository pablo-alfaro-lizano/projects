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6858000" cx="12192000"/>
  <p:notesSz cx="6858000" cy="9144000"/>
  <p:embeddedFontLst>
    <p:embeddedFont>
      <p:font typeface="Play"/>
      <p:regular r:id="rId45"/>
      <p:bold r:id="rId46"/>
    </p:embeddedFont>
    <p:embeddedFont>
      <p:font typeface="Open Sans Light"/>
      <p:regular r:id="rId47"/>
      <p:bold r:id="rId48"/>
      <p:italic r:id="rId49"/>
      <p:boldItalic r:id="rId50"/>
    </p:embeddedFont>
    <p:embeddedFont>
      <p:font typeface="Open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h57Oafj86pU92ybf1qfPB8bdSh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365AB6-D5EB-46C8-A5AF-423AF209650D}">
  <a:tblStyle styleId="{42365AB6-D5EB-46C8-A5AF-423AF209650D}" styleName="Table_0">
    <a:wholeTbl>
      <a:tcTxStyle b="off" i="off">
        <a:font>
          <a:latin typeface="Univers Condensed Light"/>
          <a:ea typeface="Univers Condensed Light"/>
          <a:cs typeface="Univers Condensed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A"/>
          </a:solidFill>
        </a:fill>
      </a:tcStyle>
    </a:wholeTbl>
    <a:band1H>
      <a:tcTxStyle b="off" i="off"/>
      <a:tcStyle>
        <a:fill>
          <a:solidFill>
            <a:srgbClr val="CAD0D2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0D2"/>
          </a:solidFill>
        </a:fill>
      </a:tcStyle>
    </a:band1V>
    <a:band2V>
      <a:tcTxStyle b="off" i="off"/>
    </a:band2V>
    <a:lastCol>
      <a:tcTxStyle b="on" i="off">
        <a:font>
          <a:latin typeface="Univers Condensed Light"/>
          <a:ea typeface="Univers Condensed Light"/>
          <a:cs typeface="Univers Condensed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Univers Condensed Light"/>
          <a:ea typeface="Univers Condensed Light"/>
          <a:cs typeface="Univers Condensed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Univers Condensed Light"/>
          <a:ea typeface="Univers Condensed Light"/>
          <a:cs typeface="Univers Condensed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Univers Condensed Light"/>
          <a:ea typeface="Univers Condensed Light"/>
          <a:cs typeface="Univers Condensed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4382D79E-A378-4D81-A68A-3AA4D053ACBB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Play-bold.fntdata"/><Relationship Id="rId45" Type="http://schemas.openxmlformats.org/officeDocument/2006/relationships/font" Target="fonts/Pl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Light-bold.fntdata"/><Relationship Id="rId47" Type="http://schemas.openxmlformats.org/officeDocument/2006/relationships/font" Target="fonts/OpenSansLight-regular.fntdata"/><Relationship Id="rId49" Type="http://schemas.openxmlformats.org/officeDocument/2006/relationships/font" Target="fonts/OpenSans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regular.fntdata"/><Relationship Id="rId50" Type="http://schemas.openxmlformats.org/officeDocument/2006/relationships/font" Target="fonts/OpenSansLight-boldItalic.fntdata"/><Relationship Id="rId53" Type="http://schemas.openxmlformats.org/officeDocument/2006/relationships/font" Target="fonts/OpenSans-italic.fntdata"/><Relationship Id="rId52" Type="http://schemas.openxmlformats.org/officeDocument/2006/relationships/font" Target="fonts/OpenSans-bold.fntdata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d7bdcf791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2d7bdcf791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019de173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3019de17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d8d1e6b2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2d8d1e6b27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2db6cc4b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2db6cc4ba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/>
          <p:nvPr>
            <p:ph type="ctrTitle"/>
          </p:nvPr>
        </p:nvSpPr>
        <p:spPr>
          <a:xfrm>
            <a:off x="1524000" y="1122363"/>
            <a:ext cx="9144000" cy="30253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  <a:defRPr sz="6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" type="subTitle"/>
          </p:nvPr>
        </p:nvSpPr>
        <p:spPr>
          <a:xfrm>
            <a:off x="1524000" y="4386729"/>
            <a:ext cx="9144000" cy="1135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 b="1" sz="1800" cap="none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10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" type="body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Char char="•"/>
              <a:defRPr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0988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Char char="•"/>
              <a:defRPr/>
            </a:lvl4pPr>
            <a:lvl5pPr indent="-30987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560"/>
              <a:buChar char="•"/>
              <a:defRPr sz="3200"/>
            </a:lvl1pPr>
            <a:lvl2pPr indent="-3708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240"/>
              <a:buChar char="•"/>
              <a:defRPr sz="2800"/>
            </a:lvl2pPr>
            <a:lvl3pPr indent="-35051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20"/>
              <a:buChar char="•"/>
              <a:defRPr sz="24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3" name="Google Shape;33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6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12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838200" y="1924493"/>
            <a:ext cx="5181600" cy="4252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2" type="body"/>
          </p:nvPr>
        </p:nvSpPr>
        <p:spPr>
          <a:xfrm>
            <a:off x="6172200" y="1924493"/>
            <a:ext cx="5181600" cy="4252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839788" y="1734325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2000" cap="none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14"/>
          <p:cNvSpPr txBox="1"/>
          <p:nvPr>
            <p:ph idx="2" type="body"/>
          </p:nvPr>
        </p:nvSpPr>
        <p:spPr>
          <a:xfrm>
            <a:off x="839788" y="2558237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3" type="body"/>
          </p:nvPr>
        </p:nvSpPr>
        <p:spPr>
          <a:xfrm>
            <a:off x="6172200" y="1734325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2000" cap="none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4"/>
          <p:cNvSpPr txBox="1"/>
          <p:nvPr>
            <p:ph idx="4" type="body"/>
          </p:nvPr>
        </p:nvSpPr>
        <p:spPr>
          <a:xfrm>
            <a:off x="6172200" y="2558237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6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18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" type="body"/>
          </p:nvPr>
        </p:nvSpPr>
        <p:spPr>
          <a:xfrm rot="5400000">
            <a:off x="4083788" y="-931234"/>
            <a:ext cx="4024424" cy="9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3pPr>
            <a:lvl4pPr indent="-320039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4pPr>
            <a:lvl5pPr indent="-320039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9"/>
          <p:cNvCxnSpPr/>
          <p:nvPr/>
        </p:nvCxnSpPr>
        <p:spPr>
          <a:xfrm flipH="1">
            <a:off x="0" y="0"/>
            <a:ext cx="3119718" cy="685800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" name="Google Shape;7;p9"/>
          <p:cNvCxnSpPr/>
          <p:nvPr/>
        </p:nvCxnSpPr>
        <p:spPr>
          <a:xfrm flipH="1">
            <a:off x="0" y="0"/>
            <a:ext cx="903768" cy="6543675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" name="Google Shape;8;p9"/>
          <p:cNvCxnSpPr/>
          <p:nvPr/>
        </p:nvCxnSpPr>
        <p:spPr>
          <a:xfrm rot="10800000">
            <a:off x="-42863" y="5791200"/>
            <a:ext cx="6286501" cy="1066801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" name="Google Shape;9;p9"/>
          <p:cNvCxnSpPr/>
          <p:nvPr/>
        </p:nvCxnSpPr>
        <p:spPr>
          <a:xfrm flipH="1">
            <a:off x="8462964" y="5848350"/>
            <a:ext cx="3729036" cy="1009650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" name="Google Shape;10;p9"/>
          <p:cNvCxnSpPr/>
          <p:nvPr/>
        </p:nvCxnSpPr>
        <p:spPr>
          <a:xfrm flipH="1">
            <a:off x="11543158" y="1647825"/>
            <a:ext cx="648842" cy="5210175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" name="Google Shape;11;p9"/>
          <p:cNvCxnSpPr/>
          <p:nvPr/>
        </p:nvCxnSpPr>
        <p:spPr>
          <a:xfrm rot="10800000">
            <a:off x="10781554" y="0"/>
            <a:ext cx="1410446" cy="4258340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" name="Google Shape;12;p9"/>
          <p:cNvCxnSpPr/>
          <p:nvPr/>
        </p:nvCxnSpPr>
        <p:spPr>
          <a:xfrm rot="10800000">
            <a:off x="6529388" y="-4763"/>
            <a:ext cx="5662612" cy="931975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" name="Google Shape;13;p9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  <a:defRPr b="0" i="1" sz="44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" type="body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003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988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9879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5" name="Google Shape;15;p9"/>
          <p:cNvSpPr txBox="1"/>
          <p:nvPr>
            <p:ph idx="10" type="dt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6" name="Google Shape;16;p9"/>
          <p:cNvSpPr txBox="1"/>
          <p:nvPr>
            <p:ph idx="11" type="ftr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7" name="Google Shape;17;p9"/>
          <p:cNvSpPr txBox="1"/>
          <p:nvPr>
            <p:ph idx="12" type="sldNum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8" name="Google Shape;88;p1"/>
          <p:cNvSpPr txBox="1"/>
          <p:nvPr>
            <p:ph type="ctrTitle"/>
          </p:nvPr>
        </p:nvSpPr>
        <p:spPr>
          <a:xfrm>
            <a:off x="862557" y="216992"/>
            <a:ext cx="6933112" cy="32376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</a:pPr>
            <a:r>
              <a:rPr lang="en-US"/>
              <a:t>BOSTON HOUSE PRICES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096816" y="4018018"/>
            <a:ext cx="5916873" cy="1066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</a:pPr>
            <a:r>
              <a:rPr lang="en-US" sz="1400"/>
              <a:t>PABLO ALFARO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</a:pPr>
            <a:r>
              <a:rPr lang="en-US" sz="1400"/>
              <a:t>DAVID CARRASCOSA</a:t>
            </a:r>
            <a:endParaRPr sz="1400"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</a:pPr>
            <a:r>
              <a:rPr lang="en-US" sz="1400"/>
              <a:t>CAMILO MERCADO</a:t>
            </a:r>
            <a:endParaRPr sz="1400"/>
          </a:p>
        </p:txBody>
      </p:sp>
      <p:pic>
        <p:nvPicPr>
          <p:cNvPr descr="Una señal de una casa&#10;&#10;Descripción generada automáticamente con confianza media" id="90" name="Google Shape;90;p1"/>
          <p:cNvPicPr preferRelativeResize="0"/>
          <p:nvPr/>
        </p:nvPicPr>
        <p:blipFill rotWithShape="1">
          <a:blip r:embed="rId3">
            <a:alphaModFix/>
          </a:blip>
          <a:srcRect b="-2" l="39664" r="23944" t="0"/>
          <a:stretch/>
        </p:blipFill>
        <p:spPr>
          <a:xfrm>
            <a:off x="8658226" y="-4762"/>
            <a:ext cx="3541857" cy="6886079"/>
          </a:xfrm>
          <a:custGeom>
            <a:rect b="b" l="l" r="r" t="t"/>
            <a:pathLst>
              <a:path extrusionOk="0" h="6886079" w="3541857">
                <a:moveTo>
                  <a:pt x="1248072" y="0"/>
                </a:moveTo>
                <a:lnTo>
                  <a:pt x="3541857" y="0"/>
                </a:lnTo>
                <a:lnTo>
                  <a:pt x="3541857" y="6886079"/>
                </a:lnTo>
                <a:lnTo>
                  <a:pt x="0" y="6864521"/>
                </a:lnTo>
                <a:close/>
              </a:path>
            </a:pathLst>
          </a:custGeom>
          <a:noFill/>
          <a:ln>
            <a:noFill/>
          </a:ln>
        </p:spPr>
      </p:pic>
      <p:cxnSp>
        <p:nvCxnSpPr>
          <p:cNvPr id="91" name="Google Shape;91;p1"/>
          <p:cNvCxnSpPr/>
          <p:nvPr/>
        </p:nvCxnSpPr>
        <p:spPr>
          <a:xfrm rot="10800000">
            <a:off x="8878186" y="1"/>
            <a:ext cx="345294" cy="6881315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" name="Google Shape;92;p1"/>
          <p:cNvCxnSpPr/>
          <p:nvPr/>
        </p:nvCxnSpPr>
        <p:spPr>
          <a:xfrm rot="10800000">
            <a:off x="6794205" y="-4764"/>
            <a:ext cx="5397796" cy="1041438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-39275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descr="La fachada de condominios" id="98" name="Google Shape;98;p2"/>
          <p:cNvPicPr preferRelativeResize="0"/>
          <p:nvPr/>
        </p:nvPicPr>
        <p:blipFill rotWithShape="1">
          <a:blip r:embed="rId3">
            <a:alphaModFix/>
          </a:blip>
          <a:srcRect b="0" l="18135" r="26135" t="0"/>
          <a:stretch/>
        </p:blipFill>
        <p:spPr>
          <a:xfrm>
            <a:off x="6938682" y="10"/>
            <a:ext cx="5253320" cy="6857990"/>
          </a:xfrm>
          <a:custGeom>
            <a:rect b="b" l="l" r="r" t="t"/>
            <a:pathLst>
              <a:path extrusionOk="0" h="6858000" w="5253320">
                <a:moveTo>
                  <a:pt x="722088" y="0"/>
                </a:moveTo>
                <a:lnTo>
                  <a:pt x="5253320" y="0"/>
                </a:lnTo>
                <a:lnTo>
                  <a:pt x="525332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99" name="Google Shape;99;p2"/>
          <p:cNvSpPr txBox="1"/>
          <p:nvPr>
            <p:ph type="title"/>
          </p:nvPr>
        </p:nvSpPr>
        <p:spPr>
          <a:xfrm>
            <a:off x="1104901" y="467834"/>
            <a:ext cx="6132605" cy="1738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/>
              <a:t>OUR DATASET</a:t>
            </a:r>
            <a:endParaRPr/>
          </a:p>
        </p:txBody>
      </p:sp>
      <p:cxnSp>
        <p:nvCxnSpPr>
          <p:cNvPr id="100" name="Google Shape;100;p2"/>
          <p:cNvCxnSpPr/>
          <p:nvPr/>
        </p:nvCxnSpPr>
        <p:spPr>
          <a:xfrm rot="10800000">
            <a:off x="5528235" y="0"/>
            <a:ext cx="6663765" cy="992094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" name="Google Shape;101;p2"/>
          <p:cNvSpPr txBox="1"/>
          <p:nvPr/>
        </p:nvSpPr>
        <p:spPr>
          <a:xfrm>
            <a:off x="737027" y="6217230"/>
            <a:ext cx="273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506 observations &amp; 14 </a:t>
            </a:r>
            <a:r>
              <a:rPr i="1" lang="en-US"/>
              <a:t>features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93650" y="1851925"/>
            <a:ext cx="6190500" cy="4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3C4043"/>
                </a:solidFill>
              </a:rPr>
              <a:t>Input features in order:</a:t>
            </a:r>
            <a:br>
              <a:rPr lang="en-US" sz="1050">
                <a:solidFill>
                  <a:srgbClr val="3C4043"/>
                </a:solidFill>
              </a:rPr>
            </a:br>
            <a:r>
              <a:rPr lang="en-US" sz="1050">
                <a:solidFill>
                  <a:srgbClr val="3C4043"/>
                </a:solidFill>
              </a:rPr>
              <a:t>1) </a:t>
            </a:r>
            <a:r>
              <a:rPr b="1" lang="en-US" sz="1050">
                <a:solidFill>
                  <a:srgbClr val="3C4043"/>
                </a:solidFill>
              </a:rPr>
              <a:t>CRIM:</a:t>
            </a:r>
            <a:r>
              <a:rPr lang="en-US" sz="1050">
                <a:solidFill>
                  <a:srgbClr val="3C4043"/>
                </a:solidFill>
              </a:rPr>
              <a:t> per capita crime rate by town</a:t>
            </a:r>
            <a:br>
              <a:rPr lang="en-US" sz="1050">
                <a:solidFill>
                  <a:srgbClr val="3C4043"/>
                </a:solidFill>
              </a:rPr>
            </a:br>
            <a:r>
              <a:rPr lang="en-US" sz="1050">
                <a:solidFill>
                  <a:srgbClr val="3C4043"/>
                </a:solidFill>
              </a:rPr>
              <a:t>2) </a:t>
            </a:r>
            <a:r>
              <a:rPr b="1" lang="en-US" sz="1050">
                <a:solidFill>
                  <a:srgbClr val="3C4043"/>
                </a:solidFill>
              </a:rPr>
              <a:t>ZN:</a:t>
            </a:r>
            <a:r>
              <a:rPr lang="en-US" sz="1050">
                <a:solidFill>
                  <a:srgbClr val="3C4043"/>
                </a:solidFill>
              </a:rPr>
              <a:t> proportion of residential land zoned for lots over 25,000 sq.ft.</a:t>
            </a:r>
            <a:br>
              <a:rPr lang="en-US" sz="1050">
                <a:solidFill>
                  <a:srgbClr val="3C4043"/>
                </a:solidFill>
              </a:rPr>
            </a:br>
            <a:r>
              <a:rPr lang="en-US" sz="1050">
                <a:solidFill>
                  <a:srgbClr val="3C4043"/>
                </a:solidFill>
              </a:rPr>
              <a:t>3) </a:t>
            </a:r>
            <a:r>
              <a:rPr b="1" lang="en-US" sz="1050">
                <a:solidFill>
                  <a:srgbClr val="3C4043"/>
                </a:solidFill>
              </a:rPr>
              <a:t>INDUS:</a:t>
            </a:r>
            <a:r>
              <a:rPr lang="en-US" sz="1050">
                <a:solidFill>
                  <a:srgbClr val="3C4043"/>
                </a:solidFill>
              </a:rPr>
              <a:t> proportion of non-retail business acres per town</a:t>
            </a:r>
            <a:br>
              <a:rPr lang="en-US" sz="1050">
                <a:solidFill>
                  <a:srgbClr val="3C4043"/>
                </a:solidFill>
              </a:rPr>
            </a:br>
            <a:r>
              <a:rPr lang="en-US" sz="1050">
                <a:solidFill>
                  <a:srgbClr val="3C4043"/>
                </a:solidFill>
              </a:rPr>
              <a:t>4) </a:t>
            </a:r>
            <a:r>
              <a:rPr b="1" lang="en-US" sz="1050">
                <a:solidFill>
                  <a:srgbClr val="3C4043"/>
                </a:solidFill>
              </a:rPr>
              <a:t>CHAS: </a:t>
            </a:r>
            <a:r>
              <a:rPr lang="en-US" sz="1050">
                <a:solidFill>
                  <a:srgbClr val="3C4043"/>
                </a:solidFill>
              </a:rPr>
              <a:t>Charles River dummy variable (1 if tract bounds river; 0 otherwise)</a:t>
            </a:r>
            <a:br>
              <a:rPr lang="en-US" sz="1050">
                <a:solidFill>
                  <a:srgbClr val="3C4043"/>
                </a:solidFill>
              </a:rPr>
            </a:br>
            <a:r>
              <a:rPr lang="en-US" sz="1050">
                <a:solidFill>
                  <a:srgbClr val="3C4043"/>
                </a:solidFill>
              </a:rPr>
              <a:t>5) </a:t>
            </a:r>
            <a:r>
              <a:rPr b="1" lang="en-US" sz="1050">
                <a:solidFill>
                  <a:srgbClr val="3C4043"/>
                </a:solidFill>
              </a:rPr>
              <a:t>NOX:</a:t>
            </a:r>
            <a:r>
              <a:rPr lang="en-US" sz="1050">
                <a:solidFill>
                  <a:srgbClr val="3C4043"/>
                </a:solidFill>
              </a:rPr>
              <a:t> nitric oxides concentration (parts per 10 million) [parts/10M]</a:t>
            </a:r>
            <a:br>
              <a:rPr lang="en-US" sz="1050">
                <a:solidFill>
                  <a:srgbClr val="3C4043"/>
                </a:solidFill>
              </a:rPr>
            </a:br>
            <a:r>
              <a:rPr lang="en-US" sz="1050">
                <a:solidFill>
                  <a:srgbClr val="3C4043"/>
                </a:solidFill>
              </a:rPr>
              <a:t>6) </a:t>
            </a:r>
            <a:r>
              <a:rPr b="1" lang="en-US" sz="1050">
                <a:solidFill>
                  <a:srgbClr val="3C4043"/>
                </a:solidFill>
              </a:rPr>
              <a:t>RM: </a:t>
            </a:r>
            <a:r>
              <a:rPr lang="en-US" sz="1050">
                <a:solidFill>
                  <a:srgbClr val="3C4043"/>
                </a:solidFill>
              </a:rPr>
              <a:t>average number of rooms per dwelling</a:t>
            </a:r>
            <a:br>
              <a:rPr lang="en-US" sz="1050">
                <a:solidFill>
                  <a:srgbClr val="3C4043"/>
                </a:solidFill>
              </a:rPr>
            </a:br>
            <a:r>
              <a:rPr lang="en-US" sz="1050">
                <a:solidFill>
                  <a:srgbClr val="3C4043"/>
                </a:solidFill>
              </a:rPr>
              <a:t>7) </a:t>
            </a:r>
            <a:r>
              <a:rPr b="1" lang="en-US" sz="1050">
                <a:solidFill>
                  <a:srgbClr val="3C4043"/>
                </a:solidFill>
              </a:rPr>
              <a:t>AGE:</a:t>
            </a:r>
            <a:r>
              <a:rPr lang="en-US" sz="1050">
                <a:solidFill>
                  <a:srgbClr val="3C4043"/>
                </a:solidFill>
              </a:rPr>
              <a:t> proportion of owner-occupied units built prior to 1940</a:t>
            </a:r>
            <a:br>
              <a:rPr lang="en-US" sz="1050">
                <a:solidFill>
                  <a:srgbClr val="3C4043"/>
                </a:solidFill>
              </a:rPr>
            </a:br>
            <a:r>
              <a:rPr lang="en-US" sz="1050">
                <a:solidFill>
                  <a:srgbClr val="3C4043"/>
                </a:solidFill>
              </a:rPr>
              <a:t>8) </a:t>
            </a:r>
            <a:r>
              <a:rPr b="1" lang="en-US" sz="1050">
                <a:solidFill>
                  <a:srgbClr val="3C4043"/>
                </a:solidFill>
              </a:rPr>
              <a:t>DIS:</a:t>
            </a:r>
            <a:r>
              <a:rPr lang="en-US" sz="1050">
                <a:solidFill>
                  <a:srgbClr val="3C4043"/>
                </a:solidFill>
              </a:rPr>
              <a:t> weighted distances to five Boston employment centres</a:t>
            </a:r>
            <a:br>
              <a:rPr lang="en-US" sz="1050">
                <a:solidFill>
                  <a:srgbClr val="3C4043"/>
                </a:solidFill>
              </a:rPr>
            </a:br>
            <a:r>
              <a:rPr lang="en-US" sz="1050">
                <a:solidFill>
                  <a:srgbClr val="3C4043"/>
                </a:solidFill>
              </a:rPr>
              <a:t>9) </a:t>
            </a:r>
            <a:r>
              <a:rPr b="1" lang="en-US" sz="1050">
                <a:solidFill>
                  <a:srgbClr val="3C4043"/>
                </a:solidFill>
              </a:rPr>
              <a:t>RAD:</a:t>
            </a:r>
            <a:r>
              <a:rPr lang="en-US" sz="1050">
                <a:solidFill>
                  <a:srgbClr val="3C4043"/>
                </a:solidFill>
              </a:rPr>
              <a:t> index of accessibility to radial highways</a:t>
            </a:r>
            <a:br>
              <a:rPr lang="en-US" sz="1050">
                <a:solidFill>
                  <a:srgbClr val="3C4043"/>
                </a:solidFill>
              </a:rPr>
            </a:br>
            <a:r>
              <a:rPr lang="en-US" sz="1050">
                <a:solidFill>
                  <a:srgbClr val="3C4043"/>
                </a:solidFill>
              </a:rPr>
              <a:t>10) </a:t>
            </a:r>
            <a:r>
              <a:rPr b="1" lang="en-US" sz="1050">
                <a:solidFill>
                  <a:srgbClr val="3C4043"/>
                </a:solidFill>
              </a:rPr>
              <a:t>TAX:</a:t>
            </a:r>
            <a:r>
              <a:rPr lang="en-US" sz="1050">
                <a:solidFill>
                  <a:srgbClr val="3C4043"/>
                </a:solidFill>
              </a:rPr>
              <a:t> full-value property-tax rate per $10,000 [$/10k]</a:t>
            </a:r>
            <a:br>
              <a:rPr lang="en-US" sz="1050">
                <a:solidFill>
                  <a:srgbClr val="3C4043"/>
                </a:solidFill>
              </a:rPr>
            </a:br>
            <a:r>
              <a:rPr lang="en-US" sz="1050">
                <a:solidFill>
                  <a:srgbClr val="3C4043"/>
                </a:solidFill>
              </a:rPr>
              <a:t>11) </a:t>
            </a:r>
            <a:r>
              <a:rPr b="1" lang="en-US" sz="1050">
                <a:solidFill>
                  <a:srgbClr val="3C4043"/>
                </a:solidFill>
              </a:rPr>
              <a:t>PTRATIO:</a:t>
            </a:r>
            <a:r>
              <a:rPr lang="en-US" sz="1050">
                <a:solidFill>
                  <a:srgbClr val="3C4043"/>
                </a:solidFill>
              </a:rPr>
              <a:t> pupil-teacher ratio by town</a:t>
            </a:r>
            <a:br>
              <a:rPr lang="en-US" sz="1050">
                <a:solidFill>
                  <a:srgbClr val="3C4043"/>
                </a:solidFill>
              </a:rPr>
            </a:br>
            <a:r>
              <a:rPr lang="en-US" sz="1050">
                <a:solidFill>
                  <a:srgbClr val="3C4043"/>
                </a:solidFill>
              </a:rPr>
              <a:t>12) </a:t>
            </a:r>
            <a:r>
              <a:rPr b="1" lang="en-US" sz="1050">
                <a:solidFill>
                  <a:srgbClr val="3C4043"/>
                </a:solidFill>
              </a:rPr>
              <a:t>LSTAT:</a:t>
            </a:r>
            <a:r>
              <a:rPr lang="en-US" sz="1050">
                <a:solidFill>
                  <a:srgbClr val="3C4043"/>
                </a:solidFill>
              </a:rPr>
              <a:t> % lower status of the population – </a:t>
            </a:r>
            <a:r>
              <a:rPr lang="en-US" sz="1000">
                <a:solidFill>
                  <a:srgbClr val="3B4045"/>
                </a:solidFill>
                <a:highlight>
                  <a:srgbClr val="FFFFFF"/>
                </a:highlight>
              </a:rPr>
              <a:t>LSTAT represents the percentage of the population in a given area that is classified as lower status, typically indicating those with lower income and education levels.</a:t>
            </a:r>
            <a:endParaRPr sz="1000">
              <a:solidFill>
                <a:srgbClr val="3C40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050">
                <a:solidFill>
                  <a:srgbClr val="3C4043"/>
                </a:solidFill>
              </a:rPr>
              <a:t>Output variable:</a:t>
            </a:r>
            <a:br>
              <a:rPr lang="en-US" sz="1050">
                <a:solidFill>
                  <a:srgbClr val="3C4043"/>
                </a:solidFill>
              </a:rPr>
            </a:br>
            <a:r>
              <a:rPr lang="en-US" sz="1050">
                <a:solidFill>
                  <a:srgbClr val="3C4043"/>
                </a:solidFill>
              </a:rPr>
              <a:t>1) </a:t>
            </a:r>
            <a:r>
              <a:rPr b="1" lang="en-US" sz="1050">
                <a:solidFill>
                  <a:srgbClr val="3C4043"/>
                </a:solidFill>
              </a:rPr>
              <a:t>MEDV:</a:t>
            </a:r>
            <a:r>
              <a:rPr lang="en-US" sz="1050">
                <a:solidFill>
                  <a:srgbClr val="3C4043"/>
                </a:solidFill>
              </a:rPr>
              <a:t> Median value of owner-occupied homes in $1000's [k$]</a:t>
            </a:r>
            <a:endParaRPr sz="24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d7bdcf791_1_2"/>
          <p:cNvSpPr txBox="1"/>
          <p:nvPr>
            <p:ph type="title"/>
          </p:nvPr>
        </p:nvSpPr>
        <p:spPr>
          <a:xfrm>
            <a:off x="1143000" y="533401"/>
            <a:ext cx="9906000" cy="1382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Stakeholders</a:t>
            </a:r>
            <a:endParaRPr/>
          </a:p>
        </p:txBody>
      </p:sp>
      <p:sp>
        <p:nvSpPr>
          <p:cNvPr id="108" name="Google Shape;108;g32d7bdcf791_1_2"/>
          <p:cNvSpPr txBox="1"/>
          <p:nvPr>
            <p:ph idx="1" type="body"/>
          </p:nvPr>
        </p:nvSpPr>
        <p:spPr>
          <a:xfrm>
            <a:off x="1143000" y="2009554"/>
            <a:ext cx="9906000" cy="402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3219" lvl="0" marL="914400" rtl="0" algn="l">
              <a:spcBef>
                <a:spcPts val="1000"/>
              </a:spcBef>
              <a:spcAft>
                <a:spcPts val="0"/>
              </a:spcAft>
              <a:buSzPts val="2120"/>
              <a:buAutoNum type="arabicPeriod"/>
            </a:pPr>
            <a:r>
              <a:rPr lang="en-US" sz="2600"/>
              <a:t>Real Estate investors &amp; Property Developers</a:t>
            </a:r>
            <a:endParaRPr sz="2600"/>
          </a:p>
          <a:p>
            <a:pPr indent="-363219" lvl="0" marL="914400" rtl="0" algn="l">
              <a:spcBef>
                <a:spcPts val="0"/>
              </a:spcBef>
              <a:spcAft>
                <a:spcPts val="0"/>
              </a:spcAft>
              <a:buSzPts val="2120"/>
              <a:buAutoNum type="arabicPeriod"/>
            </a:pPr>
            <a:r>
              <a:rPr lang="en-US" sz="2600"/>
              <a:t>Home Buyers &amp; Sellers</a:t>
            </a:r>
            <a:endParaRPr sz="2600"/>
          </a:p>
          <a:p>
            <a:pPr indent="-363219" lvl="0" marL="914400" rtl="0" algn="l">
              <a:spcBef>
                <a:spcPts val="0"/>
              </a:spcBef>
              <a:spcAft>
                <a:spcPts val="0"/>
              </a:spcAft>
              <a:buSzPts val="2120"/>
              <a:buAutoNum type="arabicPeriod"/>
            </a:pPr>
            <a:r>
              <a:rPr lang="en-US" sz="2600"/>
              <a:t>City Planners &amp; Government Agencies</a:t>
            </a:r>
            <a:endParaRPr sz="2600"/>
          </a:p>
          <a:p>
            <a:pPr indent="-363219" lvl="0" marL="914400" rtl="0" algn="l">
              <a:spcBef>
                <a:spcPts val="0"/>
              </a:spcBef>
              <a:spcAft>
                <a:spcPts val="0"/>
              </a:spcAft>
              <a:buSzPts val="2120"/>
              <a:buAutoNum type="arabicPeriod"/>
            </a:pPr>
            <a:r>
              <a:rPr lang="en-US" sz="2600"/>
              <a:t>The population of Boston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ctrTitle"/>
          </p:nvPr>
        </p:nvSpPr>
        <p:spPr>
          <a:xfrm>
            <a:off x="1524000" y="1785257"/>
            <a:ext cx="9144000" cy="936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</a:pPr>
            <a:r>
              <a:rPr lang="en-US" sz="5400"/>
              <a:t>Question #1 </a:t>
            </a:r>
            <a:endParaRPr sz="5400"/>
          </a:p>
        </p:txBody>
      </p:sp>
      <p:sp>
        <p:nvSpPr>
          <p:cNvPr id="114" name="Google Shape;114;p21"/>
          <p:cNvSpPr txBox="1"/>
          <p:nvPr>
            <p:ph idx="1" type="subTitle"/>
          </p:nvPr>
        </p:nvSpPr>
        <p:spPr>
          <a:xfrm>
            <a:off x="1524000" y="3000830"/>
            <a:ext cx="9144000" cy="1135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50520" lvl="0" marL="45720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55598"/>
              <a:buNone/>
            </a:pPr>
            <a:r>
              <a:rPr lang="en-US" sz="2800"/>
              <a:t>Are there any anomalies or extreme outliers that may distort analysis?</a:t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20" name="Google Shape;120;p3"/>
          <p:cNvSpPr txBox="1"/>
          <p:nvPr>
            <p:ph type="ctrTitle"/>
          </p:nvPr>
        </p:nvSpPr>
        <p:spPr>
          <a:xfrm>
            <a:off x="2138680" y="3144519"/>
            <a:ext cx="7889838" cy="2580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</a:pPr>
            <a:r>
              <a:rPr lang="en-US"/>
              <a:t>CLEANING THE DATASET</a:t>
            </a:r>
            <a:endParaRPr/>
          </a:p>
        </p:txBody>
      </p:sp>
      <p:cxnSp>
        <p:nvCxnSpPr>
          <p:cNvPr id="121" name="Google Shape;121;p3"/>
          <p:cNvCxnSpPr/>
          <p:nvPr/>
        </p:nvCxnSpPr>
        <p:spPr>
          <a:xfrm flipH="1">
            <a:off x="29882" y="0"/>
            <a:ext cx="4318598" cy="1337195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" name="Google Shape;122;p3"/>
          <p:cNvCxnSpPr/>
          <p:nvPr/>
        </p:nvCxnSpPr>
        <p:spPr>
          <a:xfrm rot="10800000">
            <a:off x="487595" y="0"/>
            <a:ext cx="1466711" cy="6858000"/>
          </a:xfrm>
          <a:prstGeom prst="straightConnector1">
            <a:avLst/>
          </a:prstGeom>
          <a:noFill/>
          <a:ln cap="flat" cmpd="sng" w="12700">
            <a:solidFill>
              <a:srgbClr val="D5C3C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" name="Google Shape;123;p3"/>
          <p:cNvCxnSpPr/>
          <p:nvPr/>
        </p:nvCxnSpPr>
        <p:spPr>
          <a:xfrm flipH="1">
            <a:off x="6482080" y="4171575"/>
            <a:ext cx="5739800" cy="2686425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" name="Google Shape;124;p3"/>
          <p:cNvCxnSpPr/>
          <p:nvPr/>
        </p:nvCxnSpPr>
        <p:spPr>
          <a:xfrm flipH="1">
            <a:off x="10296432" y="1116305"/>
            <a:ext cx="1895568" cy="5741695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" name="Google Shape;125;p3"/>
          <p:cNvCxnSpPr/>
          <p:nvPr/>
        </p:nvCxnSpPr>
        <p:spPr>
          <a:xfrm rot="10800000">
            <a:off x="8978150" y="4219"/>
            <a:ext cx="3227294" cy="3081499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" name="Google Shape;126;p3"/>
          <p:cNvCxnSpPr/>
          <p:nvPr/>
        </p:nvCxnSpPr>
        <p:spPr>
          <a:xfrm>
            <a:off x="9434056" y="4619"/>
            <a:ext cx="2771388" cy="773883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" name="Google Shape;127;p3"/>
          <p:cNvCxnSpPr/>
          <p:nvPr/>
        </p:nvCxnSpPr>
        <p:spPr>
          <a:xfrm rot="10800000">
            <a:off x="-29880" y="5342966"/>
            <a:ext cx="8964704" cy="1515034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/>
              <a:t>BEFORE ERASING OUTLIERS</a:t>
            </a:r>
            <a:endParaRPr/>
          </a:p>
        </p:txBody>
      </p:sp>
      <p:graphicFrame>
        <p:nvGraphicFramePr>
          <p:cNvPr id="133" name="Google Shape;133;p4"/>
          <p:cNvGraphicFramePr/>
          <p:nvPr/>
        </p:nvGraphicFramePr>
        <p:xfrm>
          <a:off x="2032000" y="19155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{42365AB6-D5EB-46C8-A5AF-423AF209650D}</a:tableStyleId>
              </a:tblPr>
              <a:tblGrid>
                <a:gridCol w="4064000"/>
                <a:gridCol w="4064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Summary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MEDV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Count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506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Mean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22.533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Stddev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9.197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Min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5.0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Max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50.0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34" name="Google Shape;134;p4"/>
          <p:cNvGraphicFramePr/>
          <p:nvPr/>
        </p:nvGraphicFramePr>
        <p:xfrm>
          <a:off x="2032000" y="45741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{42365AB6-D5EB-46C8-A5AF-423AF209650D}</a:tableStyleId>
              </a:tblPr>
              <a:tblGrid>
                <a:gridCol w="4064000"/>
                <a:gridCol w="40640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Skewness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Kurtosis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1.105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1.469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140" name="Google Shape;140;p5"/>
          <p:cNvCxnSpPr/>
          <p:nvPr/>
        </p:nvCxnSpPr>
        <p:spPr>
          <a:xfrm flipH="1" rot="10800000">
            <a:off x="0" y="0"/>
            <a:ext cx="2790967" cy="900753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" name="Google Shape;141;p5"/>
          <p:cNvCxnSpPr/>
          <p:nvPr/>
        </p:nvCxnSpPr>
        <p:spPr>
          <a:xfrm rot="10800000">
            <a:off x="8727743" y="0"/>
            <a:ext cx="3464257" cy="1603612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5"/>
          <p:cNvSpPr txBox="1"/>
          <p:nvPr>
            <p:ph type="title"/>
          </p:nvPr>
        </p:nvSpPr>
        <p:spPr>
          <a:xfrm>
            <a:off x="1143000" y="757238"/>
            <a:ext cx="9710738" cy="1245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/>
              <a:t>CORRELATION &amp; DISTRIBUTION</a:t>
            </a:r>
            <a:endParaRPr/>
          </a:p>
        </p:txBody>
      </p:sp>
      <p:cxnSp>
        <p:nvCxnSpPr>
          <p:cNvPr id="143" name="Google Shape;143;p5"/>
          <p:cNvCxnSpPr/>
          <p:nvPr/>
        </p:nvCxnSpPr>
        <p:spPr>
          <a:xfrm>
            <a:off x="11049000" y="0"/>
            <a:ext cx="1143000" cy="4401403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" name="Google Shape;144;p5"/>
          <p:cNvCxnSpPr/>
          <p:nvPr/>
        </p:nvCxnSpPr>
        <p:spPr>
          <a:xfrm rot="10800000">
            <a:off x="-2065" y="4942445"/>
            <a:ext cx="2533303" cy="1915555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" name="Google Shape;145;p5"/>
          <p:cNvCxnSpPr/>
          <p:nvPr/>
        </p:nvCxnSpPr>
        <p:spPr>
          <a:xfrm rot="10800000">
            <a:off x="0" y="6114197"/>
            <a:ext cx="8441268" cy="743804"/>
          </a:xfrm>
          <a:prstGeom prst="straightConnector1">
            <a:avLst/>
          </a:prstGeom>
          <a:noFill/>
          <a:ln cap="flat" cmpd="sng" w="12700">
            <a:solidFill>
              <a:schemeClr val="accent2">
                <a:alpha val="69411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6" name="Google Shape;1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4586" y="1907310"/>
            <a:ext cx="5004140" cy="4578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2836" y="2671974"/>
            <a:ext cx="4834859" cy="3311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524" y="143901"/>
            <a:ext cx="5880500" cy="3784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 txBox="1"/>
          <p:nvPr>
            <p:ph type="title"/>
          </p:nvPr>
        </p:nvSpPr>
        <p:spPr>
          <a:xfrm>
            <a:off x="7609114" y="533400"/>
            <a:ext cx="3439886" cy="2373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/>
              <a:t>AFTER ERASING OUTLIERS</a:t>
            </a:r>
            <a:endParaRPr/>
          </a:p>
        </p:txBody>
      </p:sp>
      <p:graphicFrame>
        <p:nvGraphicFramePr>
          <p:cNvPr id="154" name="Google Shape;154;p6"/>
          <p:cNvGraphicFramePr/>
          <p:nvPr/>
        </p:nvGraphicFramePr>
        <p:xfrm>
          <a:off x="860286" y="37895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{42365AB6-D5EB-46C8-A5AF-423AF209650D}</a:tableStyleId>
              </a:tblPr>
              <a:tblGrid>
                <a:gridCol w="2983500"/>
                <a:gridCol w="2983500"/>
              </a:tblGrid>
              <a:tr h="25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Summary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MEDV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5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Count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483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5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Mean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22.796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5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Std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9.153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5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5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Max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50.0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5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Skewness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1.11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5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Kurtosis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1.47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ctrTitle"/>
          </p:nvPr>
        </p:nvSpPr>
        <p:spPr>
          <a:xfrm>
            <a:off x="1524000" y="1785257"/>
            <a:ext cx="9144000" cy="936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</a:pPr>
            <a:r>
              <a:rPr lang="en-US" sz="5400"/>
              <a:t>Answer #1 </a:t>
            </a:r>
            <a:endParaRPr sz="5400"/>
          </a:p>
        </p:txBody>
      </p:sp>
      <p:sp>
        <p:nvSpPr>
          <p:cNvPr id="160" name="Google Shape;160;p22"/>
          <p:cNvSpPr txBox="1"/>
          <p:nvPr>
            <p:ph idx="1" type="subTitle"/>
          </p:nvPr>
        </p:nvSpPr>
        <p:spPr>
          <a:xfrm>
            <a:off x="1524000" y="3000830"/>
            <a:ext cx="9144000" cy="1135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50520" lvl="0" marL="45720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55598"/>
              <a:buNone/>
            </a:pPr>
            <a:r>
              <a:rPr lang="en-US" sz="2800"/>
              <a:t>No significant outliers were detected based on Mahalanobis Distance.</a:t>
            </a:r>
            <a:endParaRPr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ctrTitle"/>
          </p:nvPr>
        </p:nvSpPr>
        <p:spPr>
          <a:xfrm>
            <a:off x="1524000" y="1785257"/>
            <a:ext cx="9144000" cy="936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</a:pPr>
            <a:r>
              <a:rPr lang="en-US" sz="5400"/>
              <a:t>Question #2</a:t>
            </a:r>
            <a:endParaRPr sz="5400"/>
          </a:p>
        </p:txBody>
      </p:sp>
      <p:sp>
        <p:nvSpPr>
          <p:cNvPr id="166" name="Google Shape;166;p23"/>
          <p:cNvSpPr txBox="1"/>
          <p:nvPr>
            <p:ph idx="1" type="subTitle"/>
          </p:nvPr>
        </p:nvSpPr>
        <p:spPr>
          <a:xfrm>
            <a:off x="1524000" y="3000830"/>
            <a:ext cx="9144000" cy="1135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0520" lvl="0" marL="45720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</a:pPr>
            <a:r>
              <a:rPr lang="en-US" sz="2800"/>
              <a:t>What factors most influence housing prices in Boston?</a:t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ctrTitle"/>
          </p:nvPr>
        </p:nvSpPr>
        <p:spPr>
          <a:xfrm>
            <a:off x="1524000" y="1785257"/>
            <a:ext cx="9144000" cy="936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</a:pPr>
            <a:r>
              <a:rPr lang="en-US" sz="5400"/>
              <a:t>Question #3 </a:t>
            </a:r>
            <a:endParaRPr sz="5400"/>
          </a:p>
        </p:txBody>
      </p:sp>
      <p:sp>
        <p:nvSpPr>
          <p:cNvPr id="172" name="Google Shape;172;p24"/>
          <p:cNvSpPr txBox="1"/>
          <p:nvPr>
            <p:ph idx="1" type="subTitle"/>
          </p:nvPr>
        </p:nvSpPr>
        <p:spPr>
          <a:xfrm>
            <a:off x="1524000" y="3000830"/>
            <a:ext cx="9144000" cy="1135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50520" lvl="0" marL="45720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55598"/>
              <a:buNone/>
            </a:pPr>
            <a:r>
              <a:rPr lang="en-US" sz="2800"/>
              <a:t>Can we accurately predict house prices using Machine Learning Models?</a:t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>
            <p:ph type="ctrTitle"/>
          </p:nvPr>
        </p:nvSpPr>
        <p:spPr>
          <a:xfrm>
            <a:off x="2138680" y="3144519"/>
            <a:ext cx="7889838" cy="2580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</a:pPr>
            <a:r>
              <a:rPr lang="en-US"/>
              <a:t>PCA SCREE PLOT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en-US"/>
              <a:t>Hybrid Stepwise SELECTION</a:t>
            </a:r>
            <a:endParaRPr/>
          </a:p>
        </p:txBody>
      </p:sp>
      <p:sp>
        <p:nvSpPr>
          <p:cNvPr id="183" name="Google Shape;183;p8"/>
          <p:cNvSpPr txBox="1"/>
          <p:nvPr>
            <p:ph idx="1" type="body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Char char="•"/>
            </a:pPr>
            <a:r>
              <a:rPr lang="en-US"/>
              <a:t>Forward selection (Adding features)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Char char="•"/>
            </a:pPr>
            <a:r>
              <a:rPr lang="en-US"/>
              <a:t>Backward elimination (Removing features)</a:t>
            </a:r>
            <a:endParaRPr/>
          </a:p>
          <a:p>
            <a:pPr indent="-350520" lvl="0" marL="457200" rtl="0" algn="l">
              <a:spcBef>
                <a:spcPts val="1000"/>
              </a:spcBef>
              <a:spcAft>
                <a:spcPts val="0"/>
              </a:spcAft>
              <a:buSzPts val="1920"/>
              <a:buChar char="•"/>
            </a:pPr>
            <a:r>
              <a:rPr lang="en-US"/>
              <a:t>Final model performance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-"/>
            </a:pPr>
            <a:r>
              <a:rPr lang="en-US"/>
              <a:t>R² Score: 0.7406 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-"/>
            </a:pPr>
            <a:r>
              <a:rPr lang="en-US"/>
              <a:t>Adjusted R² Score: 0.7338)</a:t>
            </a:r>
            <a:endParaRPr/>
          </a:p>
          <a:p>
            <a:pPr indent="-106678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</a:pPr>
            <a:r>
              <a:t/>
            </a:r>
            <a:endParaRPr/>
          </a:p>
          <a:p>
            <a:pPr indent="-106678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</a:pPr>
            <a:r>
              <a:rPr lang="en-US" sz="2500"/>
              <a:t>Removed Features:</a:t>
            </a:r>
            <a:endParaRPr sz="2500"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RAD:</a:t>
            </a:r>
            <a:r>
              <a:rPr lang="en-US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index of accessibility to radial highways</a:t>
            </a:r>
            <a:endParaRPr/>
          </a:p>
          <a:p>
            <a:pPr indent="-106679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1321225" y="4834175"/>
            <a:ext cx="366900" cy="4719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3019de173c_0_0"/>
          <p:cNvSpPr txBox="1"/>
          <p:nvPr>
            <p:ph type="title"/>
          </p:nvPr>
        </p:nvSpPr>
        <p:spPr>
          <a:xfrm>
            <a:off x="1143000" y="277151"/>
            <a:ext cx="9906000" cy="13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SCREE PLOT</a:t>
            </a:r>
            <a:endParaRPr/>
          </a:p>
        </p:txBody>
      </p:sp>
      <p:sp>
        <p:nvSpPr>
          <p:cNvPr id="190" name="Google Shape;190;g33019de173c_0_0"/>
          <p:cNvSpPr txBox="1"/>
          <p:nvPr>
            <p:ph idx="1" type="body"/>
          </p:nvPr>
        </p:nvSpPr>
        <p:spPr>
          <a:xfrm>
            <a:off x="0" y="6045003"/>
            <a:ext cx="99060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/>
              <a:t>6 components &gt;= 90% variance</a:t>
            </a:r>
            <a:endParaRPr/>
          </a:p>
        </p:txBody>
      </p:sp>
      <p:pic>
        <p:nvPicPr>
          <p:cNvPr id="191" name="Google Shape;191;g33019de173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3875" y="1327675"/>
            <a:ext cx="6844250" cy="465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type="ctrTitle"/>
          </p:nvPr>
        </p:nvSpPr>
        <p:spPr>
          <a:xfrm>
            <a:off x="2247537" y="2752633"/>
            <a:ext cx="7889838" cy="2580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11111"/>
              <a:buFont typeface="Play"/>
              <a:buNone/>
            </a:pPr>
            <a:r>
              <a:rPr lang="en-US"/>
              <a:t>Linear regression &amp; Hyperparameter Tuning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/>
              <a:t>Best Linear Regression model</a:t>
            </a:r>
            <a:endParaRPr/>
          </a:p>
        </p:txBody>
      </p:sp>
      <p:sp>
        <p:nvSpPr>
          <p:cNvPr id="202" name="Google Shape;202;p26"/>
          <p:cNvSpPr txBox="1"/>
          <p:nvPr>
            <p:ph idx="1" type="body"/>
          </p:nvPr>
        </p:nvSpPr>
        <p:spPr>
          <a:xfrm>
            <a:off x="1143000" y="2009554"/>
            <a:ext cx="3853543" cy="2333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052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Char char="•"/>
            </a:pPr>
            <a:r>
              <a:rPr lang="en-US"/>
              <a:t>Linear Regression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Char char="•"/>
            </a:pPr>
            <a:r>
              <a:rPr lang="en-US"/>
              <a:t>RMSE Evaluator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Char char="•"/>
            </a:pPr>
            <a:r>
              <a:rPr lang="en-US"/>
              <a:t>K-Fold (5 folds)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</a:pPr>
            <a:r>
              <a:t/>
            </a:r>
            <a:endParaRPr/>
          </a:p>
        </p:txBody>
      </p:sp>
      <p:graphicFrame>
        <p:nvGraphicFramePr>
          <p:cNvPr id="203" name="Google Shape;203;p26"/>
          <p:cNvGraphicFramePr/>
          <p:nvPr/>
        </p:nvGraphicFramePr>
        <p:xfrm>
          <a:off x="6158925" y="19155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{42365AB6-D5EB-46C8-A5AF-423AF209650D}</a:tableStyleId>
              </a:tblPr>
              <a:tblGrid>
                <a:gridCol w="2293250"/>
                <a:gridCol w="2293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MEDV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Prediction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5.0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11.10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8.40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7.66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10.40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6.90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10.90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14.28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04" name="Google Shape;204;p26"/>
          <p:cNvSpPr txBox="1"/>
          <p:nvPr/>
        </p:nvSpPr>
        <p:spPr>
          <a:xfrm>
            <a:off x="6158936" y="4014767"/>
            <a:ext cx="2775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RMSE: 4.85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 Score: 0.74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Adjusted R²  Score: 0.68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MAE: 3.50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Actual VS Predicted Values</a:t>
            </a:r>
            <a:endParaRPr/>
          </a:p>
        </p:txBody>
      </p:sp>
      <p:pic>
        <p:nvPicPr>
          <p:cNvPr id="210" name="Google Shape;210;p27"/>
          <p:cNvPicPr preferRelativeResize="0"/>
          <p:nvPr/>
        </p:nvPicPr>
        <p:blipFill rotWithShape="1">
          <a:blip r:embed="rId3">
            <a:alphaModFix/>
          </a:blip>
          <a:srcRect b="0" l="0" r="0" t="6073"/>
          <a:stretch/>
        </p:blipFill>
        <p:spPr>
          <a:xfrm>
            <a:off x="0" y="2013857"/>
            <a:ext cx="12192000" cy="3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/>
          <p:nvPr>
            <p:ph type="ctrTitle"/>
          </p:nvPr>
        </p:nvSpPr>
        <p:spPr>
          <a:xfrm>
            <a:off x="2247537" y="2752633"/>
            <a:ext cx="7889838" cy="2580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</a:pPr>
            <a:r>
              <a:rPr lang="en-US"/>
              <a:t>Random Forest Regressor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title"/>
          </p:nvPr>
        </p:nvSpPr>
        <p:spPr>
          <a:xfrm>
            <a:off x="1143000" y="533401"/>
            <a:ext cx="4778829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 sz="4000"/>
              <a:t>Improved model parameters</a:t>
            </a:r>
            <a:endParaRPr sz="4000"/>
          </a:p>
        </p:txBody>
      </p:sp>
      <p:sp>
        <p:nvSpPr>
          <p:cNvPr id="221" name="Google Shape;221;p29"/>
          <p:cNvSpPr txBox="1"/>
          <p:nvPr>
            <p:ph idx="1" type="body"/>
          </p:nvPr>
        </p:nvSpPr>
        <p:spPr>
          <a:xfrm>
            <a:off x="1143000" y="2009554"/>
            <a:ext cx="4778829" cy="4024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052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Char char="•"/>
            </a:pPr>
            <a:r>
              <a:rPr lang="en-US"/>
              <a:t>Number of trees: 150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Char char="•"/>
            </a:pPr>
            <a:r>
              <a:rPr lang="en-US"/>
              <a:t>Max Depth: 12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Char char="•"/>
            </a:pPr>
            <a:r>
              <a:rPr lang="en-US"/>
              <a:t>Max Bins: 40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Char char="•"/>
            </a:pPr>
            <a:r>
              <a:rPr lang="en-US"/>
              <a:t>Min Instances per Node: 2</a:t>
            </a:r>
            <a:endParaRPr/>
          </a:p>
        </p:txBody>
      </p:sp>
      <p:sp>
        <p:nvSpPr>
          <p:cNvPr id="222" name="Google Shape;222;p29"/>
          <p:cNvSpPr txBox="1"/>
          <p:nvPr/>
        </p:nvSpPr>
        <p:spPr>
          <a:xfrm>
            <a:off x="6270171" y="533401"/>
            <a:ext cx="4778829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"/>
              <a:buNone/>
            </a:pPr>
            <a:r>
              <a:rPr b="0" i="1" lang="en-US" sz="40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Improved model metrics</a:t>
            </a:r>
            <a:endParaRPr b="0" i="1" sz="4000" u="none" cap="none" strike="noStrik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3" name="Google Shape;223;p29"/>
          <p:cNvSpPr txBox="1"/>
          <p:nvPr/>
        </p:nvSpPr>
        <p:spPr>
          <a:xfrm>
            <a:off x="6270170" y="2009554"/>
            <a:ext cx="4778829" cy="4024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052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RMSE 4.03</a:t>
            </a:r>
            <a:endParaRPr/>
          </a:p>
          <a:p>
            <a:pPr indent="-35052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R² Score: 0.82</a:t>
            </a:r>
            <a:endParaRPr/>
          </a:p>
          <a:p>
            <a:pPr indent="-35052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Adjusted R²  Score: 0.80</a:t>
            </a:r>
            <a:endParaRPr/>
          </a:p>
          <a:p>
            <a:pPr indent="-35052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MAE: 2.95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Actual VS Predicted Values</a:t>
            </a:r>
            <a:endParaRPr/>
          </a:p>
        </p:txBody>
      </p:sp>
      <p:pic>
        <p:nvPicPr>
          <p:cNvPr id="229" name="Google Shape;22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15557"/>
            <a:ext cx="11887199" cy="4023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2d8d1e6b27_0_7"/>
          <p:cNvSpPr txBox="1"/>
          <p:nvPr>
            <p:ph type="title"/>
          </p:nvPr>
        </p:nvSpPr>
        <p:spPr>
          <a:xfrm>
            <a:off x="1143000" y="533401"/>
            <a:ext cx="9906000" cy="13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Linear Regression VS Random Forest</a:t>
            </a:r>
            <a:endParaRPr/>
          </a:p>
        </p:txBody>
      </p:sp>
      <p:sp>
        <p:nvSpPr>
          <p:cNvPr id="235" name="Google Shape;235;g32d8d1e6b27_0_7"/>
          <p:cNvSpPr txBox="1"/>
          <p:nvPr/>
        </p:nvSpPr>
        <p:spPr>
          <a:xfrm>
            <a:off x="7067725" y="2220750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RMSE 4.03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R² Score: 0.82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Adjusted R²  Score: 0.80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MAE: 2.95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6" name="Google Shape;236;g32d8d1e6b27_0_7"/>
          <p:cNvSpPr txBox="1"/>
          <p:nvPr/>
        </p:nvSpPr>
        <p:spPr>
          <a:xfrm>
            <a:off x="2097250" y="2220750"/>
            <a:ext cx="3418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RMSE: 4.85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R² Score: 0.74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Adjusted R²  Score: 0.68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MAE: 3.50</a:t>
            </a:r>
            <a:endParaRPr/>
          </a:p>
        </p:txBody>
      </p:sp>
      <p:sp>
        <p:nvSpPr>
          <p:cNvPr id="237" name="Google Shape;237;g32d8d1e6b27_0_7"/>
          <p:cNvSpPr txBox="1"/>
          <p:nvPr/>
        </p:nvSpPr>
        <p:spPr>
          <a:xfrm>
            <a:off x="5084625" y="4460175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RMSE: -16.9%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MAE: - 15.7%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R² Score: 10.8%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Adjusted R² Score: 17.6%</a:t>
            </a:r>
            <a:endParaRPr/>
          </a:p>
        </p:txBody>
      </p:sp>
      <p:sp>
        <p:nvSpPr>
          <p:cNvPr id="238" name="Google Shape;238;g32d8d1e6b27_0_7"/>
          <p:cNvSpPr txBox="1"/>
          <p:nvPr>
            <p:ph type="title"/>
          </p:nvPr>
        </p:nvSpPr>
        <p:spPr>
          <a:xfrm>
            <a:off x="2325000" y="3537075"/>
            <a:ext cx="75420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500"/>
              <a:t>Increment</a:t>
            </a:r>
            <a:endParaRPr sz="3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2db6cc4ba5_0_0"/>
          <p:cNvSpPr txBox="1"/>
          <p:nvPr>
            <p:ph type="title"/>
          </p:nvPr>
        </p:nvSpPr>
        <p:spPr>
          <a:xfrm>
            <a:off x="1143000" y="533401"/>
            <a:ext cx="9906000" cy="13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Linear Regression </a:t>
            </a:r>
            <a:endParaRPr/>
          </a:p>
        </p:txBody>
      </p:sp>
      <p:pic>
        <p:nvPicPr>
          <p:cNvPr id="244" name="Google Shape;244;g32db6cc4ba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7625" y="1915501"/>
            <a:ext cx="5467350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2db6cc4ba5_0_0"/>
          <p:cNvSpPr txBox="1"/>
          <p:nvPr>
            <p:ph idx="1" type="body"/>
          </p:nvPr>
        </p:nvSpPr>
        <p:spPr>
          <a:xfrm>
            <a:off x="1143000" y="2009554"/>
            <a:ext cx="4778700" cy="40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052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20"/>
              <a:buChar char="•"/>
            </a:pPr>
            <a:r>
              <a:rPr lang="en-US"/>
              <a:t>No </a:t>
            </a: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homoscedasticity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•"/>
            </a:pPr>
            <a:r>
              <a:rPr lang="en-US">
                <a:solidFill>
                  <a:srgbClr val="1F1F1F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Independence assumption violated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type="ctrTitle"/>
          </p:nvPr>
        </p:nvSpPr>
        <p:spPr>
          <a:xfrm>
            <a:off x="1524000" y="1785257"/>
            <a:ext cx="9144000" cy="936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</a:pPr>
            <a:r>
              <a:rPr lang="en-US" sz="5400"/>
              <a:t>Answer #2</a:t>
            </a:r>
            <a:endParaRPr sz="5400"/>
          </a:p>
        </p:txBody>
      </p:sp>
      <p:sp>
        <p:nvSpPr>
          <p:cNvPr id="251" name="Google Shape;251;p31"/>
          <p:cNvSpPr txBox="1"/>
          <p:nvPr>
            <p:ph idx="1" type="subTitle"/>
          </p:nvPr>
        </p:nvSpPr>
        <p:spPr>
          <a:xfrm>
            <a:off x="1273628" y="2989944"/>
            <a:ext cx="9644743" cy="3378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50520" lvl="0" marL="45720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55598"/>
              <a:buNone/>
            </a:pPr>
            <a:r>
              <a:rPr lang="en-US" sz="2800" u="sng"/>
              <a:t>Top 5 most influential factors:</a:t>
            </a:r>
            <a:endParaRPr/>
          </a:p>
          <a:p>
            <a:pPr indent="-457200" lvl="0" marL="56388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55598"/>
              <a:buFont typeface="Arial"/>
              <a:buChar char="•"/>
            </a:pPr>
            <a:r>
              <a:rPr b="0" lang="en-US" sz="2800"/>
              <a:t>Per capita crime rate by town (</a:t>
            </a:r>
            <a:r>
              <a:rPr b="0" lang="en-US" sz="2800">
                <a:solidFill>
                  <a:srgbClr val="FF0000"/>
                </a:solidFill>
              </a:rPr>
              <a:t>0.31</a:t>
            </a:r>
            <a:r>
              <a:rPr b="0" lang="en-US" sz="2800"/>
              <a:t>)</a:t>
            </a:r>
            <a:endParaRPr/>
          </a:p>
          <a:p>
            <a:pPr indent="-457200" lvl="0" marL="56388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55598"/>
              <a:buFont typeface="Arial"/>
              <a:buChar char="•"/>
            </a:pPr>
            <a:r>
              <a:rPr b="0" lang="en-US" sz="2800"/>
              <a:t>Proportion of non-retail business acres per town (</a:t>
            </a:r>
            <a:r>
              <a:rPr b="0" lang="en-US" sz="2800">
                <a:solidFill>
                  <a:srgbClr val="FF0000"/>
                </a:solidFill>
              </a:rPr>
              <a:t>0.23</a:t>
            </a:r>
            <a:r>
              <a:rPr b="0" lang="en-US" sz="2800"/>
              <a:t>)</a:t>
            </a:r>
            <a:endParaRPr/>
          </a:p>
          <a:p>
            <a:pPr indent="-457200" lvl="0" marL="56388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55598"/>
              <a:buFont typeface="Arial"/>
              <a:buChar char="•"/>
            </a:pPr>
            <a:r>
              <a:rPr b="0" lang="en-US" sz="2800"/>
              <a:t>Nitric oxides concentration (</a:t>
            </a:r>
            <a:r>
              <a:rPr b="0" lang="en-US" sz="2800">
                <a:solidFill>
                  <a:srgbClr val="FF0000"/>
                </a:solidFill>
              </a:rPr>
              <a:t>0.16</a:t>
            </a:r>
            <a:r>
              <a:rPr b="0" lang="en-US" sz="2800"/>
              <a:t>)</a:t>
            </a:r>
            <a:endParaRPr/>
          </a:p>
          <a:p>
            <a:pPr indent="-457200" lvl="0" marL="56388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55598"/>
              <a:buFont typeface="Arial"/>
              <a:buChar char="•"/>
            </a:pPr>
            <a:r>
              <a:rPr b="0" lang="en-US" sz="2800"/>
              <a:t>Average # of rooms per dwelling (</a:t>
            </a:r>
            <a:r>
              <a:rPr b="0" lang="en-US" sz="2800">
                <a:solidFill>
                  <a:srgbClr val="00FF00"/>
                </a:solidFill>
              </a:rPr>
              <a:t>0.10</a:t>
            </a:r>
            <a:r>
              <a:rPr b="0" lang="en-US" sz="2800"/>
              <a:t>)</a:t>
            </a:r>
            <a:endParaRPr/>
          </a:p>
          <a:p>
            <a:pPr indent="-457200" lvl="0" marL="56388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55598"/>
              <a:buFont typeface="Arial"/>
              <a:buChar char="•"/>
            </a:pPr>
            <a:r>
              <a:rPr b="0" lang="en-US" sz="2800"/>
              <a:t>Proportion of residential zoned for lots over 25K sq.ft (</a:t>
            </a:r>
            <a:r>
              <a:rPr b="0" lang="en-US" sz="2800">
                <a:solidFill>
                  <a:srgbClr val="00FF00"/>
                </a:solidFill>
              </a:rPr>
              <a:t>0.10</a:t>
            </a:r>
            <a:r>
              <a:rPr b="0" lang="en-US" sz="2800"/>
              <a:t>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ctrTitle"/>
          </p:nvPr>
        </p:nvSpPr>
        <p:spPr>
          <a:xfrm>
            <a:off x="1524000" y="1785257"/>
            <a:ext cx="9144000" cy="936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</a:pPr>
            <a:r>
              <a:rPr lang="en-US" sz="5400"/>
              <a:t>Answer #3 </a:t>
            </a:r>
            <a:endParaRPr sz="5400"/>
          </a:p>
        </p:txBody>
      </p:sp>
      <p:sp>
        <p:nvSpPr>
          <p:cNvPr id="257" name="Google Shape;257;p32"/>
          <p:cNvSpPr txBox="1"/>
          <p:nvPr>
            <p:ph idx="1" type="subTitle"/>
          </p:nvPr>
        </p:nvSpPr>
        <p:spPr>
          <a:xfrm>
            <a:off x="1524000" y="3000830"/>
            <a:ext cx="9144000" cy="1135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50520" lvl="0" marL="45720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55598"/>
              <a:buNone/>
            </a:pPr>
            <a:r>
              <a:rPr lang="en-US" sz="2800"/>
              <a:t>Yes, The model achieves high accuracy with an Adjusted R² above 0.75 </a:t>
            </a:r>
            <a:endParaRPr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type="ctrTitle"/>
          </p:nvPr>
        </p:nvSpPr>
        <p:spPr>
          <a:xfrm>
            <a:off x="1524000" y="1785257"/>
            <a:ext cx="9144000" cy="936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</a:pPr>
            <a:r>
              <a:rPr lang="en-US" sz="5400"/>
              <a:t>Question #4 </a:t>
            </a:r>
            <a:endParaRPr sz="5400"/>
          </a:p>
        </p:txBody>
      </p:sp>
      <p:sp>
        <p:nvSpPr>
          <p:cNvPr id="263" name="Google Shape;263;p33"/>
          <p:cNvSpPr txBox="1"/>
          <p:nvPr>
            <p:ph idx="1" type="subTitle"/>
          </p:nvPr>
        </p:nvSpPr>
        <p:spPr>
          <a:xfrm>
            <a:off x="1524000" y="3000830"/>
            <a:ext cx="9144000" cy="1135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50520" lvl="0" marL="45720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55598"/>
              <a:buNone/>
            </a:pPr>
            <a:r>
              <a:rPr lang="en-US" sz="2800"/>
              <a:t>Can we segment neighborhoods into meaningful clusters based on Socio-Economic and Environmental factors?</a:t>
            </a:r>
            <a:endParaRPr sz="2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/>
          <p:nvPr>
            <p:ph type="ctrTitle"/>
          </p:nvPr>
        </p:nvSpPr>
        <p:spPr>
          <a:xfrm>
            <a:off x="2247537" y="2752633"/>
            <a:ext cx="7889838" cy="2580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</a:pPr>
            <a:r>
              <a:rPr lang="en-US"/>
              <a:t>KMeans Clustering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Finding optimal number of clusters</a:t>
            </a:r>
            <a:endParaRPr/>
          </a:p>
        </p:txBody>
      </p:sp>
      <p:pic>
        <p:nvPicPr>
          <p:cNvPr id="274" name="Google Shape;27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2200" y="1598625"/>
            <a:ext cx="5828600" cy="467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5"/>
          <p:cNvSpPr txBox="1"/>
          <p:nvPr/>
        </p:nvSpPr>
        <p:spPr>
          <a:xfrm>
            <a:off x="1048000" y="2759400"/>
            <a:ext cx="3784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Plots within-cluster-sum-of-square WCSS</a:t>
            </a:r>
            <a:endParaRPr sz="15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for each amount of clusters</a:t>
            </a:r>
            <a:endParaRPr sz="15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Find “elbow” for optimal number of clusters</a:t>
            </a:r>
            <a:endParaRPr sz="15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/>
          <p:nvPr>
            <p:ph type="title"/>
          </p:nvPr>
        </p:nvSpPr>
        <p:spPr>
          <a:xfrm>
            <a:off x="1143000" y="533401"/>
            <a:ext cx="4778829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 sz="4000"/>
              <a:t>PCA 2 variables</a:t>
            </a:r>
            <a:endParaRPr sz="4000"/>
          </a:p>
        </p:txBody>
      </p:sp>
      <p:sp>
        <p:nvSpPr>
          <p:cNvPr id="281" name="Google Shape;281;p36"/>
          <p:cNvSpPr txBox="1"/>
          <p:nvPr/>
        </p:nvSpPr>
        <p:spPr>
          <a:xfrm>
            <a:off x="6270171" y="533401"/>
            <a:ext cx="4778829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"/>
              <a:buNone/>
            </a:pPr>
            <a:r>
              <a:rPr b="0" i="1" lang="en-US" sz="40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PCA 3 variables</a:t>
            </a:r>
            <a:endParaRPr b="0" i="1" sz="4000" u="none" cap="none" strike="noStrik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282" name="Google Shape;28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766" y="1713116"/>
            <a:ext cx="5917233" cy="461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9" y="1713116"/>
            <a:ext cx="5303655" cy="461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"/>
          <p:cNvSpPr txBox="1"/>
          <p:nvPr>
            <p:ph type="ctrTitle"/>
          </p:nvPr>
        </p:nvSpPr>
        <p:spPr>
          <a:xfrm>
            <a:off x="1524000" y="1785257"/>
            <a:ext cx="9144000" cy="936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</a:pPr>
            <a:r>
              <a:rPr lang="en-US" sz="5400"/>
              <a:t>Answer #4</a:t>
            </a:r>
            <a:endParaRPr sz="5400"/>
          </a:p>
        </p:txBody>
      </p:sp>
      <p:graphicFrame>
        <p:nvGraphicFramePr>
          <p:cNvPr id="289" name="Google Shape;289;p37"/>
          <p:cNvGraphicFramePr/>
          <p:nvPr/>
        </p:nvGraphicFramePr>
        <p:xfrm>
          <a:off x="778650" y="272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{4382D79E-A378-4D81-A68A-3AA4D053ACBB}</a:tableStyleId>
              </a:tblPr>
              <a:tblGrid>
                <a:gridCol w="753200"/>
                <a:gridCol w="753200"/>
                <a:gridCol w="753200"/>
                <a:gridCol w="753200"/>
                <a:gridCol w="753200"/>
                <a:gridCol w="753200"/>
                <a:gridCol w="753200"/>
                <a:gridCol w="753200"/>
                <a:gridCol w="753200"/>
                <a:gridCol w="753200"/>
                <a:gridCol w="753200"/>
                <a:gridCol w="753200"/>
                <a:gridCol w="753200"/>
                <a:gridCol w="753200"/>
              </a:tblGrid>
              <a:tr h="25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CRIM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ZN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INDUS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CHAS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NOX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RM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AGE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DIS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RAD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TAX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PTRATIO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B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LSTAT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0:13"/>
                      </a:ext>
                    </a:extLst>
                  </a:tcPr>
                </a:tc>
              </a:tr>
              <a:tr h="21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Cluster 0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0.668046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1.87E+00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11.648925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0.112903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0.575753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6.24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83.814516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3.007044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4.677419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332.048387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17.97043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372.765215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13.388763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1:13"/>
                      </a:ext>
                    </a:extLst>
                  </a:tcPr>
                </a:tc>
              </a:tr>
              <a:tr h="21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Cluster 1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12.594989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1.67E-14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18.1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0.064516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0.672629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6.016435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89.808065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2.057778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666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306.383065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18.554758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2:13"/>
                      </a:ext>
                    </a:extLst>
                  </a:tcPr>
                </a:tc>
              </a:tr>
              <a:tr h="212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Cluster 2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0.104925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2.95E+01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5.139945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0.032787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0.446895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6.538437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37.069945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5.899011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4.229508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291.47541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17.645355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389.455628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89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7.397432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  <a:extLst>
                      <a:ext uri="http://customooxmlschemas.google.com/">
                        <go:slidesCustomData xmlns:go="http://customooxmlschemas.google.com/" cellId="289:3:13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290" name="Google Shape;290;p37"/>
          <p:cNvSpPr txBox="1"/>
          <p:nvPr/>
        </p:nvSpPr>
        <p:spPr>
          <a:xfrm>
            <a:off x="778650" y="3667200"/>
            <a:ext cx="10634700" cy="12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050">
                <a:solidFill>
                  <a:srgbClr val="3C4043"/>
                </a:solidFill>
              </a:rPr>
              <a:t>1) </a:t>
            </a:r>
            <a:r>
              <a:rPr b="1" lang="en-US" sz="1050">
                <a:solidFill>
                  <a:srgbClr val="3C4043"/>
                </a:solidFill>
              </a:rPr>
              <a:t>CRIM:</a:t>
            </a:r>
            <a:r>
              <a:rPr lang="en-US" sz="1050">
                <a:solidFill>
                  <a:srgbClr val="3C4043"/>
                </a:solidFill>
              </a:rPr>
              <a:t> per capita crime rate by town</a:t>
            </a:r>
            <a:br>
              <a:rPr lang="en-US" sz="1050">
                <a:solidFill>
                  <a:srgbClr val="3C4043"/>
                </a:solidFill>
              </a:rPr>
            </a:br>
            <a:r>
              <a:rPr lang="en-US" sz="1050">
                <a:solidFill>
                  <a:srgbClr val="3C4043"/>
                </a:solidFill>
              </a:rPr>
              <a:t>3) </a:t>
            </a:r>
            <a:r>
              <a:rPr b="1" lang="en-US" sz="1050">
                <a:solidFill>
                  <a:srgbClr val="3C4043"/>
                </a:solidFill>
              </a:rPr>
              <a:t>INDUS:</a:t>
            </a:r>
            <a:r>
              <a:rPr lang="en-US" sz="1050">
                <a:solidFill>
                  <a:srgbClr val="3C4043"/>
                </a:solidFill>
              </a:rPr>
              <a:t> proportion of non-retail business acres per town</a:t>
            </a:r>
            <a:br>
              <a:rPr lang="en-US" sz="1050">
                <a:solidFill>
                  <a:srgbClr val="3C4043"/>
                </a:solidFill>
              </a:rPr>
            </a:br>
            <a:r>
              <a:rPr lang="en-US" sz="1050">
                <a:solidFill>
                  <a:srgbClr val="3C4043"/>
                </a:solidFill>
              </a:rPr>
              <a:t>5) </a:t>
            </a:r>
            <a:r>
              <a:rPr b="1" lang="en-US" sz="1050">
                <a:solidFill>
                  <a:srgbClr val="3C4043"/>
                </a:solidFill>
              </a:rPr>
              <a:t>NOX:</a:t>
            </a:r>
            <a:r>
              <a:rPr lang="en-US" sz="1050">
                <a:solidFill>
                  <a:srgbClr val="3C4043"/>
                </a:solidFill>
              </a:rPr>
              <a:t> nitric oxides concentration (parts per 10 million) [parts/10M]</a:t>
            </a:r>
            <a:br>
              <a:rPr lang="en-US" sz="1050">
                <a:solidFill>
                  <a:srgbClr val="3C4043"/>
                </a:solidFill>
              </a:rPr>
            </a:br>
            <a:r>
              <a:rPr lang="en-US" sz="1050">
                <a:solidFill>
                  <a:srgbClr val="3C4043"/>
                </a:solidFill>
              </a:rPr>
              <a:t>7) </a:t>
            </a:r>
            <a:r>
              <a:rPr b="1" lang="en-US" sz="1050">
                <a:solidFill>
                  <a:srgbClr val="3C4043"/>
                </a:solidFill>
              </a:rPr>
              <a:t>AGE:</a:t>
            </a:r>
            <a:r>
              <a:rPr lang="en-US" sz="1050">
                <a:solidFill>
                  <a:srgbClr val="3C4043"/>
                </a:solidFill>
              </a:rPr>
              <a:t> proportion of owner-occupied units built prior to 1940</a:t>
            </a:r>
            <a:br>
              <a:rPr lang="en-US" sz="1050">
                <a:solidFill>
                  <a:srgbClr val="3C4043"/>
                </a:solidFill>
              </a:rPr>
            </a:br>
            <a:r>
              <a:rPr lang="en-US" sz="1050">
                <a:solidFill>
                  <a:srgbClr val="3C4043"/>
                </a:solidFill>
              </a:rPr>
              <a:t>8) </a:t>
            </a:r>
            <a:r>
              <a:rPr b="1" lang="en-US" sz="1050">
                <a:solidFill>
                  <a:srgbClr val="3C4043"/>
                </a:solidFill>
              </a:rPr>
              <a:t>DIS:</a:t>
            </a:r>
            <a:r>
              <a:rPr lang="en-US" sz="1050">
                <a:solidFill>
                  <a:srgbClr val="3C4043"/>
                </a:solidFill>
              </a:rPr>
              <a:t> weighted distances to five Boston employment centres</a:t>
            </a:r>
            <a:br>
              <a:rPr lang="en-US" sz="1050">
                <a:solidFill>
                  <a:srgbClr val="3C4043"/>
                </a:solidFill>
              </a:rPr>
            </a:br>
            <a:r>
              <a:rPr lang="en-US" sz="1050">
                <a:solidFill>
                  <a:srgbClr val="3C4043"/>
                </a:solidFill>
              </a:rPr>
              <a:t>12) </a:t>
            </a:r>
            <a:r>
              <a:rPr b="1" lang="en-US" sz="1050">
                <a:solidFill>
                  <a:srgbClr val="3C4043"/>
                </a:solidFill>
              </a:rPr>
              <a:t>LSTAT:</a:t>
            </a:r>
            <a:r>
              <a:rPr lang="en-US" sz="1050">
                <a:solidFill>
                  <a:srgbClr val="3C4043"/>
                </a:solidFill>
              </a:rPr>
              <a:t> % lower status of the population</a:t>
            </a:r>
            <a:endParaRPr/>
          </a:p>
        </p:txBody>
      </p:sp>
      <p:sp>
        <p:nvSpPr>
          <p:cNvPr id="291" name="Google Shape;291;p37"/>
          <p:cNvSpPr txBox="1"/>
          <p:nvPr/>
        </p:nvSpPr>
        <p:spPr>
          <a:xfrm>
            <a:off x="1251050" y="320650"/>
            <a:ext cx="96000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0520" lvl="0" marL="45720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Can we segment neighborhoods into meaningful clusters based on Socio-Economic and Environmental factors?</a:t>
            </a:r>
            <a:endParaRPr b="1" sz="28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8"/>
          <p:cNvSpPr txBox="1"/>
          <p:nvPr>
            <p:ph type="ctrTitle"/>
          </p:nvPr>
        </p:nvSpPr>
        <p:spPr>
          <a:xfrm>
            <a:off x="1524000" y="1785257"/>
            <a:ext cx="9144000" cy="936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</a:pPr>
            <a:r>
              <a:rPr lang="en-US" sz="5400"/>
              <a:t>Question #5 </a:t>
            </a:r>
            <a:endParaRPr sz="5400"/>
          </a:p>
        </p:txBody>
      </p:sp>
      <p:sp>
        <p:nvSpPr>
          <p:cNvPr id="297" name="Google Shape;297;p38"/>
          <p:cNvSpPr txBox="1"/>
          <p:nvPr>
            <p:ph idx="1" type="subTitle"/>
          </p:nvPr>
        </p:nvSpPr>
        <p:spPr>
          <a:xfrm>
            <a:off x="1524000" y="3000830"/>
            <a:ext cx="9144000" cy="1135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0520" lvl="0" marL="45720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</a:pPr>
            <a:r>
              <a:rPr lang="en-US" sz="2800"/>
              <a:t>How do different features correlate with house prices?</a:t>
            </a:r>
            <a:endParaRPr sz="2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6700" y="1325225"/>
            <a:ext cx="3230775" cy="25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9"/>
          <p:cNvSpPr txBox="1"/>
          <p:nvPr>
            <p:ph type="title"/>
          </p:nvPr>
        </p:nvSpPr>
        <p:spPr>
          <a:xfrm>
            <a:off x="443293" y="-222475"/>
            <a:ext cx="9906000" cy="13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/>
              <a:t>Visual Correlations</a:t>
            </a:r>
            <a:endParaRPr/>
          </a:p>
        </p:txBody>
      </p:sp>
      <p:pic>
        <p:nvPicPr>
          <p:cNvPr id="304" name="Google Shape;30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225" y="2424501"/>
            <a:ext cx="3171900" cy="252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7650" y="3056425"/>
            <a:ext cx="3231711" cy="252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48825" y="4581375"/>
            <a:ext cx="3106550" cy="23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9"/>
          <p:cNvSpPr txBox="1"/>
          <p:nvPr>
            <p:ph type="title"/>
          </p:nvPr>
        </p:nvSpPr>
        <p:spPr>
          <a:xfrm>
            <a:off x="1411000" y="1658950"/>
            <a:ext cx="22470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 sz="2700"/>
              <a:t>1. Crime Rate</a:t>
            </a:r>
            <a:endParaRPr sz="2700"/>
          </a:p>
        </p:txBody>
      </p:sp>
      <p:sp>
        <p:nvSpPr>
          <p:cNvPr id="308" name="Google Shape;308;p39"/>
          <p:cNvSpPr txBox="1"/>
          <p:nvPr/>
        </p:nvSpPr>
        <p:spPr>
          <a:xfrm>
            <a:off x="3778643" y="396538"/>
            <a:ext cx="4778700" cy="13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"/>
              <a:buNone/>
            </a:pPr>
            <a:r>
              <a:rPr i="1" lang="en-US" sz="27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r>
              <a:rPr b="0" i="1" lang="en-US" sz="27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. Socio-Economic Factors</a:t>
            </a:r>
            <a:endParaRPr b="0" i="1" sz="2700" u="none" cap="none" strike="noStrik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09" name="Google Shape;309;p39"/>
          <p:cNvSpPr txBox="1"/>
          <p:nvPr/>
        </p:nvSpPr>
        <p:spPr>
          <a:xfrm>
            <a:off x="4662137" y="3732199"/>
            <a:ext cx="2563500" cy="12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"/>
              <a:buNone/>
            </a:pPr>
            <a:r>
              <a:rPr b="0" i="1" lang="en-US" sz="27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3. Accessibility</a:t>
            </a:r>
            <a:endParaRPr b="0" i="1" sz="2700" u="none" cap="none" strike="noStrik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10" name="Google Shape;310;p39"/>
          <p:cNvSpPr txBox="1"/>
          <p:nvPr/>
        </p:nvSpPr>
        <p:spPr>
          <a:xfrm>
            <a:off x="8423896" y="1967826"/>
            <a:ext cx="4778700" cy="13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"/>
              <a:buNone/>
            </a:pPr>
            <a:r>
              <a:rPr i="1" lang="en-US" sz="27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4</a:t>
            </a:r>
            <a:r>
              <a:rPr b="0" i="1" lang="en-US" sz="27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. Pollution</a:t>
            </a:r>
            <a:endParaRPr b="0" i="1" sz="2700" u="none" cap="none" strike="noStrik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11" name="Google Shape;311;p39"/>
          <p:cNvSpPr txBox="1"/>
          <p:nvPr/>
        </p:nvSpPr>
        <p:spPr>
          <a:xfrm>
            <a:off x="7460025" y="5850250"/>
            <a:ext cx="30000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US" sz="1050">
                <a:solidFill>
                  <a:srgbClr val="3C4043"/>
                </a:solidFill>
              </a:rPr>
              <a:t>DIS:</a:t>
            </a:r>
            <a:r>
              <a:rPr lang="en-US" sz="1050">
                <a:solidFill>
                  <a:srgbClr val="3C4043"/>
                </a:solidFill>
              </a:rPr>
              <a:t> weighted distances to five Boston employment centres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6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House prices for each cluster</a:t>
            </a:r>
            <a:endParaRPr/>
          </a:p>
        </p:txBody>
      </p:sp>
      <p:pic>
        <p:nvPicPr>
          <p:cNvPr id="317" name="Google Shape;317;p46"/>
          <p:cNvPicPr preferRelativeResize="0"/>
          <p:nvPr/>
        </p:nvPicPr>
        <p:blipFill rotWithShape="1">
          <a:blip r:embed="rId3">
            <a:alphaModFix/>
          </a:blip>
          <a:srcRect b="0" l="0" r="0" t="6480"/>
          <a:stretch/>
        </p:blipFill>
        <p:spPr>
          <a:xfrm>
            <a:off x="3082017" y="1915557"/>
            <a:ext cx="5778954" cy="4375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 txBox="1"/>
          <p:nvPr>
            <p:ph type="ctrTitle"/>
          </p:nvPr>
        </p:nvSpPr>
        <p:spPr>
          <a:xfrm>
            <a:off x="1524000" y="1785257"/>
            <a:ext cx="9144000" cy="936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</a:pPr>
            <a:r>
              <a:rPr lang="en-US" sz="5400"/>
              <a:t>Question #6</a:t>
            </a:r>
            <a:endParaRPr sz="5400"/>
          </a:p>
        </p:txBody>
      </p:sp>
      <p:sp>
        <p:nvSpPr>
          <p:cNvPr id="323" name="Google Shape;323;p42"/>
          <p:cNvSpPr txBox="1"/>
          <p:nvPr>
            <p:ph idx="1" type="subTitle"/>
          </p:nvPr>
        </p:nvSpPr>
        <p:spPr>
          <a:xfrm>
            <a:off x="1524000" y="3000830"/>
            <a:ext cx="9144000" cy="1135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50520" lvl="0" marL="45720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55598"/>
              <a:buNone/>
            </a:pPr>
            <a:r>
              <a:rPr lang="en-US" sz="2800"/>
              <a:t>How can policymakers use data to improve housing conditions in underdeveloped neighborhoods? </a:t>
            </a:r>
            <a:endParaRPr sz="2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4"/>
          <p:cNvSpPr txBox="1"/>
          <p:nvPr>
            <p:ph type="title"/>
          </p:nvPr>
        </p:nvSpPr>
        <p:spPr>
          <a:xfrm>
            <a:off x="836614" y="1676400"/>
            <a:ext cx="2886302" cy="5769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11111"/>
              <a:buFont typeface="Play"/>
              <a:buNone/>
            </a:pPr>
            <a:r>
              <a:rPr lang="en-US"/>
              <a:t>Cluster 1 – Low-income</a:t>
            </a:r>
            <a:endParaRPr/>
          </a:p>
        </p:txBody>
      </p:sp>
      <p:sp>
        <p:nvSpPr>
          <p:cNvPr id="329" name="Google Shape;329;p44"/>
          <p:cNvSpPr txBox="1"/>
          <p:nvPr>
            <p:ph idx="2" type="body"/>
          </p:nvPr>
        </p:nvSpPr>
        <p:spPr>
          <a:xfrm>
            <a:off x="836613" y="2438400"/>
            <a:ext cx="288630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Arial"/>
              <a:buChar char="•"/>
            </a:pPr>
            <a:r>
              <a:rPr lang="en-US"/>
              <a:t>Crime Rate: Very High </a:t>
            </a:r>
            <a:r>
              <a:rPr b="1" lang="en-US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(12.59)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Arial"/>
              <a:buChar char="•"/>
            </a:pPr>
            <a:r>
              <a:rPr lang="en-US"/>
              <a:t>Industrial Proportion: High</a:t>
            </a: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-US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(18.1)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Arial"/>
              <a:buChar char="•"/>
            </a:pPr>
            <a:r>
              <a:rPr lang="en-US"/>
              <a:t>Nitric Oxides: High </a:t>
            </a:r>
            <a:r>
              <a:rPr b="1" lang="en-US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(0.67)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Arial"/>
              <a:buChar char="•"/>
            </a:pPr>
            <a:r>
              <a:rPr lang="en-US"/>
              <a:t>Rooms: Small </a:t>
            </a:r>
            <a:r>
              <a:rPr b="1" lang="en-US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(6.01)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5143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Arial"/>
              <a:buChar char="•"/>
            </a:pPr>
            <a:r>
              <a:rPr lang="en-US"/>
              <a:t>Residential Land Zoned: Zero</a:t>
            </a:r>
            <a:endParaRPr/>
          </a:p>
        </p:txBody>
      </p:sp>
      <p:sp>
        <p:nvSpPr>
          <p:cNvPr id="330" name="Google Shape;330;p44"/>
          <p:cNvSpPr txBox="1"/>
          <p:nvPr/>
        </p:nvSpPr>
        <p:spPr>
          <a:xfrm>
            <a:off x="4652849" y="1045029"/>
            <a:ext cx="2886302" cy="1208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</a:pPr>
            <a:r>
              <a:rPr b="0" i="1" lang="en-US" sz="29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Cluster 2 - Wealthy </a:t>
            </a:r>
            <a:endParaRPr b="0" i="1" sz="2900" u="none" cap="none" strike="noStrik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31" name="Google Shape;331;p44"/>
          <p:cNvSpPr txBox="1"/>
          <p:nvPr/>
        </p:nvSpPr>
        <p:spPr>
          <a:xfrm>
            <a:off x="4652849" y="2438400"/>
            <a:ext cx="288630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514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Crime Rate: Very Low </a:t>
            </a:r>
            <a:r>
              <a:rPr b="1" i="0" lang="en-US" sz="1600" u="none" cap="none" strike="noStrike">
                <a:solidFill>
                  <a:srgbClr val="00FF00"/>
                </a:solidFill>
                <a:latin typeface="Open Sans"/>
                <a:ea typeface="Open Sans"/>
                <a:cs typeface="Open Sans"/>
                <a:sym typeface="Open Sans"/>
              </a:rPr>
              <a:t>(0.10)</a:t>
            </a:r>
            <a:endParaRPr b="1">
              <a:solidFill>
                <a:srgbClr val="00FF00"/>
              </a:solidFill>
            </a:endParaRPr>
          </a:p>
          <a:p>
            <a:pPr indent="-285750" lvl="0" marL="514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Industrial Proportion: Low </a:t>
            </a:r>
            <a:r>
              <a:rPr b="1" i="0" lang="en-US" sz="1600" u="none" cap="none" strike="noStrike">
                <a:solidFill>
                  <a:srgbClr val="00FF00"/>
                </a:solidFill>
                <a:latin typeface="Open Sans"/>
                <a:ea typeface="Open Sans"/>
                <a:cs typeface="Open Sans"/>
                <a:sym typeface="Open Sans"/>
              </a:rPr>
              <a:t>(5.14)</a:t>
            </a:r>
            <a:endParaRPr b="1">
              <a:solidFill>
                <a:srgbClr val="00FF00"/>
              </a:solidFill>
            </a:endParaRPr>
          </a:p>
          <a:p>
            <a:pPr indent="-285750" lvl="0" marL="514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Nitric Oxides: Low </a:t>
            </a:r>
            <a:r>
              <a:rPr b="1" i="0" lang="en-US" sz="1600" u="none" cap="none" strike="noStrike">
                <a:solidFill>
                  <a:srgbClr val="00FF00"/>
                </a:solidFill>
                <a:latin typeface="Open Sans"/>
                <a:ea typeface="Open Sans"/>
                <a:cs typeface="Open Sans"/>
                <a:sym typeface="Open Sans"/>
              </a:rPr>
              <a:t>(0.44)</a:t>
            </a:r>
            <a:endParaRPr b="1">
              <a:solidFill>
                <a:srgbClr val="00FF00"/>
              </a:solidFill>
            </a:endParaRPr>
          </a:p>
          <a:p>
            <a:pPr indent="-285750" lvl="0" marL="514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Rooms: Large </a:t>
            </a:r>
            <a:r>
              <a:rPr b="1" i="0" lang="en-US" sz="1600" u="none" cap="none" strike="noStrike">
                <a:solidFill>
                  <a:srgbClr val="00FF00"/>
                </a:solidFill>
                <a:latin typeface="Open Sans"/>
                <a:ea typeface="Open Sans"/>
                <a:cs typeface="Open Sans"/>
                <a:sym typeface="Open Sans"/>
              </a:rPr>
              <a:t>(6.54)</a:t>
            </a:r>
            <a:endParaRPr b="1">
              <a:solidFill>
                <a:srgbClr val="00FF00"/>
              </a:solidFill>
            </a:endParaRPr>
          </a:p>
          <a:p>
            <a:pPr indent="-285750" lvl="0" marL="514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Residential Land Zoned: High </a:t>
            </a:r>
            <a:r>
              <a:rPr b="1" i="0" lang="en-US" sz="1600" u="none" cap="none" strike="noStrike">
                <a:solidFill>
                  <a:srgbClr val="00FF00"/>
                </a:solidFill>
                <a:latin typeface="Open Sans"/>
                <a:ea typeface="Open Sans"/>
                <a:cs typeface="Open Sans"/>
                <a:sym typeface="Open Sans"/>
              </a:rPr>
              <a:t>(29.52)</a:t>
            </a:r>
            <a:endParaRPr b="1">
              <a:solidFill>
                <a:srgbClr val="00FF00"/>
              </a:solidFill>
            </a:endParaRPr>
          </a:p>
        </p:txBody>
      </p:sp>
      <p:sp>
        <p:nvSpPr>
          <p:cNvPr id="332" name="Google Shape;332;p44"/>
          <p:cNvSpPr txBox="1"/>
          <p:nvPr/>
        </p:nvSpPr>
        <p:spPr>
          <a:xfrm>
            <a:off x="8469084" y="1045029"/>
            <a:ext cx="3581402" cy="12409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2564"/>
              <a:buFont typeface="Play"/>
              <a:buNone/>
            </a:pPr>
            <a:r>
              <a:rPr b="0" i="1" lang="en-US" sz="3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Cluster 0 – Middle Class </a:t>
            </a:r>
            <a:endParaRPr b="0" i="1" sz="3200" u="none" cap="none" strike="noStrik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33" name="Google Shape;333;p44"/>
          <p:cNvSpPr txBox="1"/>
          <p:nvPr/>
        </p:nvSpPr>
        <p:spPr>
          <a:xfrm>
            <a:off x="8469084" y="2438400"/>
            <a:ext cx="288630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514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Crime Rate: Moderate </a:t>
            </a:r>
            <a:r>
              <a:rPr b="1" i="0" lang="en-US" sz="1600" u="none" cap="none" strike="noStrike">
                <a:solidFill>
                  <a:srgbClr val="F1C232"/>
                </a:solidFill>
                <a:latin typeface="Open Sans"/>
                <a:ea typeface="Open Sans"/>
                <a:cs typeface="Open Sans"/>
                <a:sym typeface="Open Sans"/>
              </a:rPr>
              <a:t>(0.66)</a:t>
            </a:r>
            <a:endParaRPr b="1">
              <a:solidFill>
                <a:srgbClr val="F1C232"/>
              </a:solidFill>
            </a:endParaRPr>
          </a:p>
          <a:p>
            <a:pPr indent="-285750" lvl="0" marL="514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Industrial Proportion: Moderate </a:t>
            </a:r>
            <a:r>
              <a:rPr b="1" i="0" lang="en-US" sz="1600" u="none" cap="none" strike="noStrike">
                <a:solidFill>
                  <a:srgbClr val="F1C232"/>
                </a:solidFill>
                <a:latin typeface="Open Sans"/>
                <a:ea typeface="Open Sans"/>
                <a:cs typeface="Open Sans"/>
                <a:sym typeface="Open Sans"/>
              </a:rPr>
              <a:t>(11.65)</a:t>
            </a:r>
            <a:endParaRPr b="1">
              <a:solidFill>
                <a:srgbClr val="F1C232"/>
              </a:solidFill>
            </a:endParaRPr>
          </a:p>
          <a:p>
            <a:pPr indent="-285750" lvl="0" marL="514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Nitric Oxides: Moderate </a:t>
            </a:r>
            <a:r>
              <a:rPr b="1" lang="en-US" sz="1600">
                <a:solidFill>
                  <a:srgbClr val="F1C232"/>
                </a:solidFill>
                <a:latin typeface="Open Sans"/>
                <a:ea typeface="Open Sans"/>
                <a:cs typeface="Open Sans"/>
                <a:sym typeface="Open Sans"/>
              </a:rPr>
              <a:t>(0.57)</a:t>
            </a:r>
            <a:endParaRPr>
              <a:solidFill>
                <a:srgbClr val="F1C232"/>
              </a:solidFill>
            </a:endParaRPr>
          </a:p>
          <a:p>
            <a:pPr indent="-285750" lvl="0" marL="514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Rooms: Medium-Sized </a:t>
            </a:r>
            <a:r>
              <a:rPr b="1" i="0" lang="en-US" sz="1600" u="none" cap="none" strike="noStrike">
                <a:solidFill>
                  <a:srgbClr val="F1C232"/>
                </a:solidFill>
                <a:latin typeface="Open Sans"/>
                <a:ea typeface="Open Sans"/>
                <a:cs typeface="Open Sans"/>
                <a:sym typeface="Open Sans"/>
              </a:rPr>
              <a:t>(6.24)</a:t>
            </a:r>
            <a:endParaRPr b="1">
              <a:solidFill>
                <a:srgbClr val="F1C232"/>
              </a:solidFill>
            </a:endParaRPr>
          </a:p>
          <a:p>
            <a:pPr indent="-285750" lvl="0" marL="5143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Residential</a:t>
            </a:r>
            <a:r>
              <a:rPr b="0" i="0" lang="en-US" sz="16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Land Zoned: Very low </a:t>
            </a:r>
            <a:r>
              <a:rPr b="1" lang="en-US" sz="1600">
                <a:solidFill>
                  <a:srgbClr val="F1C232"/>
                </a:solidFill>
                <a:latin typeface="Open Sans"/>
                <a:ea typeface="Open Sans"/>
                <a:cs typeface="Open Sans"/>
                <a:sym typeface="Open Sans"/>
              </a:rPr>
              <a:t>(1.87)</a:t>
            </a:r>
            <a:endParaRPr>
              <a:solidFill>
                <a:srgbClr val="F1C23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7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/>
              <a:t>Insights from analysis &amp; Recommendations</a:t>
            </a:r>
            <a:endParaRPr/>
          </a:p>
        </p:txBody>
      </p:sp>
      <p:sp>
        <p:nvSpPr>
          <p:cNvPr id="339" name="Google Shape;339;p47"/>
          <p:cNvSpPr txBox="1"/>
          <p:nvPr>
            <p:ph idx="1" type="body"/>
          </p:nvPr>
        </p:nvSpPr>
        <p:spPr>
          <a:xfrm>
            <a:off x="1143000" y="2009553"/>
            <a:ext cx="9906000" cy="4315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6679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b="1" lang="en-US" u="sng"/>
              <a:t>1. Crime rate: </a:t>
            </a:r>
            <a:r>
              <a:rPr lang="en-US"/>
              <a:t>Higher crime rates leads to lower house prices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Open Sans Light"/>
              <a:buChar char="-"/>
            </a:pPr>
            <a:r>
              <a:rPr lang="en-US"/>
              <a:t>Invest in public safety programs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Open Sans Light"/>
              <a:buChar char="-"/>
            </a:pPr>
            <a:r>
              <a:rPr lang="en-US"/>
              <a:t>Establish neighborhood watch programs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Open Sans Light"/>
              <a:buChar char="-"/>
            </a:pPr>
            <a:r>
              <a:rPr lang="en-US"/>
              <a:t>Invest in youth programs</a:t>
            </a:r>
            <a:endParaRPr/>
          </a:p>
          <a:p>
            <a:pPr indent="0" lvl="0" marL="106679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b="1" lang="en-US" u="sng"/>
              <a:t>2. High pollution levels:</a:t>
            </a:r>
            <a:r>
              <a:rPr lang="en-US" u="sng"/>
              <a:t> </a:t>
            </a:r>
            <a:r>
              <a:rPr lang="en-US"/>
              <a:t>Pollution impacts housing conditions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Open Sans Light"/>
              <a:buChar char="-"/>
            </a:pPr>
            <a:r>
              <a:rPr lang="en-US"/>
              <a:t>Implement pollution control measures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Open Sans Light"/>
              <a:buChar char="-"/>
            </a:pPr>
            <a:r>
              <a:rPr lang="en-US"/>
              <a:t>Increase and protect green spaces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Open Sans Light"/>
              <a:buChar char="-"/>
            </a:pPr>
            <a:r>
              <a:rPr lang="en-US"/>
              <a:t>Promote clean energy in industrial zones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8"/>
          <p:cNvSpPr txBox="1"/>
          <p:nvPr>
            <p:ph type="title"/>
          </p:nvPr>
        </p:nvSpPr>
        <p:spPr>
          <a:xfrm>
            <a:off x="1143000" y="315687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/>
              <a:t>Insights from analysis &amp; Recommendations</a:t>
            </a:r>
            <a:endParaRPr/>
          </a:p>
        </p:txBody>
      </p:sp>
      <p:sp>
        <p:nvSpPr>
          <p:cNvPr id="345" name="Google Shape;345;p48"/>
          <p:cNvSpPr txBox="1"/>
          <p:nvPr>
            <p:ph idx="1" type="body"/>
          </p:nvPr>
        </p:nvSpPr>
        <p:spPr>
          <a:xfrm>
            <a:off x="1143000" y="1770066"/>
            <a:ext cx="9906000" cy="47722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06679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6486"/>
              <a:buNone/>
            </a:pPr>
            <a:r>
              <a:rPr b="1" lang="en-US" u="sng"/>
              <a:t>3. Accessibility: </a:t>
            </a:r>
            <a:r>
              <a:rPr lang="en-US"/>
              <a:t>Poor accessibility affects housing desirability.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6486"/>
              <a:buFont typeface="Open Sans Light"/>
              <a:buChar char="-"/>
            </a:pPr>
            <a:r>
              <a:rPr lang="en-US"/>
              <a:t>Improve public transportation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6486"/>
              <a:buFont typeface="Open Sans Light"/>
              <a:buChar char="-"/>
            </a:pPr>
            <a:r>
              <a:rPr lang="en-US"/>
              <a:t>Reduce local property tax 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6486"/>
              <a:buFont typeface="Open Sans Light"/>
              <a:buChar char="-"/>
            </a:pPr>
            <a:r>
              <a:rPr lang="en-US"/>
              <a:t>Invest in infrastructure</a:t>
            </a:r>
            <a:endParaRPr/>
          </a:p>
          <a:p>
            <a:pPr indent="0" lvl="0" marL="106679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6486"/>
              <a:buNone/>
            </a:pPr>
            <a:r>
              <a:rPr b="1" lang="en-US" u="sng"/>
              <a:t>4. Socio-Economic Barriers: </a:t>
            </a:r>
            <a:r>
              <a:rPr lang="en-US"/>
              <a:t>Lower-Status population correlates to lower house prices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6486"/>
              <a:buFont typeface="Open Sans Light"/>
              <a:buChar char="-"/>
            </a:pPr>
            <a:r>
              <a:rPr lang="en-US"/>
              <a:t>Invest in educational programs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6486"/>
              <a:buFont typeface="Open Sans Light"/>
              <a:buChar char="-"/>
            </a:pPr>
            <a:r>
              <a:rPr lang="en-US"/>
              <a:t>Develop job training and employment initiatives</a:t>
            </a:r>
            <a:endParaRPr/>
          </a:p>
          <a:p>
            <a:pPr indent="0" lvl="0" marL="106679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6486"/>
              <a:buNone/>
            </a:pPr>
            <a:r>
              <a:rPr b="1" lang="en-US" u="sng"/>
              <a:t>5. Underdeveloped housing features: </a:t>
            </a:r>
            <a:r>
              <a:rPr lang="en-US"/>
              <a:t>Fewer rooms lead to lower house prices</a:t>
            </a:r>
            <a:endParaRPr/>
          </a:p>
          <a:p>
            <a:pPr indent="0" lvl="0" marL="106679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6486"/>
              <a:buNone/>
            </a:pPr>
            <a:r>
              <a:rPr lang="en-US"/>
              <a:t>- Provide low interest loans for home improvements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9"/>
          <p:cNvSpPr txBox="1"/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/>
              <a:t>Targeted Focus</a:t>
            </a:r>
            <a:endParaRPr/>
          </a:p>
        </p:txBody>
      </p:sp>
      <p:grpSp>
        <p:nvGrpSpPr>
          <p:cNvPr id="351" name="Google Shape;351;p49"/>
          <p:cNvGrpSpPr/>
          <p:nvPr/>
        </p:nvGrpSpPr>
        <p:grpSpPr>
          <a:xfrm>
            <a:off x="1143000" y="1868940"/>
            <a:ext cx="9905999" cy="1857375"/>
            <a:chOff x="0" y="489505"/>
            <a:chExt cx="9905999" cy="1857375"/>
          </a:xfrm>
        </p:grpSpPr>
        <p:sp>
          <p:nvSpPr>
            <p:cNvPr id="352" name="Google Shape;352;p49"/>
            <p:cNvSpPr/>
            <p:nvPr/>
          </p:nvSpPr>
          <p:spPr>
            <a:xfrm>
              <a:off x="0" y="489505"/>
              <a:ext cx="3095624" cy="1857375"/>
            </a:xfrm>
            <a:prstGeom prst="rect">
              <a:avLst/>
            </a:prstGeom>
            <a:solidFill>
              <a:srgbClr val="A5772E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49"/>
            <p:cNvSpPr txBox="1"/>
            <p:nvPr/>
          </p:nvSpPr>
          <p:spPr>
            <a:xfrm>
              <a:off x="0" y="489505"/>
              <a:ext cx="3095624" cy="1857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0950" lIns="140950" spcFirstLastPara="1" rIns="140950" wrap="square" tIns="14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00"/>
                <a:buFont typeface="Arial"/>
                <a:buNone/>
              </a:pPr>
              <a:r>
                <a:rPr b="0" i="0" lang="en-US" sz="3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Real Estate Investment</a:t>
              </a:r>
              <a:endParaRPr/>
            </a:p>
          </p:txBody>
        </p:sp>
        <p:sp>
          <p:nvSpPr>
            <p:cNvPr id="354" name="Google Shape;354;p49"/>
            <p:cNvSpPr/>
            <p:nvPr/>
          </p:nvSpPr>
          <p:spPr>
            <a:xfrm>
              <a:off x="3405187" y="489505"/>
              <a:ext cx="3095624" cy="1857375"/>
            </a:xfrm>
            <a:prstGeom prst="rect">
              <a:avLst/>
            </a:prstGeom>
            <a:solidFill>
              <a:srgbClr val="A5772E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9"/>
            <p:cNvSpPr txBox="1"/>
            <p:nvPr/>
          </p:nvSpPr>
          <p:spPr>
            <a:xfrm>
              <a:off x="3405187" y="489505"/>
              <a:ext cx="3095624" cy="1857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0950" lIns="140950" spcFirstLastPara="1" rIns="140950" wrap="square" tIns="14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00"/>
                <a:buFont typeface="Arial"/>
                <a:buNone/>
              </a:pPr>
              <a:r>
                <a:rPr b="0" i="0" lang="en-US" sz="3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Urban Planning</a:t>
              </a:r>
              <a:endParaRPr/>
            </a:p>
          </p:txBody>
        </p:sp>
        <p:sp>
          <p:nvSpPr>
            <p:cNvPr id="356" name="Google Shape;356;p49"/>
            <p:cNvSpPr/>
            <p:nvPr/>
          </p:nvSpPr>
          <p:spPr>
            <a:xfrm>
              <a:off x="6810375" y="489505"/>
              <a:ext cx="3095624" cy="1857375"/>
            </a:xfrm>
            <a:prstGeom prst="rect">
              <a:avLst/>
            </a:prstGeom>
            <a:solidFill>
              <a:srgbClr val="A5772E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9"/>
            <p:cNvSpPr txBox="1"/>
            <p:nvPr/>
          </p:nvSpPr>
          <p:spPr>
            <a:xfrm>
              <a:off x="6810375" y="489505"/>
              <a:ext cx="3095624" cy="1857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0950" lIns="140950" spcFirstLastPara="1" rIns="140950" wrap="square" tIns="14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00"/>
                <a:buFont typeface="Arial"/>
                <a:buNone/>
              </a:pPr>
              <a:r>
                <a:rPr b="0" i="0" lang="en-US" sz="3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Policy Development</a:t>
              </a:r>
              <a:endParaRPr b="0" i="0" sz="3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p49"/>
          <p:cNvGrpSpPr/>
          <p:nvPr/>
        </p:nvGrpSpPr>
        <p:grpSpPr>
          <a:xfrm>
            <a:off x="1143000" y="4330798"/>
            <a:ext cx="9905999" cy="1857375"/>
            <a:chOff x="0" y="270427"/>
            <a:chExt cx="9905999" cy="1857375"/>
          </a:xfrm>
        </p:grpSpPr>
        <p:sp>
          <p:nvSpPr>
            <p:cNvPr id="359" name="Google Shape;359;p49"/>
            <p:cNvSpPr/>
            <p:nvPr/>
          </p:nvSpPr>
          <p:spPr>
            <a:xfrm>
              <a:off x="0" y="270427"/>
              <a:ext cx="3095624" cy="1857375"/>
            </a:xfrm>
            <a:prstGeom prst="rect">
              <a:avLst/>
            </a:prstGeom>
            <a:gradFill>
              <a:gsLst>
                <a:gs pos="0">
                  <a:srgbClr val="F4C7A0"/>
                </a:gs>
                <a:gs pos="35000">
                  <a:srgbClr val="F6D8BC"/>
                </a:gs>
                <a:gs pos="100000">
                  <a:srgbClr val="FCEEE4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49"/>
            <p:cNvSpPr txBox="1"/>
            <p:nvPr/>
          </p:nvSpPr>
          <p:spPr>
            <a:xfrm>
              <a:off x="0" y="270427"/>
              <a:ext cx="3095624" cy="1857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Focus on Cluster 2 or 0 for stable Investments</a:t>
              </a:r>
              <a:endParaRPr/>
            </a:p>
          </p:txBody>
        </p:sp>
        <p:sp>
          <p:nvSpPr>
            <p:cNvPr id="361" name="Google Shape;361;p49"/>
            <p:cNvSpPr/>
            <p:nvPr/>
          </p:nvSpPr>
          <p:spPr>
            <a:xfrm>
              <a:off x="3405187" y="270427"/>
              <a:ext cx="3095624" cy="1857375"/>
            </a:xfrm>
            <a:prstGeom prst="rect">
              <a:avLst/>
            </a:prstGeom>
            <a:gradFill>
              <a:gsLst>
                <a:gs pos="0">
                  <a:srgbClr val="F4C7A0"/>
                </a:gs>
                <a:gs pos="35000">
                  <a:srgbClr val="F6D8BC"/>
                </a:gs>
                <a:gs pos="100000">
                  <a:srgbClr val="FCEEE4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49"/>
            <p:cNvSpPr txBox="1"/>
            <p:nvPr/>
          </p:nvSpPr>
          <p:spPr>
            <a:xfrm>
              <a:off x="3405187" y="270427"/>
              <a:ext cx="3095624" cy="1857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Address main issues for Cluster 1</a:t>
              </a:r>
              <a:endParaRPr/>
            </a:p>
          </p:txBody>
        </p:sp>
        <p:sp>
          <p:nvSpPr>
            <p:cNvPr id="363" name="Google Shape;363;p49"/>
            <p:cNvSpPr/>
            <p:nvPr/>
          </p:nvSpPr>
          <p:spPr>
            <a:xfrm>
              <a:off x="6810375" y="270427"/>
              <a:ext cx="3095624" cy="1857375"/>
            </a:xfrm>
            <a:prstGeom prst="rect">
              <a:avLst/>
            </a:prstGeom>
            <a:gradFill>
              <a:gsLst>
                <a:gs pos="0">
                  <a:srgbClr val="F4C7A0"/>
                </a:gs>
                <a:gs pos="35000">
                  <a:srgbClr val="F6D8BC"/>
                </a:gs>
                <a:gs pos="100000">
                  <a:srgbClr val="FCEEE4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49"/>
            <p:cNvSpPr txBox="1"/>
            <p:nvPr/>
          </p:nvSpPr>
          <p:spPr>
            <a:xfrm>
              <a:off x="6810375" y="270427"/>
              <a:ext cx="3095624" cy="1857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Target Cluster 1 for Socio-Economic Uplift</a:t>
              </a:r>
              <a:endParaRPr/>
            </a:p>
          </p:txBody>
        </p:sp>
      </p:grpSp>
      <p:sp>
        <p:nvSpPr>
          <p:cNvPr id="365" name="Google Shape;365;p49"/>
          <p:cNvSpPr/>
          <p:nvPr/>
        </p:nvSpPr>
        <p:spPr>
          <a:xfrm>
            <a:off x="2291442" y="3755571"/>
            <a:ext cx="642257" cy="609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0824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9"/>
          <p:cNvSpPr/>
          <p:nvPr/>
        </p:nvSpPr>
        <p:spPr>
          <a:xfrm>
            <a:off x="5774871" y="3755571"/>
            <a:ext cx="642257" cy="609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0824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9"/>
          <p:cNvSpPr/>
          <p:nvPr/>
        </p:nvSpPr>
        <p:spPr>
          <a:xfrm>
            <a:off x="9258301" y="3755571"/>
            <a:ext cx="642257" cy="609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0824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0"/>
          <p:cNvSpPr txBox="1"/>
          <p:nvPr>
            <p:ph type="ctrTitle"/>
          </p:nvPr>
        </p:nvSpPr>
        <p:spPr>
          <a:xfrm>
            <a:off x="1524000" y="1197428"/>
            <a:ext cx="9144000" cy="936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</a:pPr>
            <a:r>
              <a:rPr lang="en-US" sz="5400"/>
              <a:t>Answer #6</a:t>
            </a:r>
            <a:endParaRPr sz="5400"/>
          </a:p>
        </p:txBody>
      </p:sp>
      <p:sp>
        <p:nvSpPr>
          <p:cNvPr id="373" name="Google Shape;373;p50"/>
          <p:cNvSpPr txBox="1"/>
          <p:nvPr>
            <p:ph idx="1" type="subTitle"/>
          </p:nvPr>
        </p:nvSpPr>
        <p:spPr>
          <a:xfrm>
            <a:off x="1524000" y="2460384"/>
            <a:ext cx="9144000" cy="388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052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 sz="2800" u="sng"/>
              <a:t>Expected Outcomes:</a:t>
            </a:r>
            <a:endParaRPr/>
          </a:p>
          <a:p>
            <a:pPr indent="-457200" lvl="0" marL="56388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b="0" lang="en-US" sz="2800"/>
              <a:t>Improved Public Safety</a:t>
            </a:r>
            <a:endParaRPr/>
          </a:p>
          <a:p>
            <a:pPr indent="-457200" lvl="0" marL="56388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b="0" lang="en-US" sz="2800"/>
              <a:t>Better Enviromental Conditions</a:t>
            </a:r>
            <a:endParaRPr b="0" sz="2800"/>
          </a:p>
          <a:p>
            <a:pPr indent="-457200" lvl="0" marL="56388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b="0" lang="en-US" sz="2800"/>
              <a:t>Enhanced Accessibility</a:t>
            </a:r>
            <a:endParaRPr b="0" sz="2800"/>
          </a:p>
          <a:p>
            <a:pPr indent="-457200" lvl="0" marL="56388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b="0" lang="en-US" sz="2800"/>
              <a:t>Socio-Economic Uplift</a:t>
            </a:r>
            <a:endParaRPr b="0" sz="2800"/>
          </a:p>
          <a:p>
            <a:pPr indent="-457200" lvl="0" marL="56388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b="0" lang="en-US" sz="2800"/>
              <a:t>Higher Property Values</a:t>
            </a:r>
            <a:endParaRPr b="0" sz="2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1"/>
          <p:cNvSpPr txBox="1"/>
          <p:nvPr>
            <p:ph type="ctrTitle"/>
          </p:nvPr>
        </p:nvSpPr>
        <p:spPr>
          <a:xfrm>
            <a:off x="2247537" y="2752633"/>
            <a:ext cx="7889838" cy="2580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Play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ngleLinesVTI">
  <a:themeElements>
    <a:clrScheme name="Custom 34">
      <a:dk1>
        <a:srgbClr val="000000"/>
      </a:dk1>
      <a:lt1>
        <a:srgbClr val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2025-02-05T12:33:06Z</dcterms:created>
  <dc:creator>Pablo Alfaro</dc:creator>
</cp:coreProperties>
</file>