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0"/>
  </p:notesMasterIdLst>
  <p:sldIdLst>
    <p:sldId id="288" r:id="rId5"/>
    <p:sldId id="293" r:id="rId6"/>
    <p:sldId id="294" r:id="rId7"/>
    <p:sldId id="296" r:id="rId8"/>
    <p:sldId id="297" r:id="rId9"/>
    <p:sldId id="306" r:id="rId10"/>
    <p:sldId id="309" r:id="rId11"/>
    <p:sldId id="298" r:id="rId12"/>
    <p:sldId id="307" r:id="rId13"/>
    <p:sldId id="300" r:id="rId14"/>
    <p:sldId id="308" r:id="rId15"/>
    <p:sldId id="301" r:id="rId16"/>
    <p:sldId id="302" r:id="rId17"/>
    <p:sldId id="286" r:id="rId18"/>
    <p:sldId id="310" r:id="rId19"/>
  </p:sldIdLst>
  <p:sldSz cx="12192000" cy="6858000"/>
  <p:notesSz cx="6858000" cy="9144000"/>
  <p:embeddedFontLst>
    <p:embeddedFont>
      <p:font typeface="Söhne" panose="020B0604020202020204" charset="0"/>
      <p:regular r:id="rId21"/>
      <p:italic r:id="rId22"/>
    </p:embeddedFont>
    <p:embeddedFont>
      <p:font typeface="Söhne Halbfett" panose="020B0604020202020204" charset="0"/>
      <p:regular r:id="rId23"/>
      <p:bold r:id="rId24"/>
      <p:italic r:id="rId25"/>
      <p:boldItalic r:id="rId26"/>
    </p:embeddedFont>
    <p:embeddedFont>
      <p:font typeface="Söhne Schmal Kräftig" panose="020B0604020202020204" charset="0"/>
      <p:regular r:id="rId27"/>
    </p:embeddedFont>
    <p:embeddedFont>
      <p:font typeface="Test Söhne Halbfett" panose="020B0604020202020204" charset="0"/>
      <p:bold r:id="rId28"/>
    </p:embeddedFont>
    <p:embeddedFont>
      <p:font typeface="Test Söhne Kräftig" panose="020B0604020202020204" charset="0"/>
      <p:regular r:id="rId29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8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19" autoAdjust="0"/>
    <p:restoredTop sz="94660"/>
  </p:normalViewPr>
  <p:slideViewPr>
    <p:cSldViewPr snapToGrid="0">
      <p:cViewPr>
        <p:scale>
          <a:sx n="100" d="100"/>
          <a:sy n="100" d="100"/>
        </p:scale>
        <p:origin x="331" y="-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870A5-9E04-644A-84C1-0947C64C0642}" type="datetimeFigureOut">
              <a:rPr lang="it-IT" smtClean="0"/>
              <a:t>16/11/2025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73E87-9504-C940-B946-0C68D182A600}" type="slidenum">
              <a:rPr lang="it-IT" smtClean="0"/>
              <a:t>‹Nº›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6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4FE11C6D-7D25-984B-9875-50F9D08FF3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575" y="2904239"/>
            <a:ext cx="9594850" cy="103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4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C8C3EAE2-CB8E-414F-A953-426CD5ACB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3486150"/>
            <a:ext cx="11553825" cy="19811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INSERT Presentation </a:t>
            </a:r>
            <a:r>
              <a:rPr lang="it-IT" dirty="0" err="1"/>
              <a:t>subtitle</a:t>
            </a:r>
            <a:r>
              <a:rPr lang="it-IT" dirty="0"/>
              <a:t> HERE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0F525C-83FF-9844-B951-181D771AD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500" y="2460625"/>
            <a:ext cx="11553825" cy="873125"/>
          </a:xfrm>
        </p:spPr>
        <p:txBody>
          <a:bodyPr/>
          <a:lstStyle>
            <a:lvl1pPr>
              <a:lnSpc>
                <a:spcPts val="5500"/>
              </a:lnSpc>
              <a:spcBef>
                <a:spcPts val="0"/>
              </a:spcBef>
              <a:defRPr sz="5550" b="0" i="0" cap="all" baseline="0">
                <a:solidFill>
                  <a:schemeClr val="tx1"/>
                </a:solidFill>
                <a:latin typeface="Söhne Schmal Kräftig" panose="02060606060206060203" pitchFamily="18" charset="77"/>
              </a:defRPr>
            </a:lvl1pPr>
            <a:lvl2pPr>
              <a:lnSpc>
                <a:spcPts val="5500"/>
              </a:lnSpc>
              <a:defRPr sz="5550" b="0" i="0" cap="all" baseline="0">
                <a:latin typeface="Test Söhne Kräftig" panose="020B0503030202060203" pitchFamily="34" charset="77"/>
              </a:defRPr>
            </a:lvl2pPr>
            <a:lvl3pPr>
              <a:defRPr b="0" i="0">
                <a:latin typeface="Test Söhne Kräftig" panose="020B0503030202060203" pitchFamily="34" charset="77"/>
              </a:defRPr>
            </a:lvl3pPr>
            <a:lvl4pPr>
              <a:defRPr b="0" i="0">
                <a:latin typeface="Test Söhne Kräftig" panose="020B0503030202060203" pitchFamily="34" charset="77"/>
              </a:defRPr>
            </a:lvl4pPr>
            <a:lvl5pPr>
              <a:defRPr b="0" i="0">
                <a:latin typeface="Test Söhne Kräftig" panose="020B0503030202060203" pitchFamily="34" charset="77"/>
              </a:defRPr>
            </a:lvl5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r>
              <a:rPr lang="it-IT" dirty="0"/>
              <a:t>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3E01C5B9-A233-8E40-B402-F5B0FBA2B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0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location </a:t>
            </a:r>
            <a:r>
              <a:rPr lang="it-IT" dirty="0" err="1"/>
              <a:t>here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FACE464-64A8-4F49-87AA-DEA498B16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98D39B69-4249-D643-B015-84D47550E4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576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DD.MM.YYYY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1910A397-F5CB-E842-844F-F49BC6D9A8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0223" y="292102"/>
            <a:ext cx="1762125" cy="903814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SPEAKER NAME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564FED9E-AD55-7F48-AD3B-C563A5529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06025" y="292101"/>
            <a:ext cx="1765300" cy="903815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DEPARTMENT or job </a:t>
            </a:r>
            <a:r>
              <a:rPr lang="it-IT" dirty="0" err="1"/>
              <a:t>title</a:t>
            </a:r>
            <a:r>
              <a:rPr lang="it-IT" dirty="0"/>
              <a:t> HERE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A3C27C0-086D-1945-B0CC-A3A7ED422E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25" y="6152289"/>
            <a:ext cx="307607" cy="44910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71FAA57-11EB-EB43-AE8B-01E274972D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8772" y="6314058"/>
            <a:ext cx="2133645" cy="277374"/>
          </a:xfrm>
          <a:prstGeom prst="rect">
            <a:avLst/>
          </a:prstGeom>
        </p:spPr>
      </p:pic>
      <p:sp>
        <p:nvSpPr>
          <p:cNvPr id="23" name="Segnaposto testo 20">
            <a:extLst>
              <a:ext uri="{FF2B5EF4-FFF2-40B4-BE49-F238E27FC236}">
                <a16:creationId xmlns:a16="http://schemas.microsoft.com/office/drawing/2014/main" id="{B72B2B55-2FDC-DC49-A3FE-8B963509EF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498" y="1426005"/>
            <a:ext cx="11553825" cy="349680"/>
          </a:xfrm>
        </p:spPr>
        <p:txBody>
          <a:bodyPr/>
          <a:lstStyle>
            <a:lvl1pPr>
              <a:defRPr sz="1500"/>
            </a:lvl1pPr>
          </a:lstStyle>
          <a:p>
            <a:r>
              <a:rPr lang="it-IT" dirty="0"/>
              <a:t>INSERT NAME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17761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C8C3EAE2-CB8E-414F-A953-426CD5ACB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3486150"/>
            <a:ext cx="11553825" cy="19811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INSERT Presentation </a:t>
            </a:r>
            <a:r>
              <a:rPr lang="it-IT" dirty="0" err="1"/>
              <a:t>subtitle</a:t>
            </a:r>
            <a:r>
              <a:rPr lang="it-IT" dirty="0"/>
              <a:t> HERE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0F525C-83FF-9844-B951-181D771AD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500" y="2460625"/>
            <a:ext cx="11553825" cy="873125"/>
          </a:xfrm>
        </p:spPr>
        <p:txBody>
          <a:bodyPr/>
          <a:lstStyle>
            <a:lvl1pPr>
              <a:lnSpc>
                <a:spcPts val="5500"/>
              </a:lnSpc>
              <a:spcBef>
                <a:spcPts val="0"/>
              </a:spcBef>
              <a:defRPr sz="5550" b="0" i="0" cap="all" baseline="0">
                <a:solidFill>
                  <a:schemeClr val="tx1"/>
                </a:solidFill>
                <a:latin typeface="Söhne Schmal Kräftig" panose="02060606060206060203" pitchFamily="18" charset="77"/>
              </a:defRPr>
            </a:lvl1pPr>
            <a:lvl2pPr>
              <a:lnSpc>
                <a:spcPts val="5500"/>
              </a:lnSpc>
              <a:defRPr sz="5550" b="0" i="0" cap="all" baseline="0">
                <a:latin typeface="Test Söhne Kräftig" panose="020B0503030202060203" pitchFamily="34" charset="77"/>
              </a:defRPr>
            </a:lvl2pPr>
            <a:lvl3pPr>
              <a:defRPr b="0" i="0">
                <a:latin typeface="Test Söhne Kräftig" panose="020B0503030202060203" pitchFamily="34" charset="77"/>
              </a:defRPr>
            </a:lvl3pPr>
            <a:lvl4pPr>
              <a:defRPr b="0" i="0">
                <a:latin typeface="Test Söhne Kräftig" panose="020B0503030202060203" pitchFamily="34" charset="77"/>
              </a:defRPr>
            </a:lvl4pPr>
            <a:lvl5pPr>
              <a:defRPr b="0" i="0">
                <a:latin typeface="Test Söhne Kräftig" panose="020B0503030202060203" pitchFamily="34" charset="77"/>
              </a:defRPr>
            </a:lvl5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r>
              <a:rPr lang="it-IT" dirty="0"/>
              <a:t>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3E01C5B9-A233-8E40-B402-F5B0FBA2B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0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location </a:t>
            </a:r>
            <a:r>
              <a:rPr lang="it-IT" dirty="0" err="1"/>
              <a:t>here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FACE464-64A8-4F49-87AA-DEA498B16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98D39B69-4249-D643-B015-84D47550E4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576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DD.MM.YYYY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1910A397-F5CB-E842-844F-F49BC6D9A8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0223" y="292102"/>
            <a:ext cx="1762125" cy="903814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SPEAKER NAME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564FED9E-AD55-7F48-AD3B-C563A5529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06025" y="292101"/>
            <a:ext cx="1765300" cy="903815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DEPARTMENT or job </a:t>
            </a:r>
            <a:r>
              <a:rPr lang="it-IT" dirty="0" err="1"/>
              <a:t>title</a:t>
            </a:r>
            <a:r>
              <a:rPr lang="it-IT" dirty="0"/>
              <a:t> HERE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A3C27C0-086D-1945-B0CC-A3A7ED422E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25" y="6152289"/>
            <a:ext cx="307607" cy="44910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71FAA57-11EB-EB43-AE8B-01E274972D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8772" y="6314058"/>
            <a:ext cx="2133645" cy="277374"/>
          </a:xfrm>
          <a:prstGeom prst="rect">
            <a:avLst/>
          </a:prstGeom>
        </p:spPr>
      </p:pic>
      <p:sp>
        <p:nvSpPr>
          <p:cNvPr id="23" name="Segnaposto testo 20">
            <a:extLst>
              <a:ext uri="{FF2B5EF4-FFF2-40B4-BE49-F238E27FC236}">
                <a16:creationId xmlns:a16="http://schemas.microsoft.com/office/drawing/2014/main" id="{B72B2B55-2FDC-DC49-A3FE-8B963509EF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498" y="1426005"/>
            <a:ext cx="11553825" cy="349680"/>
          </a:xfrm>
        </p:spPr>
        <p:txBody>
          <a:bodyPr/>
          <a:lstStyle>
            <a:lvl1pPr>
              <a:defRPr sz="1500"/>
            </a:lvl1pPr>
          </a:lstStyle>
          <a:p>
            <a:r>
              <a:rPr lang="it-IT" dirty="0"/>
              <a:t>INSERT NAME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365920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IN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C8C3EAE2-CB8E-414F-A953-426CD5ACB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3486150"/>
            <a:ext cx="11553825" cy="19811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INSERT Presentation </a:t>
            </a:r>
            <a:r>
              <a:rPr lang="it-IT" dirty="0" err="1"/>
              <a:t>subtitle</a:t>
            </a:r>
            <a:r>
              <a:rPr lang="it-IT" dirty="0"/>
              <a:t> HERE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0F525C-83FF-9844-B951-181D771AD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500" y="2460625"/>
            <a:ext cx="11553825" cy="873125"/>
          </a:xfrm>
        </p:spPr>
        <p:txBody>
          <a:bodyPr/>
          <a:lstStyle>
            <a:lvl1pPr>
              <a:lnSpc>
                <a:spcPts val="5500"/>
              </a:lnSpc>
              <a:spcBef>
                <a:spcPts val="0"/>
              </a:spcBef>
              <a:defRPr sz="5550" b="0" i="0" cap="all" baseline="0">
                <a:solidFill>
                  <a:schemeClr val="tx1"/>
                </a:solidFill>
                <a:latin typeface="Söhne Schmal Kräftig" panose="02060606060206060203" pitchFamily="18" charset="77"/>
              </a:defRPr>
            </a:lvl1pPr>
            <a:lvl2pPr>
              <a:lnSpc>
                <a:spcPts val="5500"/>
              </a:lnSpc>
              <a:defRPr sz="5550" b="0" i="0" cap="all" baseline="0">
                <a:latin typeface="Test Söhne Kräftig" panose="020B0503030202060203" pitchFamily="34" charset="77"/>
              </a:defRPr>
            </a:lvl2pPr>
            <a:lvl3pPr>
              <a:defRPr b="0" i="0">
                <a:latin typeface="Test Söhne Kräftig" panose="020B0503030202060203" pitchFamily="34" charset="77"/>
              </a:defRPr>
            </a:lvl3pPr>
            <a:lvl4pPr>
              <a:defRPr b="0" i="0">
                <a:latin typeface="Test Söhne Kräftig" panose="020B0503030202060203" pitchFamily="34" charset="77"/>
              </a:defRPr>
            </a:lvl4pPr>
            <a:lvl5pPr>
              <a:defRPr b="0" i="0">
                <a:latin typeface="Test Söhne Kräftig" panose="020B0503030202060203" pitchFamily="34" charset="77"/>
              </a:defRPr>
            </a:lvl5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r>
              <a:rPr lang="it-IT" dirty="0"/>
              <a:t>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3E01C5B9-A233-8E40-B402-F5B0FBA2B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0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location </a:t>
            </a:r>
            <a:r>
              <a:rPr lang="it-IT" dirty="0" err="1"/>
              <a:t>here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FACE464-64A8-4F49-87AA-DEA498B16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98D39B69-4249-D643-B015-84D47550E4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576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DD.MM.YYYY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1910A397-F5CB-E842-844F-F49BC6D9A8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0223" y="292102"/>
            <a:ext cx="1762125" cy="903814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SPEAKER NAME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564FED9E-AD55-7F48-AD3B-C563A5529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06025" y="292101"/>
            <a:ext cx="1765300" cy="903815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DEPARTMENT or job </a:t>
            </a:r>
            <a:r>
              <a:rPr lang="it-IT" dirty="0" err="1"/>
              <a:t>title</a:t>
            </a:r>
            <a:r>
              <a:rPr lang="it-IT" dirty="0"/>
              <a:t> HERE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A3C27C0-086D-1945-B0CC-A3A7ED422E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25" y="6152289"/>
            <a:ext cx="307607" cy="44910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71FAA57-11EB-EB43-AE8B-01E274972D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8772" y="6314058"/>
            <a:ext cx="2133645" cy="277374"/>
          </a:xfrm>
          <a:prstGeom prst="rect">
            <a:avLst/>
          </a:prstGeom>
        </p:spPr>
      </p:pic>
      <p:sp>
        <p:nvSpPr>
          <p:cNvPr id="23" name="Segnaposto testo 20">
            <a:extLst>
              <a:ext uri="{FF2B5EF4-FFF2-40B4-BE49-F238E27FC236}">
                <a16:creationId xmlns:a16="http://schemas.microsoft.com/office/drawing/2014/main" id="{B72B2B55-2FDC-DC49-A3FE-8B963509EF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498" y="1426005"/>
            <a:ext cx="11553825" cy="349680"/>
          </a:xfrm>
        </p:spPr>
        <p:txBody>
          <a:bodyPr/>
          <a:lstStyle>
            <a:lvl1pPr>
              <a:defRPr sz="1500"/>
            </a:lvl1pPr>
          </a:lstStyle>
          <a:p>
            <a:r>
              <a:rPr lang="it-IT" dirty="0"/>
              <a:t>INSERT NAME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116203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RICK RE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C8C3EAE2-CB8E-414F-A953-426CD5ACB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500" y="3486150"/>
            <a:ext cx="11553825" cy="19811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INSERT Presentation </a:t>
            </a:r>
            <a:r>
              <a:rPr lang="it-IT" dirty="0" err="1"/>
              <a:t>subtitle</a:t>
            </a:r>
            <a:r>
              <a:rPr lang="it-IT" dirty="0"/>
              <a:t> HERE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0F525C-83FF-9844-B951-181D771AD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500" y="2460625"/>
            <a:ext cx="11553825" cy="873125"/>
          </a:xfrm>
        </p:spPr>
        <p:txBody>
          <a:bodyPr/>
          <a:lstStyle>
            <a:lvl1pPr>
              <a:lnSpc>
                <a:spcPts val="5500"/>
              </a:lnSpc>
              <a:spcBef>
                <a:spcPts val="0"/>
              </a:spcBef>
              <a:defRPr sz="5550" b="0" i="0" cap="all" baseline="0">
                <a:solidFill>
                  <a:schemeClr val="tx1"/>
                </a:solidFill>
                <a:latin typeface="Söhne Schmal Kräftig" panose="02060606060206060203" pitchFamily="18" charset="77"/>
              </a:defRPr>
            </a:lvl1pPr>
            <a:lvl2pPr>
              <a:lnSpc>
                <a:spcPts val="5500"/>
              </a:lnSpc>
              <a:defRPr sz="5550" b="0" i="0" cap="all" baseline="0">
                <a:latin typeface="Test Söhne Kräftig" panose="020B0503030202060203" pitchFamily="34" charset="77"/>
              </a:defRPr>
            </a:lvl2pPr>
            <a:lvl3pPr>
              <a:defRPr b="0" i="0">
                <a:latin typeface="Test Söhne Kräftig" panose="020B0503030202060203" pitchFamily="34" charset="77"/>
              </a:defRPr>
            </a:lvl3pPr>
            <a:lvl4pPr>
              <a:defRPr b="0" i="0">
                <a:latin typeface="Test Söhne Kräftig" panose="020B0503030202060203" pitchFamily="34" charset="77"/>
              </a:defRPr>
            </a:lvl4pPr>
            <a:lvl5pPr>
              <a:defRPr b="0" i="0">
                <a:latin typeface="Test Söhne Kräftig" panose="020B0503030202060203" pitchFamily="34" charset="77"/>
              </a:defRPr>
            </a:lvl5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presentation</a:t>
            </a:r>
            <a:r>
              <a:rPr lang="it-IT" dirty="0"/>
              <a:t> </a:t>
            </a:r>
            <a:r>
              <a:rPr lang="it-IT" dirty="0" err="1"/>
              <a:t>title</a:t>
            </a:r>
            <a:endParaRPr lang="it-IT" dirty="0"/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3E01C5B9-A233-8E40-B402-F5B0FBA2BC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7500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location </a:t>
            </a:r>
            <a:r>
              <a:rPr lang="it-IT" dirty="0" err="1"/>
              <a:t>here</a:t>
            </a:r>
            <a:endParaRPr lang="it-IT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FACE464-64A8-4F49-87AA-DEA498B164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14" name="Segnaposto testo 10">
            <a:extLst>
              <a:ext uri="{FF2B5EF4-FFF2-40B4-BE49-F238E27FC236}">
                <a16:creationId xmlns:a16="http://schemas.microsoft.com/office/drawing/2014/main" id="{98D39B69-4249-D643-B015-84D47550E4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79576" y="292101"/>
            <a:ext cx="1765300" cy="323850"/>
          </a:xfrm>
        </p:spPr>
        <p:txBody>
          <a:bodyPr/>
          <a:lstStyle>
            <a:lvl1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rgbClr val="FF0000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DD.MM.YYYY</a:t>
            </a:r>
          </a:p>
        </p:txBody>
      </p:sp>
      <p:sp>
        <p:nvSpPr>
          <p:cNvPr id="15" name="Segnaposto testo 10">
            <a:extLst>
              <a:ext uri="{FF2B5EF4-FFF2-40B4-BE49-F238E27FC236}">
                <a16:creationId xmlns:a16="http://schemas.microsoft.com/office/drawing/2014/main" id="{1910A397-F5CB-E842-844F-F49BC6D9A8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50223" y="292102"/>
            <a:ext cx="1762125" cy="903814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SPEAKER NAME</a:t>
            </a:r>
          </a:p>
        </p:txBody>
      </p:sp>
      <p:sp>
        <p:nvSpPr>
          <p:cNvPr id="16" name="Segnaposto testo 10">
            <a:extLst>
              <a:ext uri="{FF2B5EF4-FFF2-40B4-BE49-F238E27FC236}">
                <a16:creationId xmlns:a16="http://schemas.microsoft.com/office/drawing/2014/main" id="{564FED9E-AD55-7F48-AD3B-C563A5529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06025" y="292101"/>
            <a:ext cx="1765300" cy="903815"/>
          </a:xfrm>
        </p:spPr>
        <p:txBody>
          <a:bodyPr anchor="t" anchorCtr="0"/>
          <a:lstStyle>
            <a:lvl1pPr algn="r"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INSERT DEPARTMENT or job </a:t>
            </a:r>
            <a:r>
              <a:rPr lang="it-IT" dirty="0" err="1"/>
              <a:t>title</a:t>
            </a:r>
            <a:r>
              <a:rPr lang="it-IT" dirty="0"/>
              <a:t> HERE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A3C27C0-086D-1945-B0CC-A3A7ED422E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725" y="6152289"/>
            <a:ext cx="307607" cy="449106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71FAA57-11EB-EB43-AE8B-01E274972D5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8772" y="6314058"/>
            <a:ext cx="2133645" cy="277374"/>
          </a:xfrm>
          <a:prstGeom prst="rect">
            <a:avLst/>
          </a:prstGeom>
        </p:spPr>
      </p:pic>
      <p:sp>
        <p:nvSpPr>
          <p:cNvPr id="23" name="Segnaposto testo 20">
            <a:extLst>
              <a:ext uri="{FF2B5EF4-FFF2-40B4-BE49-F238E27FC236}">
                <a16:creationId xmlns:a16="http://schemas.microsoft.com/office/drawing/2014/main" id="{B72B2B55-2FDC-DC49-A3FE-8B963509EF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498" y="1426005"/>
            <a:ext cx="11553825" cy="349680"/>
          </a:xfrm>
        </p:spPr>
        <p:txBody>
          <a:bodyPr/>
          <a:lstStyle>
            <a:lvl1pPr>
              <a:defRPr sz="1500"/>
            </a:lvl1pPr>
          </a:lstStyle>
          <a:p>
            <a:r>
              <a:rPr lang="it-IT" dirty="0"/>
              <a:t>INSERT NAME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163822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3B9CF12-720C-9443-9F21-896717B7C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‹Nº›</a:t>
            </a:fld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DEF39F72-47FA-0C40-A7AA-4F1384272E9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2275" y="2417493"/>
            <a:ext cx="5680075" cy="3678507"/>
          </a:xfrm>
        </p:spPr>
        <p:txBody>
          <a:bodyPr/>
          <a:lstStyle>
            <a:lvl1pPr marL="222250" indent="-222250">
              <a:lnSpc>
                <a:spcPct val="100000"/>
              </a:lnSpc>
              <a:spcBef>
                <a:spcPts val="700"/>
              </a:spcBef>
              <a:buFont typeface="+mj-lt"/>
              <a:buAutoNum type="arabicPeriod"/>
              <a:tabLst/>
              <a:defRPr sz="1500" b="1" i="0" cap="all" baseline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  <a:lvl2pPr>
              <a:lnSpc>
                <a:spcPct val="100000"/>
              </a:lnSpc>
              <a:buFont typeface="+mj-lt"/>
              <a:buAutoNum type="arabicPeriod"/>
              <a:defRPr sz="1500" cap="all" baseline="0">
                <a:solidFill>
                  <a:schemeClr val="tx1"/>
                </a:solidFill>
                <a:latin typeface="+mj-lt"/>
              </a:defRPr>
            </a:lvl2pPr>
            <a:lvl3pPr>
              <a:lnSpc>
                <a:spcPct val="100000"/>
              </a:lnSpc>
              <a:buFont typeface="+mj-lt"/>
              <a:buAutoNum type="arabicPeriod"/>
              <a:defRPr sz="1500" cap="all" baseline="0">
                <a:solidFill>
                  <a:schemeClr val="tx1"/>
                </a:solidFill>
                <a:latin typeface="+mj-lt"/>
              </a:defRPr>
            </a:lvl3pPr>
            <a:lvl4pPr>
              <a:lnSpc>
                <a:spcPct val="100000"/>
              </a:lnSpc>
              <a:buFont typeface="+mj-lt"/>
              <a:buAutoNum type="arabicPeriod"/>
              <a:defRPr sz="1500" cap="all" baseline="0">
                <a:solidFill>
                  <a:schemeClr val="tx1"/>
                </a:solidFill>
                <a:latin typeface="+mj-lt"/>
              </a:defRPr>
            </a:lvl4pPr>
            <a:lvl5pPr>
              <a:lnSpc>
                <a:spcPct val="100000"/>
              </a:lnSpc>
              <a:buFont typeface="+mj-lt"/>
              <a:buAutoNum type="arabicPeriod"/>
              <a:defRPr sz="1500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section</a:t>
            </a:r>
            <a:r>
              <a:rPr lang="it-IT" dirty="0"/>
              <a:t> </a:t>
            </a:r>
            <a:r>
              <a:rPr lang="it-IT" dirty="0" err="1"/>
              <a:t>titles</a:t>
            </a:r>
            <a:r>
              <a:rPr lang="it-IT" dirty="0"/>
              <a:t> </a:t>
            </a:r>
            <a:r>
              <a:rPr lang="it-IT" dirty="0" err="1"/>
              <a:t>here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8990603-03DE-3B4F-9243-D0CDCBCE4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C1C62DC-B485-F24A-93A0-A72FB17F749F}"/>
              </a:ext>
            </a:extLst>
          </p:cNvPr>
          <p:cNvSpPr txBox="1"/>
          <p:nvPr userDrawn="1"/>
        </p:nvSpPr>
        <p:spPr>
          <a:xfrm>
            <a:off x="317500" y="181954"/>
            <a:ext cx="1765300" cy="854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0" lang="it-IT" sz="5550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öhne Schmal Kräftig" panose="02060606060206060203" pitchFamily="18" charset="77"/>
                <a:ea typeface="+mj-ea"/>
                <a:cs typeface="+mj-cs"/>
              </a:rPr>
              <a:t>AGENDA</a:t>
            </a:r>
            <a:endParaRPr lang="it-IT" sz="5550" dirty="0">
              <a:solidFill>
                <a:schemeClr val="tx1"/>
              </a:solidFill>
              <a:latin typeface="Söhne Schmal Kräftig" panose="02060606060206060203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7432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3B9CF12-720C-9443-9F21-896717B7C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‹Nº›</a:t>
            </a:fld>
            <a:endParaRPr lang="it-IT" sz="85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8990603-03DE-3B4F-9243-D0CDCBCE4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0625E185-6A5C-2A46-8FC9-33151F2D66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7499" y="279783"/>
            <a:ext cx="11553825" cy="9171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 err="1"/>
              <a:t>Insert</a:t>
            </a:r>
            <a:r>
              <a:rPr lang="it-IT" dirty="0"/>
              <a:t> Title of the slide </a:t>
            </a:r>
            <a:r>
              <a:rPr lang="it-IT" dirty="0" err="1"/>
              <a:t>here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A939106-D621-1E4E-AF72-A06570C7EC4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17499" y="1343608"/>
            <a:ext cx="11553825" cy="4833256"/>
          </a:xfrm>
        </p:spPr>
        <p:txBody>
          <a:bodyPr/>
          <a:lstStyle>
            <a:lvl1pPr marL="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>
                <a:latin typeface="+mn-lt"/>
              </a:defRPr>
            </a:lvl1pPr>
            <a:lvl2pPr marL="11601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Insert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Insert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it-IT" dirty="0"/>
          </a:p>
          <a:p>
            <a:pPr marL="800100" marR="0" lvl="1" indent="-342900" algn="l" defTabSz="914400" rtl="0" eaLnBrk="1" fontAlgn="auto" latinLnBrk="0" hangingPunct="1">
              <a:lnSpc>
                <a:spcPts val="275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dirty="0" err="1"/>
              <a:t>Insert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it-IT" dirty="0"/>
          </a:p>
          <a:p>
            <a:pPr marL="800100" marR="0" lvl="1" indent="-342900" algn="l" defTabSz="914400" rtl="0" eaLnBrk="1" fontAlgn="auto" latinLnBrk="0" hangingPunct="1">
              <a:lnSpc>
                <a:spcPts val="275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dirty="0" err="1"/>
              <a:t>Insert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4938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3B9CF12-720C-9443-9F21-896717B7C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‹Nº›</a:t>
            </a:fld>
            <a:endParaRPr lang="it-IT" sz="85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8990603-03DE-3B4F-9243-D0CDCBCE44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6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rgbClr val="6881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0F525C-83FF-9844-B951-181D771AD6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7500" y="323850"/>
            <a:ext cx="5778500" cy="873125"/>
          </a:xfrm>
        </p:spPr>
        <p:txBody>
          <a:bodyPr/>
          <a:lstStyle>
            <a:lvl1pPr>
              <a:lnSpc>
                <a:spcPts val="5500"/>
              </a:lnSpc>
              <a:spcBef>
                <a:spcPts val="0"/>
              </a:spcBef>
              <a:defRPr sz="5550" b="0" i="0" cap="all" baseline="0">
                <a:solidFill>
                  <a:schemeClr val="bg1"/>
                </a:solidFill>
                <a:latin typeface="Söhne Schmal Kräftig" panose="02060606060206060203" pitchFamily="18" charset="77"/>
              </a:defRPr>
            </a:lvl1pPr>
            <a:lvl2pPr>
              <a:lnSpc>
                <a:spcPts val="5500"/>
              </a:lnSpc>
              <a:defRPr sz="5550" b="0" i="0" cap="all" baseline="0">
                <a:latin typeface="Test Söhne Kräftig" panose="020B0503030202060203" pitchFamily="34" charset="77"/>
              </a:defRPr>
            </a:lvl2pPr>
            <a:lvl3pPr>
              <a:defRPr b="0" i="0">
                <a:latin typeface="Test Söhne Kräftig" panose="020B0503030202060203" pitchFamily="34" charset="77"/>
              </a:defRPr>
            </a:lvl3pPr>
            <a:lvl4pPr>
              <a:defRPr b="0" i="0">
                <a:latin typeface="Test Söhne Kräftig" panose="020B0503030202060203" pitchFamily="34" charset="77"/>
              </a:defRPr>
            </a:lvl4pPr>
            <a:lvl5pPr>
              <a:defRPr b="0" i="0">
                <a:latin typeface="Test Söhne Kräftig" panose="020B0503030202060203" pitchFamily="34" charset="77"/>
              </a:defRPr>
            </a:lvl5pPr>
          </a:lstStyle>
          <a:p>
            <a:pPr lvl="0"/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FE1456AE-35EE-2546-88B8-4DBF9AFDAA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99" y="6347846"/>
            <a:ext cx="1753200" cy="189479"/>
          </a:xfrm>
          <a:prstGeom prst="rect">
            <a:avLst/>
          </a:prstGeom>
        </p:spPr>
      </p:pic>
      <p:sp>
        <p:nvSpPr>
          <p:cNvPr id="6" name="Segnaposto testo 10">
            <a:extLst>
              <a:ext uri="{FF2B5EF4-FFF2-40B4-BE49-F238E27FC236}">
                <a16:creationId xmlns:a16="http://schemas.microsoft.com/office/drawing/2014/main" id="{6843621A-C932-614A-9394-E230D1B717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1249" y="5657851"/>
            <a:ext cx="1762125" cy="903814"/>
          </a:xfrm>
        </p:spPr>
        <p:txBody>
          <a:bodyPr anchor="b" anchorCtr="0"/>
          <a:lstStyle>
            <a:lvl1pPr algn="l">
              <a:lnSpc>
                <a:spcPts val="1020"/>
              </a:lnSpc>
              <a:defRPr sz="850" b="1" i="0" cap="all" baseline="0">
                <a:solidFill>
                  <a:schemeClr val="bg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 err="1"/>
              <a:t>Contact</a:t>
            </a:r>
            <a:r>
              <a:rPr lang="it-IT" dirty="0"/>
              <a:t> information 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80BB54FF-8D8E-2D48-92AF-B1DF44A7DC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29861" y="5657851"/>
            <a:ext cx="1762125" cy="903814"/>
          </a:xfrm>
        </p:spPr>
        <p:txBody>
          <a:bodyPr anchor="b" anchorCtr="0"/>
          <a:lstStyle>
            <a:lvl1pPr algn="l">
              <a:lnSpc>
                <a:spcPts val="1020"/>
              </a:lnSpc>
              <a:defRPr sz="850" b="1" i="0" cap="all" baseline="0">
                <a:solidFill>
                  <a:schemeClr val="bg1"/>
                </a:solidFill>
                <a:latin typeface="Söhne Halbfett" panose="020B0503030202060203" pitchFamily="34" charset="77"/>
              </a:defRPr>
            </a:lvl1pPr>
            <a:lvl2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2pPr>
            <a:lvl3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3pPr>
            <a:lvl4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4pPr>
            <a:lvl5pPr>
              <a:lnSpc>
                <a:spcPts val="1020"/>
              </a:lnSpc>
              <a:defRPr sz="850" b="1" i="0" cap="all" baseline="0">
                <a:solidFill>
                  <a:schemeClr val="tx1"/>
                </a:solidFill>
                <a:latin typeface="Test Söhne Halbfett" panose="020B0503030202060203" pitchFamily="34" charset="77"/>
              </a:defRPr>
            </a:lvl5pPr>
          </a:lstStyle>
          <a:p>
            <a:pPr lvl="0"/>
            <a:r>
              <a:rPr lang="it-IT" dirty="0"/>
              <a:t>Legal notes</a:t>
            </a:r>
          </a:p>
        </p:txBody>
      </p:sp>
    </p:spTree>
    <p:extLst>
      <p:ext uri="{BB962C8B-B14F-4D97-AF65-F5344CB8AC3E}">
        <p14:creationId xmlns:p14="http://schemas.microsoft.com/office/powerpoint/2010/main" val="3084633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3490B-1B84-490E-8B1D-5113C9977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99" y="273433"/>
            <a:ext cx="11553825" cy="8794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310F2E-B07D-4F02-BF98-9B6B103EB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499" y="1341915"/>
            <a:ext cx="11553825" cy="47540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it-IT" dirty="0" err="1"/>
              <a:t>Insert</a:t>
            </a:r>
            <a:r>
              <a:rPr lang="it-IT" dirty="0"/>
              <a:t> text </a:t>
            </a:r>
            <a:r>
              <a:rPr lang="it-IT" dirty="0" err="1"/>
              <a:t>here</a:t>
            </a:r>
            <a:endParaRPr lang="it-IT" dirty="0"/>
          </a:p>
          <a:p>
            <a:pPr lv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25763C-5622-4FFD-BAAA-00D533757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7100" y="6419850"/>
            <a:ext cx="784224" cy="14605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850" b="1" i="0">
                <a:solidFill>
                  <a:schemeClr val="tx1"/>
                </a:solidFill>
                <a:latin typeface="Söhne Halbfett" panose="020B0503030202060203" pitchFamily="34" charset="77"/>
              </a:defRPr>
            </a:lvl1pPr>
          </a:lstStyle>
          <a:p>
            <a:fld id="{F6B1423B-B126-4CFB-BD17-F47B21D01BE7}" type="slidenum">
              <a:rPr lang="it-IT" smtClean="0"/>
              <a:pPr/>
              <a:t>‹Nº›</a:t>
            </a:fld>
            <a:endParaRPr lang="it-IT" dirty="0">
              <a:latin typeface="Söhne Halbfett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7642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80" r:id="rId3"/>
    <p:sldLayoutId id="2147483681" r:id="rId4"/>
    <p:sldLayoutId id="2147483682" r:id="rId5"/>
    <p:sldLayoutId id="2147483653" r:id="rId6"/>
    <p:sldLayoutId id="2147483663" r:id="rId7"/>
    <p:sldLayoutId id="2147483683" r:id="rId8"/>
    <p:sldLayoutId id="2147483679" r:id="rId9"/>
  </p:sldLayoutIdLst>
  <p:hf hdr="0" ftr="0" dt="0"/>
  <p:txStyles>
    <p:titleStyle>
      <a:lvl1pPr algn="l" defTabSz="914400" rtl="0" eaLnBrk="1" latinLnBrk="0" hangingPunct="1">
        <a:lnSpc>
          <a:spcPts val="1800"/>
        </a:lnSpc>
        <a:spcBef>
          <a:spcPct val="0"/>
        </a:spcBef>
        <a:buNone/>
        <a:defRPr sz="1500" b="1" i="0" kern="1200" cap="all" baseline="0">
          <a:solidFill>
            <a:schemeClr val="tx1"/>
          </a:solidFill>
          <a:latin typeface="Söhne Halbfett" panose="020B0503030202060203" pitchFamily="34" charset="77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600" b="0" i="0" kern="1200">
          <a:solidFill>
            <a:schemeClr val="tx1"/>
          </a:solidFill>
          <a:latin typeface="Söhne" panose="020B0503030202060203" pitchFamily="34" charset="77"/>
          <a:ea typeface="+mn-ea"/>
          <a:cs typeface="+mn-cs"/>
        </a:defRPr>
      </a:lvl1pPr>
      <a:lvl2pPr marL="457200" indent="0" algn="l" defTabSz="914400" rtl="0" eaLnBrk="1" latinLnBrk="0" hangingPunct="1">
        <a:lnSpc>
          <a:spcPts val="2750"/>
        </a:lnSpc>
        <a:spcBef>
          <a:spcPts val="500"/>
        </a:spcBef>
        <a:buFont typeface="Arial" panose="020B0604020202020204" pitchFamily="34" charset="0"/>
        <a:buNone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ts val="2750"/>
        </a:lnSpc>
        <a:spcBef>
          <a:spcPts val="5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ts val="2750"/>
        </a:lnSpc>
        <a:spcBef>
          <a:spcPts val="5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ts val="2750"/>
        </a:lnSpc>
        <a:spcBef>
          <a:spcPts val="50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78" userDrawn="1">
          <p15:clr>
            <a:srgbClr val="F26B43"/>
          </p15:clr>
        </p15:guide>
        <p15:guide id="4" pos="3284" userDrawn="1">
          <p15:clr>
            <a:srgbClr val="F26B43"/>
          </p15:clr>
        </p15:guide>
        <p15:guide id="5" pos="3162" userDrawn="1">
          <p15:clr>
            <a:srgbClr val="F26B43"/>
          </p15:clr>
        </p15:guide>
        <p15:guide id="6" pos="2666" userDrawn="1">
          <p15:clr>
            <a:srgbClr val="F26B43"/>
          </p15:clr>
        </p15:guide>
        <p15:guide id="7" pos="3900" userDrawn="1">
          <p15:clr>
            <a:srgbClr val="F26B43"/>
          </p15:clr>
        </p15:guide>
        <p15:guide id="8" pos="4396" userDrawn="1">
          <p15:clr>
            <a:srgbClr val="F26B43"/>
          </p15:clr>
        </p15:guide>
        <p15:guide id="9" pos="4516" userDrawn="1">
          <p15:clr>
            <a:srgbClr val="F26B43"/>
          </p15:clr>
        </p15:guide>
        <p15:guide id="10" pos="5012" userDrawn="1">
          <p15:clr>
            <a:srgbClr val="F26B43"/>
          </p15:clr>
        </p15:guide>
        <p15:guide id="11" pos="5134" userDrawn="1">
          <p15:clr>
            <a:srgbClr val="F26B43"/>
          </p15:clr>
        </p15:guide>
        <p15:guide id="12" pos="5628" userDrawn="1">
          <p15:clr>
            <a:srgbClr val="F26B43"/>
          </p15:clr>
        </p15:guide>
        <p15:guide id="13" pos="5750" userDrawn="1">
          <p15:clr>
            <a:srgbClr val="F26B43"/>
          </p15:clr>
        </p15:guide>
        <p15:guide id="14" pos="6244" userDrawn="1">
          <p15:clr>
            <a:srgbClr val="F26B43"/>
          </p15:clr>
        </p15:guide>
        <p15:guide id="15" pos="6366" userDrawn="1">
          <p15:clr>
            <a:srgbClr val="F26B43"/>
          </p15:clr>
        </p15:guide>
        <p15:guide id="16" pos="6862" userDrawn="1">
          <p15:clr>
            <a:srgbClr val="F26B43"/>
          </p15:clr>
        </p15:guide>
        <p15:guide id="17" pos="6984" userDrawn="1">
          <p15:clr>
            <a:srgbClr val="F26B43"/>
          </p15:clr>
        </p15:guide>
        <p15:guide id="18" pos="7478" userDrawn="1">
          <p15:clr>
            <a:srgbClr val="F26B43"/>
          </p15:clr>
        </p15:guide>
        <p15:guide id="19" pos="2544" userDrawn="1">
          <p15:clr>
            <a:srgbClr val="F26B43"/>
          </p15:clr>
        </p15:guide>
        <p15:guide id="20" pos="2050" userDrawn="1">
          <p15:clr>
            <a:srgbClr val="F26B43"/>
          </p15:clr>
        </p15:guide>
        <p15:guide id="21" pos="1928" userDrawn="1">
          <p15:clr>
            <a:srgbClr val="F26B43"/>
          </p15:clr>
        </p15:guide>
        <p15:guide id="22" pos="1434" userDrawn="1">
          <p15:clr>
            <a:srgbClr val="F26B43"/>
          </p15:clr>
        </p15:guide>
        <p15:guide id="23" pos="1312" userDrawn="1">
          <p15:clr>
            <a:srgbClr val="F26B43"/>
          </p15:clr>
        </p15:guide>
        <p15:guide id="24" pos="816" userDrawn="1">
          <p15:clr>
            <a:srgbClr val="F26B43"/>
          </p15:clr>
        </p15:guide>
        <p15:guide id="25" pos="694" userDrawn="1">
          <p15:clr>
            <a:srgbClr val="F26B43"/>
          </p15:clr>
        </p15:guide>
        <p15:guide id="26" pos="200" userDrawn="1">
          <p15:clr>
            <a:srgbClr val="F26B43"/>
          </p15:clr>
        </p15:guide>
        <p15:guide id="27" orient="horz" pos="2100" userDrawn="1">
          <p15:clr>
            <a:srgbClr val="F26B43"/>
          </p15:clr>
        </p15:guide>
        <p15:guide id="28" orient="horz" pos="1546" userDrawn="1">
          <p15:clr>
            <a:srgbClr val="F26B43"/>
          </p15:clr>
        </p15:guide>
        <p15:guide id="29" orient="horz" pos="1426" userDrawn="1">
          <p15:clr>
            <a:srgbClr val="F26B43"/>
          </p15:clr>
        </p15:guide>
        <p15:guide id="30" orient="horz" pos="872" userDrawn="1">
          <p15:clr>
            <a:srgbClr val="F26B43"/>
          </p15:clr>
        </p15:guide>
        <p15:guide id="31" orient="horz" pos="754" userDrawn="1">
          <p15:clr>
            <a:srgbClr val="F26B43"/>
          </p15:clr>
        </p15:guide>
        <p15:guide id="32" orient="horz" pos="200" userDrawn="1">
          <p15:clr>
            <a:srgbClr val="F26B43"/>
          </p15:clr>
        </p15:guide>
        <p15:guide id="33" orient="horz" pos="2218" userDrawn="1">
          <p15:clr>
            <a:srgbClr val="F26B43"/>
          </p15:clr>
        </p15:guide>
        <p15:guide id="34" orient="horz" pos="2772" userDrawn="1">
          <p15:clr>
            <a:srgbClr val="F26B43"/>
          </p15:clr>
        </p15:guide>
        <p15:guide id="35" orient="horz" pos="2892" userDrawn="1">
          <p15:clr>
            <a:srgbClr val="F26B43"/>
          </p15:clr>
        </p15:guide>
        <p15:guide id="36" orient="horz" pos="3444" userDrawn="1">
          <p15:clr>
            <a:srgbClr val="F26B43"/>
          </p15:clr>
        </p15:guide>
        <p15:guide id="37" orient="horz" pos="3564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  <p15:guide id="39" orient="horz" pos="41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5ACC3-AA44-A84A-B76C-C01FDCF0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empirically</a:t>
            </a:r>
            <a:r>
              <a:rPr lang="it-IT" dirty="0"/>
              <a:t> </a:t>
            </a:r>
            <a:r>
              <a:rPr lang="it-IT" dirty="0" err="1"/>
              <a:t>Calibrated</a:t>
            </a:r>
            <a:r>
              <a:rPr lang="it-IT" dirty="0"/>
              <a:t> </a:t>
            </a:r>
            <a:r>
              <a:rPr lang="it-IT" dirty="0" err="1"/>
              <a:t>Timegan</a:t>
            </a:r>
            <a:r>
              <a:rPr lang="it-IT" dirty="0"/>
              <a:t> framework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3803C19-C044-F740-861C-49D09BBB41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Stress testing </a:t>
            </a:r>
            <a:r>
              <a:rPr lang="it-IT" dirty="0" err="1"/>
              <a:t>financial</a:t>
            </a:r>
            <a:r>
              <a:rPr lang="it-IT" dirty="0"/>
              <a:t> </a:t>
            </a:r>
            <a:r>
              <a:rPr lang="it-IT" dirty="0" err="1"/>
              <a:t>portfolios</a:t>
            </a:r>
            <a:r>
              <a:rPr lang="it-IT" dirty="0"/>
              <a:t> with </a:t>
            </a:r>
            <a:r>
              <a:rPr lang="it-IT" dirty="0" err="1"/>
              <a:t>synthetic</a:t>
            </a:r>
            <a:r>
              <a:rPr lang="it-IT" dirty="0"/>
              <a:t> time </a:t>
            </a:r>
            <a:r>
              <a:rPr lang="it-IT" dirty="0" err="1"/>
              <a:t>series</a:t>
            </a:r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90C56C-DA3F-AF4D-A99F-6EAAF9920F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it-IT" dirty="0"/>
              <a:t>Milan, </a:t>
            </a:r>
            <a:r>
              <a:rPr lang="it-IT" dirty="0" err="1"/>
              <a:t>Italy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F6830B7-19FB-BD45-992B-168A9EA9FE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17/11/2025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8D7A27E-3695-3842-992A-AE141A06A6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50223" y="292102"/>
            <a:ext cx="2355217" cy="903814"/>
          </a:xfrm>
        </p:spPr>
        <p:txBody>
          <a:bodyPr/>
          <a:lstStyle/>
          <a:p>
            <a:r>
              <a:rPr lang="it-IT" dirty="0"/>
              <a:t>Pablo Alfaro </a:t>
            </a:r>
            <a:r>
              <a:rPr lang="it-IT" dirty="0" err="1"/>
              <a:t>Lizano</a:t>
            </a:r>
            <a:endParaRPr lang="it-IT" dirty="0"/>
          </a:p>
          <a:p>
            <a:r>
              <a:rPr lang="it-IT" dirty="0"/>
              <a:t>Supervisor: Professor Rocco Mosconi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30AE20BC-1D2F-F348-AEB3-4729A2C264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 dirty="0" err="1"/>
              <a:t>Polimi</a:t>
            </a:r>
            <a:r>
              <a:rPr lang="it-IT" dirty="0"/>
              <a:t> - </a:t>
            </a:r>
            <a:r>
              <a:rPr lang="it-IT" dirty="0" err="1"/>
              <a:t>Gsom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E9D6CD7-3904-D64E-9015-D8483358415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it-IT" dirty="0"/>
              <a:t>Business Analytics &amp; Data Science</a:t>
            </a:r>
          </a:p>
        </p:txBody>
      </p:sp>
    </p:spTree>
    <p:extLst>
      <p:ext uri="{BB962C8B-B14F-4D97-AF65-F5344CB8AC3E}">
        <p14:creationId xmlns:p14="http://schemas.microsoft.com/office/powerpoint/2010/main" val="419277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39B2FB88-6222-9542-93C4-85684C9310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 err="1"/>
              <a:t>Motivation</a:t>
            </a:r>
            <a:r>
              <a:rPr lang="it-IT" dirty="0"/>
              <a:t> &amp; </a:t>
            </a:r>
            <a:r>
              <a:rPr lang="it-IT" dirty="0" err="1"/>
              <a:t>context</a:t>
            </a:r>
            <a:endParaRPr lang="it-IT" dirty="0"/>
          </a:p>
          <a:p>
            <a:r>
              <a:rPr lang="it-IT" dirty="0"/>
              <a:t>Data &amp; </a:t>
            </a:r>
            <a:r>
              <a:rPr lang="it-IT" dirty="0" err="1"/>
              <a:t>Methodology</a:t>
            </a:r>
            <a:endParaRPr lang="it-IT" dirty="0"/>
          </a:p>
          <a:p>
            <a:r>
              <a:rPr lang="it-IT" dirty="0" err="1"/>
              <a:t>Results</a:t>
            </a:r>
            <a:r>
              <a:rPr lang="it-IT" dirty="0"/>
              <a:t> &amp; </a:t>
            </a:r>
            <a:r>
              <a:rPr lang="it-IT" dirty="0" err="1"/>
              <a:t>Validation</a:t>
            </a:r>
            <a:endParaRPr lang="it-IT" dirty="0"/>
          </a:p>
          <a:p>
            <a:r>
              <a:rPr lang="it-IT" dirty="0"/>
              <a:t>Applications &amp; Outlook</a:t>
            </a:r>
          </a:p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6862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3878-6DF5-2812-A1D8-FA9219178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2AB19A1-B5A0-BB5A-063F-BDD6B2C6DD60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B7F246E3-6F55-546B-E1A9-F0B4EC04B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3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64C4FDE-692C-24BF-1B00-9699E0F04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 err="1"/>
              <a:t>Motivation</a:t>
            </a:r>
            <a:r>
              <a:rPr lang="it-IT" sz="2800" dirty="0"/>
              <a:t>: Financial Stress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E432DD-EDA8-F7F4-6341-6D81A61485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4846827"/>
          </a:xfrm>
        </p:spPr>
        <p:txBody>
          <a:bodyPr/>
          <a:lstStyle/>
          <a:p>
            <a:r>
              <a:rPr lang="it-IT" sz="2000" dirty="0" err="1"/>
              <a:t>What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financial</a:t>
            </a:r>
            <a:r>
              <a:rPr lang="it-IT" sz="2000" dirty="0"/>
              <a:t> stress testing?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 err="1"/>
              <a:t>Unpredictibility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Correlated</a:t>
            </a:r>
            <a:r>
              <a:rPr lang="it-IT" sz="2000" dirty="0"/>
              <a:t> </a:t>
            </a:r>
            <a:r>
              <a:rPr lang="it-IT" sz="2000" dirty="0" err="1"/>
              <a:t>losses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Unprecedented</a:t>
            </a:r>
            <a:r>
              <a:rPr lang="it-IT" sz="2000" dirty="0"/>
              <a:t> </a:t>
            </a:r>
            <a:r>
              <a:rPr lang="it-IT" sz="2000" dirty="0" err="1"/>
              <a:t>volatility</a:t>
            </a:r>
            <a:r>
              <a:rPr lang="it-IT" sz="2000" dirty="0"/>
              <a:t> &amp; </a:t>
            </a:r>
            <a:r>
              <a:rPr lang="it-IT" sz="2000" dirty="0" err="1"/>
              <a:t>liquidity</a:t>
            </a:r>
            <a:r>
              <a:rPr lang="it-IT" sz="2000" dirty="0"/>
              <a:t> stress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/>
              <a:t>New </a:t>
            </a:r>
            <a:r>
              <a:rPr lang="it-IT" sz="2000" dirty="0" err="1"/>
              <a:t>explorations</a:t>
            </a:r>
            <a:endParaRPr lang="it-IT" sz="2000" dirty="0"/>
          </a:p>
        </p:txBody>
      </p:sp>
      <p:pic>
        <p:nvPicPr>
          <p:cNvPr id="6" name="Imagen 5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88FDE80A-A59F-6B44-3F2B-23AFE3D3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469" y="2980104"/>
            <a:ext cx="5374855" cy="358579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4577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4D6B-480D-87B9-B10A-4FA17AAA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B33F93C-59B0-EB91-0BA2-9B2873D61F0D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DA4831F3-8346-5D21-6F7A-64851E988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4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30BDE9C-7931-C875-9370-67759868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 err="1"/>
              <a:t>Traditional</a:t>
            </a:r>
            <a:r>
              <a:rPr lang="it-IT" sz="2800" dirty="0"/>
              <a:t> </a:t>
            </a:r>
            <a:r>
              <a:rPr lang="it-IT" sz="2800" dirty="0" err="1"/>
              <a:t>methods</a:t>
            </a:r>
            <a:r>
              <a:rPr lang="it-IT" sz="2800" dirty="0"/>
              <a:t> &amp; </a:t>
            </a:r>
            <a:r>
              <a:rPr lang="it-IT" sz="2800" dirty="0" err="1"/>
              <a:t>Limitations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63AFB9-B5EB-58E3-FDCF-7D32311F947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7"/>
            <a:ext cx="4260272" cy="1527464"/>
          </a:xfrm>
        </p:spPr>
        <p:txBody>
          <a:bodyPr/>
          <a:lstStyle/>
          <a:p>
            <a:r>
              <a:rPr lang="it-IT" sz="2000" dirty="0" err="1"/>
              <a:t>Historical</a:t>
            </a:r>
            <a:r>
              <a:rPr lang="it-IT" sz="2000" dirty="0"/>
              <a:t> </a:t>
            </a:r>
            <a:r>
              <a:rPr lang="it-IT" sz="2000" dirty="0" err="1"/>
              <a:t>Simulation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Today’s</a:t>
            </a:r>
            <a:r>
              <a:rPr lang="it-IT" sz="2000" dirty="0"/>
              <a:t> </a:t>
            </a:r>
            <a:r>
              <a:rPr lang="it-IT" sz="2000" dirty="0" err="1"/>
              <a:t>portfolios</a:t>
            </a:r>
            <a:r>
              <a:rPr lang="it-IT" sz="2000" dirty="0"/>
              <a:t> on </a:t>
            </a:r>
            <a:r>
              <a:rPr lang="it-IT" sz="2000" dirty="0" err="1"/>
              <a:t>past</a:t>
            </a:r>
            <a:r>
              <a:rPr lang="it-IT" sz="2000" dirty="0"/>
              <a:t> </a:t>
            </a:r>
            <a:r>
              <a:rPr lang="it-IT" sz="2000" dirty="0" err="1"/>
              <a:t>scenarios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Outcome</a:t>
            </a:r>
            <a:r>
              <a:rPr lang="it-IT" sz="2000" dirty="0"/>
              <a:t> limited</a:t>
            </a:r>
          </a:p>
        </p:txBody>
      </p:sp>
      <p:pic>
        <p:nvPicPr>
          <p:cNvPr id="6" name="Imagen 5" descr="Gráfico, Gráfico de superficie&#10;&#10;El contenido generado por IA puede ser incorrecto.">
            <a:extLst>
              <a:ext uri="{FF2B5EF4-FFF2-40B4-BE49-F238E27FC236}">
                <a16:creationId xmlns:a16="http://schemas.microsoft.com/office/drawing/2014/main" id="{944794F5-84EE-401F-9947-0DB56DF41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4" y="2857500"/>
            <a:ext cx="5727989" cy="382090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074A4A15-E431-E188-44DE-F9EBE33A1A93}"/>
              </a:ext>
            </a:extLst>
          </p:cNvPr>
          <p:cNvSpPr txBox="1">
            <a:spLocks/>
          </p:cNvSpPr>
          <p:nvPr/>
        </p:nvSpPr>
        <p:spPr>
          <a:xfrm>
            <a:off x="7000009" y="1593272"/>
            <a:ext cx="4260272" cy="25284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601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it-IT" sz="2000" dirty="0" err="1"/>
              <a:t>Gaussian</a:t>
            </a:r>
            <a:r>
              <a:rPr lang="it-IT" sz="2000" dirty="0"/>
              <a:t> </a:t>
            </a:r>
            <a:r>
              <a:rPr lang="it-IT" sz="2000" dirty="0" err="1"/>
              <a:t>Copulas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Join assets on </a:t>
            </a:r>
            <a:r>
              <a:rPr lang="it-IT" sz="2000" dirty="0" err="1"/>
              <a:t>correlation</a:t>
            </a:r>
            <a:r>
              <a:rPr lang="it-IT" sz="2000" dirty="0"/>
              <a:t> </a:t>
            </a:r>
            <a:r>
              <a:rPr lang="it-IT" sz="2000" dirty="0" err="1"/>
              <a:t>matrix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Dependance </a:t>
            </a:r>
            <a:r>
              <a:rPr lang="it-IT" sz="2000" dirty="0" err="1"/>
              <a:t>assumptions</a:t>
            </a:r>
            <a:endParaRPr lang="it-IT" sz="2000" dirty="0"/>
          </a:p>
        </p:txBody>
      </p:sp>
      <p:pic>
        <p:nvPicPr>
          <p:cNvPr id="8" name="Imagen 7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5242EDCF-1B19-C972-9B33-A84A0652E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54" y="3297381"/>
            <a:ext cx="4447321" cy="296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36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E0D8-01E5-B08C-F327-D908F228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915EB88-5231-D187-F1F2-EAB508D560EE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933A8A72-32AC-5A19-C142-63B13188B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5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E7C1338-7DFD-35AA-BE68-E6051023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/>
              <a:t>New </a:t>
            </a:r>
            <a:r>
              <a:rPr lang="it-IT" sz="2800" dirty="0" err="1"/>
              <a:t>frontiers</a:t>
            </a:r>
            <a:r>
              <a:rPr lang="it-IT" sz="2800" dirty="0"/>
              <a:t>: Model </a:t>
            </a:r>
            <a:r>
              <a:rPr lang="it-IT" sz="2800" dirty="0" err="1"/>
              <a:t>overview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38FA21-83D7-77B3-0ACA-E9E2A8A6E9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4846827"/>
          </a:xfrm>
        </p:spPr>
        <p:txBody>
          <a:bodyPr/>
          <a:lstStyle/>
          <a:p>
            <a:r>
              <a:rPr lang="it-IT" sz="2000" dirty="0"/>
              <a:t>New models: DNN, RNN, </a:t>
            </a:r>
            <a:r>
              <a:rPr lang="it-IT" sz="2000" dirty="0" err="1"/>
              <a:t>LSTMs</a:t>
            </a:r>
            <a:endParaRPr lang="it-IT" sz="2000" dirty="0"/>
          </a:p>
          <a:p>
            <a:endParaRPr lang="it-IT" sz="2000" dirty="0"/>
          </a:p>
          <a:p>
            <a:r>
              <a:rPr lang="it-IT" sz="2000" dirty="0"/>
              <a:t>Generative </a:t>
            </a:r>
            <a:r>
              <a:rPr lang="it-IT" sz="2000" dirty="0" err="1"/>
              <a:t>Adversarial</a:t>
            </a:r>
            <a:r>
              <a:rPr lang="it-IT" sz="2000" dirty="0"/>
              <a:t> Networks (</a:t>
            </a:r>
            <a:r>
              <a:rPr lang="it-IT" sz="2000" dirty="0" err="1"/>
              <a:t>GANs</a:t>
            </a:r>
            <a:r>
              <a:rPr lang="it-IT" sz="2000" dirty="0"/>
              <a:t>)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Learn</a:t>
            </a:r>
            <a:r>
              <a:rPr lang="it-IT" sz="2000" dirty="0"/>
              <a:t> to generate data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/>
              <a:t>TimeGAN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Generative power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Temporal</a:t>
            </a:r>
            <a:r>
              <a:rPr lang="it-IT" sz="2000" dirty="0"/>
              <a:t> </a:t>
            </a:r>
            <a:r>
              <a:rPr lang="it-IT" sz="2000" dirty="0" err="1"/>
              <a:t>architecture</a:t>
            </a:r>
            <a:endParaRPr lang="it-IT" sz="2000" dirty="0"/>
          </a:p>
        </p:txBody>
      </p:sp>
      <p:pic>
        <p:nvPicPr>
          <p:cNvPr id="6" name="Imagen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751DA81-8592-4AA6-A743-6A26BA059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964" y="3562350"/>
            <a:ext cx="4857750" cy="2857500"/>
          </a:xfrm>
          <a:prstGeom prst="ellipse">
            <a:avLst/>
          </a:prstGeom>
          <a:ln w="3175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24669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A64F-2364-1FA6-AE44-DCFBCC6D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2533FEC-E548-D762-C2B7-AB57F44DAA73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23734C28-E892-0C62-D568-D3112619A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6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3404058-D317-2644-F699-E1CC4F28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/>
              <a:t>Model </a:t>
            </a:r>
            <a:r>
              <a:rPr lang="it-IT" sz="2800" dirty="0" err="1"/>
              <a:t>Overview</a:t>
            </a:r>
            <a:r>
              <a:rPr lang="it-IT" sz="2800" dirty="0"/>
              <a:t>: GAN</a:t>
            </a:r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CB4D0377-A0B3-0FEB-3019-AAEABE55F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83" y="1206217"/>
            <a:ext cx="8717233" cy="487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1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D55E6-912B-BE23-7840-CE20AD542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E577E2A-BA45-373D-2346-6FCF73B6EE5B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1ED363CE-C733-526E-A251-704E0C5D9E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7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F8BEC8B-1A11-41CD-5A8B-1113EFD7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/>
              <a:t>Model </a:t>
            </a:r>
            <a:r>
              <a:rPr lang="it-IT" sz="2800" dirty="0" err="1"/>
              <a:t>Overview</a:t>
            </a:r>
            <a:r>
              <a:rPr lang="it-IT" sz="2800" dirty="0"/>
              <a:t>: TimeGAN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94F7FF0-1571-489E-475C-0B1AB0EA5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965" y="1212151"/>
            <a:ext cx="8654974" cy="482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30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C881-1D70-9FB7-8536-77760C0F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228C66B-3509-1F0B-ACE1-FC0A4E3A4866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3C33AC30-1093-AE30-5807-B38450BA1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8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D1A1687-2BBB-1748-5B46-629B7654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/>
              <a:t>Data </a:t>
            </a:r>
            <a:r>
              <a:rPr lang="it-IT" sz="2800" dirty="0" err="1"/>
              <a:t>Gathering</a:t>
            </a:r>
            <a:r>
              <a:rPr lang="it-IT" sz="2800" dirty="0"/>
              <a:t> &amp; </a:t>
            </a:r>
            <a:r>
              <a:rPr lang="it-IT" sz="2800" dirty="0" err="1"/>
              <a:t>Preparation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AEA3BD-1986-9D75-4E0F-4ECD07F4112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4846827"/>
          </a:xfrm>
        </p:spPr>
        <p:txBody>
          <a:bodyPr/>
          <a:lstStyle/>
          <a:p>
            <a:r>
              <a:rPr lang="it-IT" sz="2000" dirty="0"/>
              <a:t>Dataset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Equity, </a:t>
            </a:r>
            <a:r>
              <a:rPr lang="it-IT" sz="2000" dirty="0" err="1"/>
              <a:t>fixed</a:t>
            </a:r>
            <a:r>
              <a:rPr lang="it-IT" sz="2000" dirty="0"/>
              <a:t> </a:t>
            </a:r>
            <a:r>
              <a:rPr lang="it-IT" sz="2000" dirty="0" err="1"/>
              <a:t>income</a:t>
            </a:r>
            <a:r>
              <a:rPr lang="it-IT" sz="2000" dirty="0"/>
              <a:t>, credit market </a:t>
            </a:r>
            <a:r>
              <a:rPr lang="it-IT" sz="2000" dirty="0" err="1"/>
              <a:t>proxies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Risk </a:t>
            </a:r>
            <a:r>
              <a:rPr lang="it-IT" sz="2000" dirty="0" err="1"/>
              <a:t>factors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26 features (2004 – 2025)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/>
              <a:t>TimeGAN </a:t>
            </a:r>
            <a:r>
              <a:rPr lang="it-IT" sz="2000" dirty="0" err="1"/>
              <a:t>compatability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60 day </a:t>
            </a:r>
            <a:r>
              <a:rPr lang="it-IT" sz="2000" dirty="0" err="1"/>
              <a:t>rolling</a:t>
            </a:r>
            <a:r>
              <a:rPr lang="it-IT" sz="2000" dirty="0"/>
              <a:t> windows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Regime labels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4,400 / 60 / 26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 err="1"/>
              <a:t>Missingness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Exogenous</a:t>
            </a:r>
            <a:r>
              <a:rPr lang="it-IT" sz="2000" dirty="0"/>
              <a:t> </a:t>
            </a:r>
            <a:r>
              <a:rPr lang="it-IT" sz="2000" dirty="0" err="1"/>
              <a:t>factors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Asset-</a:t>
            </a:r>
            <a:r>
              <a:rPr lang="it-IT" sz="2000" dirty="0" err="1"/>
              <a:t>level</a:t>
            </a:r>
            <a:r>
              <a:rPr lang="it-IT" sz="2000" dirty="0"/>
              <a:t> prices</a:t>
            </a:r>
          </a:p>
        </p:txBody>
      </p:sp>
      <p:pic>
        <p:nvPicPr>
          <p:cNvPr id="6" name="Imagen 5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74B91EEF-4DD7-1184-B2EF-319932D19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722" y="3586667"/>
            <a:ext cx="3096490" cy="309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45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83B1-4423-757C-884A-300EFA7B3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8B89AC3-1227-F879-9181-52616BFF7821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5BB71C3E-035D-9DB5-D08E-AC98CE8178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9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0968530-3C46-F291-F6F4-A371E112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/>
              <a:t>Model Development &amp; </a:t>
            </a:r>
            <a:r>
              <a:rPr lang="it-IT" sz="2800" dirty="0" err="1"/>
              <a:t>Calibration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AB5F4-E7D9-E8EF-8DAF-E0EA5A3343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4846827"/>
          </a:xfrm>
        </p:spPr>
        <p:txBody>
          <a:bodyPr/>
          <a:lstStyle/>
          <a:p>
            <a:r>
              <a:rPr lang="it-IT" sz="2000" dirty="0" err="1"/>
              <a:t>Calibrated</a:t>
            </a:r>
            <a:r>
              <a:rPr lang="it-IT" sz="2000" dirty="0"/>
              <a:t> in </a:t>
            </a:r>
            <a:r>
              <a:rPr lang="it-IT" sz="2000" dirty="0" err="1"/>
              <a:t>valuation</a:t>
            </a:r>
            <a:r>
              <a:rPr lang="it-IT" sz="2000" dirty="0"/>
              <a:t> </a:t>
            </a:r>
            <a:r>
              <a:rPr lang="it-IT" sz="2000" dirty="0" err="1"/>
              <a:t>metrics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Discriminative Score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Predictive</a:t>
            </a:r>
            <a:r>
              <a:rPr lang="it-IT" sz="2000" dirty="0"/>
              <a:t> Score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Kolmogorov</a:t>
            </a:r>
            <a:r>
              <a:rPr lang="it-IT" sz="2000" dirty="0"/>
              <a:t>-Smirnov (KS) </a:t>
            </a:r>
            <a:r>
              <a:rPr lang="it-IT" sz="2000" dirty="0" err="1"/>
              <a:t>Distance</a:t>
            </a:r>
            <a:endParaRPr lang="it-IT" sz="2000" dirty="0"/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/>
              <a:t>Relative weights of </a:t>
            </a:r>
            <a:r>
              <a:rPr lang="it-IT" sz="2000" dirty="0" err="1"/>
              <a:t>loss</a:t>
            </a:r>
            <a:r>
              <a:rPr lang="it-IT" sz="2000" dirty="0"/>
              <a:t> </a:t>
            </a:r>
            <a:r>
              <a:rPr lang="it-IT" sz="2000" dirty="0" err="1"/>
              <a:t>terms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Reconstruction</a:t>
            </a:r>
            <a:r>
              <a:rPr lang="it-IT" sz="2000" dirty="0"/>
              <a:t> </a:t>
            </a:r>
            <a:r>
              <a:rPr lang="it-IT" sz="2000" dirty="0" err="1"/>
              <a:t>term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Supervised</a:t>
            </a:r>
            <a:r>
              <a:rPr lang="it-IT" sz="2000" dirty="0"/>
              <a:t> </a:t>
            </a:r>
            <a:r>
              <a:rPr lang="it-IT" sz="2000" dirty="0" err="1"/>
              <a:t>term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Adverserial</a:t>
            </a:r>
            <a:r>
              <a:rPr lang="it-IT" sz="2000" dirty="0"/>
              <a:t> </a:t>
            </a:r>
            <a:r>
              <a:rPr lang="it-IT" sz="2000" dirty="0" err="1"/>
              <a:t>term</a:t>
            </a:r>
            <a:endParaRPr lang="it-IT" sz="2000" dirty="0"/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/>
              <a:t>Training setup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Generator : Discriminator = 2 : 1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Batch size = 128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Learning Rate = 1e–4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Optimizer</a:t>
            </a:r>
            <a:r>
              <a:rPr lang="it-IT" sz="2000" dirty="0"/>
              <a:t> </a:t>
            </a:r>
            <a:r>
              <a:rPr lang="el-GR" sz="2000" dirty="0"/>
              <a:t>β₁, β₂</a:t>
            </a:r>
            <a:r>
              <a:rPr lang="es-ES" sz="2000" dirty="0"/>
              <a:t> = 0.9, 0.999</a:t>
            </a:r>
            <a:endParaRPr lang="it-IT" sz="2000" dirty="0"/>
          </a:p>
        </p:txBody>
      </p:sp>
      <p:pic>
        <p:nvPicPr>
          <p:cNvPr id="6" name="Imagen 5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25CD19B6-7A9C-F4D9-435C-4BEEF5E7C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765" y="3753449"/>
            <a:ext cx="5403559" cy="273513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94B21CD-3FB9-77DB-FD27-B67DFA45BCD1}"/>
                  </a:ext>
                </a:extLst>
              </p:cNvPr>
              <p:cNvSpPr txBox="1"/>
              <p:nvPr/>
            </p:nvSpPr>
            <p:spPr>
              <a:xfrm>
                <a:off x="6745002" y="3303229"/>
                <a:ext cx="48490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s-ES"/>
                        <m:t>Ltotal</m:t>
                      </m:r>
                      <m:r>
                        <m:rPr>
                          <m:nor/>
                        </m:rPr>
                        <a:rPr lang="es-ES"/>
                        <m:t>​=</m:t>
                      </m:r>
                      <m:r>
                        <m:rPr>
                          <m:nor/>
                        </m:rPr>
                        <a:rPr lang="el-GR"/>
                        <m:t>λ</m:t>
                      </m:r>
                      <m:r>
                        <m:rPr>
                          <m:nor/>
                        </m:rPr>
                        <a:rPr lang="es-ES"/>
                        <m:t>rec</m:t>
                      </m:r>
                      <m:r>
                        <m:rPr>
                          <m:nor/>
                        </m:rPr>
                        <a:rPr lang="es-ES"/>
                        <m:t>​</m:t>
                      </m:r>
                      <m:r>
                        <m:rPr>
                          <m:nor/>
                        </m:rPr>
                        <a:rPr lang="es-ES"/>
                        <m:t>Lrec</m:t>
                      </m:r>
                      <m:r>
                        <m:rPr>
                          <m:nor/>
                        </m:rPr>
                        <a:rPr lang="es-ES"/>
                        <m:t>​+</m:t>
                      </m:r>
                      <m:r>
                        <m:rPr>
                          <m:nor/>
                        </m:rPr>
                        <a:rPr lang="el-GR"/>
                        <m:t>λ</m:t>
                      </m:r>
                      <m:r>
                        <m:rPr>
                          <m:nor/>
                        </m:rPr>
                        <a:rPr lang="es-ES"/>
                        <m:t>sup</m:t>
                      </m:r>
                      <m:r>
                        <m:rPr>
                          <m:nor/>
                        </m:rPr>
                        <a:rPr lang="es-ES"/>
                        <m:t>​</m:t>
                      </m:r>
                      <m:r>
                        <m:rPr>
                          <m:nor/>
                        </m:rPr>
                        <a:rPr lang="es-ES"/>
                        <m:t>Lsup</m:t>
                      </m:r>
                      <m:r>
                        <m:rPr>
                          <m:nor/>
                        </m:rPr>
                        <a:rPr lang="es-ES"/>
                        <m:t>​+</m:t>
                      </m:r>
                      <m:r>
                        <m:rPr>
                          <m:nor/>
                        </m:rPr>
                        <a:rPr lang="el-GR"/>
                        <m:t>λ</m:t>
                      </m:r>
                      <m:r>
                        <m:rPr>
                          <m:nor/>
                        </m:rPr>
                        <a:rPr lang="es-ES"/>
                        <m:t>adv</m:t>
                      </m:r>
                      <m:r>
                        <m:rPr>
                          <m:nor/>
                        </m:rPr>
                        <a:rPr lang="es-ES"/>
                        <m:t>​</m:t>
                      </m:r>
                      <m:r>
                        <m:rPr>
                          <m:nor/>
                        </m:rPr>
                        <a:rPr lang="es-ES"/>
                        <m:t>Ladv</m:t>
                      </m:r>
                      <m:r>
                        <m:rPr>
                          <m:nor/>
                        </m:rPr>
                        <a:rPr lang="es-ES"/>
                        <m:t>​+</m:t>
                      </m:r>
                      <m:r>
                        <m:rPr>
                          <m:nor/>
                        </m:rPr>
                        <a:rPr lang="el-GR"/>
                        <m:t>λ</m:t>
                      </m:r>
                      <m:r>
                        <m:rPr>
                          <m:nor/>
                        </m:rPr>
                        <a:rPr lang="es-ES"/>
                        <m:t>gp</m:t>
                      </m:r>
                      <m:r>
                        <m:rPr>
                          <m:nor/>
                        </m:rPr>
                        <a:rPr lang="es-ES"/>
                        <m:t>​</m:t>
                      </m:r>
                      <m:r>
                        <m:rPr>
                          <m:nor/>
                        </m:rPr>
                        <a:rPr lang="es-ES"/>
                        <m:t>Lgp</m:t>
                      </m:r>
                      <m:r>
                        <m:rPr>
                          <m:nor/>
                        </m:rPr>
                        <a:rPr lang="es-ES"/>
                        <m:t>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E94B21CD-3FB9-77DB-FD27-B67DFA45B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002" y="3303229"/>
                <a:ext cx="4849084" cy="276999"/>
              </a:xfrm>
              <a:prstGeom prst="rect">
                <a:avLst/>
              </a:prstGeom>
              <a:blipFill>
                <a:blip r:embed="rId3"/>
                <a:stretch>
                  <a:fillRect l="-754" r="-138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3643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398D-B4DC-EBBE-F696-6325258E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A9030C6-3C04-A17C-F7F2-E183C5B4E861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A61FC598-980E-FD66-C81E-FCACE378F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10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6FDA7D-6AE5-501A-79DE-98B359A2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 err="1"/>
              <a:t>Results</a:t>
            </a:r>
            <a:r>
              <a:rPr lang="it-IT" sz="2800" dirty="0"/>
              <a:t> &amp; </a:t>
            </a:r>
            <a:r>
              <a:rPr lang="it-IT" sz="2800" dirty="0" err="1"/>
              <a:t>Diagnostics</a:t>
            </a:r>
            <a:endParaRPr lang="it-IT" sz="28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100645-3B08-602C-BE70-6E6B308EED7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4846827"/>
          </a:xfrm>
        </p:spPr>
        <p:txBody>
          <a:bodyPr/>
          <a:lstStyle/>
          <a:p>
            <a:r>
              <a:rPr lang="it-IT" sz="2000" dirty="0"/>
              <a:t>Discriminative Score = 0.45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Generator performance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 err="1"/>
              <a:t>Predictive</a:t>
            </a:r>
            <a:r>
              <a:rPr lang="it-IT" sz="2000" dirty="0"/>
              <a:t> Score (MSE) = 0.017</a:t>
            </a:r>
          </a:p>
          <a:p>
            <a:pPr marL="342900" indent="-342900">
              <a:buFontTx/>
              <a:buChar char="-"/>
            </a:pPr>
            <a:r>
              <a:rPr lang="it-IT" sz="2000" dirty="0"/>
              <a:t>Short-</a:t>
            </a:r>
            <a:r>
              <a:rPr lang="it-IT" sz="2000" dirty="0" err="1"/>
              <a:t>term</a:t>
            </a:r>
            <a:r>
              <a:rPr lang="it-IT" sz="2000" dirty="0"/>
              <a:t> </a:t>
            </a:r>
            <a:r>
              <a:rPr lang="it-IT" sz="2000" dirty="0" err="1"/>
              <a:t>temporal</a:t>
            </a:r>
            <a:r>
              <a:rPr lang="it-IT" sz="2000" dirty="0"/>
              <a:t> </a:t>
            </a:r>
            <a:r>
              <a:rPr lang="it-IT" sz="2000" dirty="0" err="1"/>
              <a:t>dependancies</a:t>
            </a:r>
            <a:endParaRPr lang="it-IT" sz="2000" dirty="0"/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 err="1"/>
              <a:t>Kolmogorov</a:t>
            </a:r>
            <a:r>
              <a:rPr lang="it-IT" sz="2000" dirty="0"/>
              <a:t>-Smirnov (KS) </a:t>
            </a:r>
            <a:r>
              <a:rPr lang="it-IT" sz="2000" dirty="0" err="1"/>
              <a:t>statistic</a:t>
            </a:r>
            <a:r>
              <a:rPr lang="it-IT" sz="2000" dirty="0"/>
              <a:t> = 0.22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Ditributional</a:t>
            </a:r>
            <a:r>
              <a:rPr lang="it-IT" sz="2000" dirty="0"/>
              <a:t> </a:t>
            </a:r>
            <a:r>
              <a:rPr lang="it-IT" sz="2000" dirty="0" err="1"/>
              <a:t>distance</a:t>
            </a:r>
            <a:r>
              <a:rPr lang="it-IT" sz="2000" dirty="0"/>
              <a:t> of features</a:t>
            </a:r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 err="1"/>
              <a:t>Consistancy</a:t>
            </a:r>
            <a:r>
              <a:rPr lang="it-IT" sz="2000" dirty="0"/>
              <a:t> </a:t>
            </a:r>
            <a:r>
              <a:rPr lang="it-IT" sz="2000" dirty="0" err="1"/>
              <a:t>reached</a:t>
            </a:r>
            <a:endParaRPr lang="it-IT" sz="2000" dirty="0"/>
          </a:p>
        </p:txBody>
      </p:sp>
      <p:pic>
        <p:nvPicPr>
          <p:cNvPr id="6" name="Imagen 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7011BA3-A2AD-EC2D-4D63-13C3E7EDB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916" y="4083025"/>
            <a:ext cx="5628408" cy="2776206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C3B6B7B-FD54-67F9-AD2D-A411F18B6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790" y="1174933"/>
            <a:ext cx="4686405" cy="289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161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454F-C93E-3579-8FA5-349860FA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EEB8685-0B32-4CFD-1E3E-A5D2034DD681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6111DED5-7645-7DAF-4631-C43906977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11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5197C7-EC07-CE29-B4FB-3E57FFABF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 err="1"/>
              <a:t>Results</a:t>
            </a:r>
            <a:r>
              <a:rPr lang="it-IT" sz="2800" dirty="0"/>
              <a:t> &amp; </a:t>
            </a:r>
            <a:r>
              <a:rPr lang="it-IT" sz="2800" dirty="0" err="1"/>
              <a:t>Diagnostics</a:t>
            </a:r>
            <a:endParaRPr lang="it-IT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3BD12EC-584F-0C8C-C792-31D1EE33C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52" y="1780898"/>
            <a:ext cx="5980671" cy="36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05E9393-143E-FE7A-80DB-2E9A2B63F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07" y="1701497"/>
            <a:ext cx="4881929" cy="3775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68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40814-17BE-CCA0-0648-B805AF7F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B3DF861-A9BA-52F8-90C4-8573A15C1982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9729CCF2-C77F-6404-4147-CA05CE4CE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12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BFB8134-69E7-FFBF-50C0-B9C2052F2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 err="1"/>
              <a:t>Practical</a:t>
            </a:r>
            <a:r>
              <a:rPr lang="it-IT" sz="2800" dirty="0"/>
              <a:t> Applications</a:t>
            </a:r>
          </a:p>
        </p:txBody>
      </p:sp>
      <p:sp>
        <p:nvSpPr>
          <p:cNvPr id="5" name="Segnaposto contenuto 2">
            <a:extLst>
              <a:ext uri="{FF2B5EF4-FFF2-40B4-BE49-F238E27FC236}">
                <a16:creationId xmlns:a16="http://schemas.microsoft.com/office/drawing/2014/main" id="{E409518A-B4B6-ED3C-9085-48B51D437CD4}"/>
              </a:ext>
            </a:extLst>
          </p:cNvPr>
          <p:cNvSpPr txBox="1">
            <a:spLocks/>
          </p:cNvSpPr>
          <p:nvPr/>
        </p:nvSpPr>
        <p:spPr>
          <a:xfrm>
            <a:off x="311006" y="1336823"/>
            <a:ext cx="11569988" cy="484682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60100" marR="0" indent="-3429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Real Value </a:t>
            </a:r>
            <a:r>
              <a:rPr lang="it-IT" sz="2000" dirty="0" err="1"/>
              <a:t>at</a:t>
            </a:r>
            <a:r>
              <a:rPr lang="it-IT" sz="2000" dirty="0"/>
              <a:t> Risk (VaR) 95% = -2.8%</a:t>
            </a:r>
          </a:p>
          <a:p>
            <a:r>
              <a:rPr lang="it-IT" sz="2000" dirty="0"/>
              <a:t>Real </a:t>
            </a:r>
            <a:r>
              <a:rPr lang="it-IT" sz="2000" dirty="0" err="1"/>
              <a:t>Conditional</a:t>
            </a:r>
            <a:r>
              <a:rPr lang="it-IT" sz="2000" dirty="0"/>
              <a:t> Value </a:t>
            </a:r>
            <a:r>
              <a:rPr lang="it-IT" sz="2000" dirty="0" err="1"/>
              <a:t>at</a:t>
            </a:r>
            <a:r>
              <a:rPr lang="it-IT" sz="2000" dirty="0"/>
              <a:t> Risk (CVaR) </a:t>
            </a:r>
            <a:r>
              <a:rPr lang="it-IT" sz="2000" dirty="0" err="1"/>
              <a:t>beyond</a:t>
            </a:r>
            <a:r>
              <a:rPr lang="it-IT" sz="2000" dirty="0"/>
              <a:t> 95% =-3.9%</a:t>
            </a:r>
          </a:p>
          <a:p>
            <a:endParaRPr lang="it-IT" sz="2000" dirty="0"/>
          </a:p>
          <a:p>
            <a:r>
              <a:rPr lang="it-IT" sz="2000" dirty="0" err="1"/>
              <a:t>Synthetic</a:t>
            </a:r>
            <a:r>
              <a:rPr lang="it-IT" sz="2000" dirty="0"/>
              <a:t> Value </a:t>
            </a:r>
            <a:r>
              <a:rPr lang="it-IT" sz="2000" dirty="0" err="1"/>
              <a:t>at</a:t>
            </a:r>
            <a:r>
              <a:rPr lang="it-IT" sz="2000" dirty="0"/>
              <a:t> Risk (VaR) 95% = -2.7%</a:t>
            </a:r>
          </a:p>
          <a:p>
            <a:r>
              <a:rPr lang="it-IT" sz="2000" dirty="0" err="1"/>
              <a:t>Synthetic</a:t>
            </a:r>
            <a:r>
              <a:rPr lang="it-IT" sz="2000" dirty="0"/>
              <a:t> </a:t>
            </a:r>
            <a:r>
              <a:rPr lang="it-IT" sz="2000" dirty="0" err="1"/>
              <a:t>Conditional</a:t>
            </a:r>
            <a:r>
              <a:rPr lang="it-IT" sz="2000" dirty="0"/>
              <a:t> Value </a:t>
            </a:r>
            <a:r>
              <a:rPr lang="it-IT" sz="2000" dirty="0" err="1"/>
              <a:t>at</a:t>
            </a:r>
            <a:r>
              <a:rPr lang="it-IT" sz="2000" dirty="0"/>
              <a:t> Risk (CVaR) </a:t>
            </a:r>
            <a:r>
              <a:rPr lang="it-IT" sz="2000" dirty="0" err="1"/>
              <a:t>beyond</a:t>
            </a:r>
            <a:r>
              <a:rPr lang="it-IT" sz="2000" dirty="0"/>
              <a:t> 95% = -3.8%</a:t>
            </a:r>
          </a:p>
          <a:p>
            <a:endParaRPr lang="it-IT" sz="2000" dirty="0"/>
          </a:p>
          <a:p>
            <a:r>
              <a:rPr lang="it-IT" sz="2000" dirty="0" err="1"/>
              <a:t>Equally</a:t>
            </a:r>
            <a:r>
              <a:rPr lang="it-IT" sz="2000" dirty="0"/>
              <a:t> </a:t>
            </a:r>
            <a:r>
              <a:rPr lang="it-IT" sz="2000" dirty="0" err="1"/>
              <a:t>Weighted</a:t>
            </a:r>
            <a:r>
              <a:rPr lang="it-IT" sz="2000" dirty="0"/>
              <a:t> Portfolio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Volatility</a:t>
            </a:r>
            <a:r>
              <a:rPr lang="it-IT" sz="2000" dirty="0"/>
              <a:t> Clustering</a:t>
            </a:r>
          </a:p>
          <a:p>
            <a:pPr marL="342900" indent="-342900">
              <a:buFontTx/>
              <a:buChar char="-"/>
            </a:pPr>
            <a:r>
              <a:rPr lang="it-IT" sz="2000" dirty="0" err="1"/>
              <a:t>Correlated</a:t>
            </a:r>
            <a:r>
              <a:rPr lang="it-IT" sz="2000" dirty="0"/>
              <a:t> </a:t>
            </a:r>
            <a:r>
              <a:rPr lang="it-IT" sz="2000" dirty="0" err="1"/>
              <a:t>Drawdowns</a:t>
            </a:r>
            <a:endParaRPr lang="it-IT" sz="2000" dirty="0"/>
          </a:p>
        </p:txBody>
      </p:sp>
      <p:pic>
        <p:nvPicPr>
          <p:cNvPr id="6" name="Imagen 5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A5682EC1-A20E-180C-A7C2-90C39CBCE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17" y="4210257"/>
            <a:ext cx="4933483" cy="1973393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77B2C65-5D7A-2DE0-0D0E-62104B742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831" y="3684268"/>
            <a:ext cx="4808381" cy="290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E00745EF-3711-E8AB-D9BB-59DEDF140B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717" y="1100623"/>
            <a:ext cx="4361692" cy="259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79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017F7-651B-2B34-410B-DF31B1E3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92DFDA3-092E-68D0-3ED4-387AACCEFE0C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743C7D7B-41B8-14BD-3BDC-9B3FD4BE3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13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7247DB9-1209-9F1C-B8AE-B489CA42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 err="1"/>
              <a:t>Limitations</a:t>
            </a:r>
            <a:r>
              <a:rPr lang="it-IT" sz="2800" dirty="0"/>
              <a:t> &amp; Future 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95E329-EE2A-835A-78BF-83B19C099A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4846827"/>
          </a:xfrm>
        </p:spPr>
        <p:txBody>
          <a:bodyPr/>
          <a:lstStyle/>
          <a:p>
            <a:r>
              <a:rPr lang="it-IT" sz="2000" dirty="0"/>
              <a:t>Limited </a:t>
            </a:r>
            <a:r>
              <a:rPr lang="it-IT" sz="2000" dirty="0" err="1"/>
              <a:t>number</a:t>
            </a:r>
            <a:r>
              <a:rPr lang="it-IT" sz="2000" dirty="0"/>
              <a:t> of </a:t>
            </a:r>
            <a:r>
              <a:rPr lang="it-IT" sz="2000" dirty="0" err="1"/>
              <a:t>variables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/>
              <a:t>Expansion of dataset</a:t>
            </a:r>
          </a:p>
          <a:p>
            <a:pPr indent="0">
              <a:buNone/>
            </a:pPr>
            <a:endParaRPr lang="it-IT" sz="2000" dirty="0"/>
          </a:p>
          <a:p>
            <a:pPr marL="342900" indent="-342900"/>
            <a:r>
              <a:rPr lang="it-IT" sz="2000" dirty="0" err="1"/>
              <a:t>Economical</a:t>
            </a:r>
            <a:r>
              <a:rPr lang="it-IT" sz="2000" dirty="0"/>
              <a:t> </a:t>
            </a:r>
            <a:r>
              <a:rPr lang="it-IT" sz="2000" dirty="0" err="1"/>
              <a:t>interpretation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Translation</a:t>
            </a:r>
            <a:r>
              <a:rPr lang="it-IT" sz="2000" dirty="0"/>
              <a:t> </a:t>
            </a:r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 err="1"/>
              <a:t>meaningful</a:t>
            </a:r>
            <a:r>
              <a:rPr lang="it-IT" sz="2000" dirty="0"/>
              <a:t> </a:t>
            </a:r>
            <a:r>
              <a:rPr lang="it-IT" sz="2000" dirty="0" err="1"/>
              <a:t>narratives</a:t>
            </a:r>
            <a:endParaRPr lang="it-IT" sz="2000" dirty="0"/>
          </a:p>
          <a:p>
            <a:pPr marL="342900" indent="-342900">
              <a:buFontTx/>
              <a:buChar char="-"/>
            </a:pPr>
            <a:endParaRPr lang="it-IT" sz="2000" dirty="0"/>
          </a:p>
          <a:p>
            <a:pPr marL="342900" indent="-342900"/>
            <a:r>
              <a:rPr lang="it-IT" sz="2000" dirty="0"/>
              <a:t>Multi asset / Sector-</a:t>
            </a:r>
            <a:r>
              <a:rPr lang="it-IT" sz="2000" dirty="0" err="1"/>
              <a:t>level</a:t>
            </a:r>
            <a:endParaRPr lang="it-IT" sz="2000" dirty="0"/>
          </a:p>
          <a:p>
            <a:pPr marL="342900" indent="-342900">
              <a:buFontTx/>
              <a:buChar char="-"/>
            </a:pPr>
            <a:r>
              <a:rPr lang="it-IT" sz="2000" dirty="0" err="1"/>
              <a:t>Broader</a:t>
            </a:r>
            <a:r>
              <a:rPr lang="it-IT" sz="2000" dirty="0"/>
              <a:t> pipeline</a:t>
            </a:r>
          </a:p>
          <a:p>
            <a:pPr indent="0">
              <a:buNone/>
            </a:pPr>
            <a:endParaRPr lang="it-IT" sz="2000" dirty="0"/>
          </a:p>
          <a:p>
            <a:endParaRPr lang="it-IT" sz="2000" dirty="0"/>
          </a:p>
        </p:txBody>
      </p:sp>
      <p:pic>
        <p:nvPicPr>
          <p:cNvPr id="6" name="Imagen 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F3DC496-49FA-B032-89B8-227AA403C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873" y="3733521"/>
            <a:ext cx="5010472" cy="312447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32210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AD0DC94-02BE-6041-AC3F-FF57E10C71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 err="1"/>
              <a:t>Thank</a:t>
            </a:r>
            <a:r>
              <a:rPr lang="it-IT" dirty="0"/>
              <a:t> </a:t>
            </a:r>
            <a:r>
              <a:rPr lang="it-IT" dirty="0" err="1"/>
              <a:t>you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FEA4046-1975-0A44-A482-8E1ADD4183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Pablo.alfaro@gsom.polimi.it</a:t>
            </a:r>
          </a:p>
        </p:txBody>
      </p:sp>
      <p:sp>
        <p:nvSpPr>
          <p:cNvPr id="7" name="Segnaposto testo 2">
            <a:extLst>
              <a:ext uri="{FF2B5EF4-FFF2-40B4-BE49-F238E27FC236}">
                <a16:creationId xmlns:a16="http://schemas.microsoft.com/office/drawing/2014/main" id="{FC591E1D-4DC3-70C3-D9BC-38EF4EDC6547}"/>
              </a:ext>
            </a:extLst>
          </p:cNvPr>
          <p:cNvSpPr txBox="1">
            <a:spLocks/>
          </p:cNvSpPr>
          <p:nvPr/>
        </p:nvSpPr>
        <p:spPr>
          <a:xfrm>
            <a:off x="317500" y="3136034"/>
            <a:ext cx="11553825" cy="873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5550" b="0" i="0" kern="1200" cap="all" baseline="0">
                <a:solidFill>
                  <a:schemeClr val="bg1"/>
                </a:solidFill>
                <a:latin typeface="Söhne Schmal Kräftig" panose="02060606060206060203" pitchFamily="18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ts val="5500"/>
              </a:lnSpc>
              <a:spcBef>
                <a:spcPts val="500"/>
              </a:spcBef>
              <a:buFont typeface="Arial" panose="020B0604020202020204" pitchFamily="34" charset="0"/>
              <a:buNone/>
              <a:defRPr sz="5550" b="0" i="0" kern="1200" cap="all" baseline="0">
                <a:solidFill>
                  <a:schemeClr val="tx1"/>
                </a:solidFill>
                <a:latin typeface="Test Söhne Kräftig" panose="020B0503030202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b="0" i="0" kern="1200">
                <a:solidFill>
                  <a:schemeClr val="tx1"/>
                </a:solidFill>
                <a:latin typeface="Test Söhne Kräftig" panose="020B0503030202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b="0" i="0" kern="1200">
                <a:solidFill>
                  <a:schemeClr val="tx1"/>
                </a:solidFill>
                <a:latin typeface="Test Söhne Kräftig" panose="020B0503030202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75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50" b="0" i="0" kern="1200">
                <a:solidFill>
                  <a:schemeClr val="tx1"/>
                </a:solidFill>
                <a:latin typeface="Test Söhne Kräftig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65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816411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37916-64A8-CEF6-6F5F-75DF61EF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6592CD2-9F9A-0C22-D86A-B280078B7734}"/>
              </a:ext>
            </a:extLst>
          </p:cNvPr>
          <p:cNvSpPr/>
          <p:nvPr/>
        </p:nvSpPr>
        <p:spPr>
          <a:xfrm>
            <a:off x="0" y="1"/>
            <a:ext cx="12192000" cy="11006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Segnaposto numero diapositiva 1">
            <a:extLst>
              <a:ext uri="{FF2B5EF4-FFF2-40B4-BE49-F238E27FC236}">
                <a16:creationId xmlns:a16="http://schemas.microsoft.com/office/drawing/2014/main" id="{83D53A6C-ECA7-5582-BC7B-E457B24D4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B1423B-B126-4CFB-BD17-F47B21D01BE7}" type="slidenum">
              <a:rPr lang="it-IT" smtClean="0"/>
              <a:pPr/>
              <a:t>15</a:t>
            </a:fld>
            <a:endParaRPr lang="it-IT" sz="85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B409941-F3B4-B336-4F38-701B781A8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" y="415636"/>
            <a:ext cx="11553825" cy="593272"/>
          </a:xfrm>
        </p:spPr>
        <p:txBody>
          <a:bodyPr/>
          <a:lstStyle/>
          <a:p>
            <a:pPr algn="ctr"/>
            <a:r>
              <a:rPr lang="it-IT" sz="2800" dirty="0"/>
              <a:t>Extra Information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C0189A-2E29-7CC8-8694-B0840B98BE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1337" y="1330036"/>
            <a:ext cx="11569988" cy="5950440"/>
          </a:xfrm>
        </p:spPr>
        <p:txBody>
          <a:bodyPr/>
          <a:lstStyle/>
          <a:p>
            <a:r>
              <a:rPr lang="en-US" dirty="0"/>
              <a:t>λ_adv = 5.0 (Adversarial loss weight)</a:t>
            </a:r>
          </a:p>
          <a:p>
            <a:r>
              <a:rPr lang="en-US" dirty="0"/>
              <a:t>λ_sup = 1.0 (Supervised loss weight for temporal coherence)</a:t>
            </a:r>
          </a:p>
          <a:p>
            <a:r>
              <a:rPr lang="en-US" dirty="0"/>
              <a:t>λ_rec = 0.5 (Reconstruction loss weight)</a:t>
            </a:r>
          </a:p>
          <a:p>
            <a:r>
              <a:rPr lang="en-US" dirty="0"/>
              <a:t>λ_gp = 1.0 (Gradient penalty for stability)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it-IT" dirty="0"/>
              <a:t>Solution to «under </a:t>
            </a:r>
            <a:r>
              <a:rPr lang="it-IT" dirty="0" err="1"/>
              <a:t>dispersion</a:t>
            </a:r>
            <a:r>
              <a:rPr lang="it-IT" dirty="0"/>
              <a:t>»</a:t>
            </a:r>
          </a:p>
          <a:p>
            <a:pPr indent="0">
              <a:buNone/>
            </a:pPr>
            <a:r>
              <a:rPr lang="en-US" dirty="0"/>
              <a:t>Calculated scale = std(real) / std(synthetic) and rescaled the synthetic outputs. This is a global, multiplicative correction that preserves the internal covariance structure.</a:t>
            </a:r>
          </a:p>
          <a:p>
            <a:pPr indent="0">
              <a:buNone/>
            </a:pPr>
            <a:endParaRPr lang="en-US" dirty="0"/>
          </a:p>
          <a:p>
            <a:pPr indent="0">
              <a:buNone/>
            </a:pPr>
            <a:r>
              <a:rPr lang="es-ES" dirty="0" err="1"/>
              <a:t>Autocorrelation</a:t>
            </a:r>
            <a:r>
              <a:rPr lang="es-ES" dirty="0"/>
              <a:t> Lag-1 Gap (|</a:t>
            </a:r>
            <a:r>
              <a:rPr lang="el-GR" dirty="0"/>
              <a:t>Δ</a:t>
            </a:r>
            <a:r>
              <a:rPr lang="es-ES" dirty="0"/>
              <a:t>ACF1|): ≈ 0.14 - </a:t>
            </a:r>
            <a:r>
              <a:rPr lang="es-ES" dirty="0" err="1"/>
              <a:t>Realistic</a:t>
            </a:r>
            <a:r>
              <a:rPr lang="es-ES" dirty="0"/>
              <a:t> temporal </a:t>
            </a:r>
            <a:r>
              <a:rPr lang="es-ES" dirty="0" err="1"/>
              <a:t>structure</a:t>
            </a:r>
            <a:r>
              <a:rPr lang="es-ES" dirty="0"/>
              <a:t> (</a:t>
            </a:r>
            <a:r>
              <a:rPr lang="es-ES" dirty="0" err="1"/>
              <a:t>volatility</a:t>
            </a:r>
            <a:r>
              <a:rPr lang="es-ES" dirty="0"/>
              <a:t> </a:t>
            </a:r>
            <a:r>
              <a:rPr lang="es-ES" dirty="0" err="1"/>
              <a:t>clustering</a:t>
            </a:r>
            <a:r>
              <a:rPr lang="es-ES" dirty="0"/>
              <a:t>).</a:t>
            </a:r>
          </a:p>
          <a:p>
            <a:pPr indent="0">
              <a:buNone/>
            </a:pPr>
            <a:endParaRPr lang="es-ES" dirty="0"/>
          </a:p>
          <a:p>
            <a:pPr indent="0">
              <a:buNone/>
            </a:pPr>
            <a:r>
              <a:rPr lang="en-US" dirty="0"/>
              <a:t>A missing value In proxies is often a data feed error, not a market closure. A missing value here is often a data feed error, not a market closure.</a:t>
            </a:r>
            <a:endParaRPr lang="it-IT" dirty="0"/>
          </a:p>
          <a:p>
            <a:pPr indent="0">
              <a:buNone/>
            </a:pPr>
            <a:r>
              <a:rPr lang="en-US" dirty="0"/>
              <a:t>The Supervisor can sometimes be too effective, penalizing large, abrupt jumps. This is a contributing factor to the slight tail compression we observe in CVaR₉₉. The model learns to be "too temporally consistent," smoothing over the most extreme, discontinuous market breaks. Future Mitigation: A stochastic or less weighted supervisor in high-volatility regimes could help preserve these "jumps."</a:t>
            </a:r>
            <a:endParaRPr lang="it-IT" sz="2000" dirty="0"/>
          </a:p>
          <a:p>
            <a:pPr indent="0">
              <a:buNone/>
            </a:pPr>
            <a:r>
              <a:rPr lang="en-US" sz="1100" dirty="0"/>
              <a:t>The </a:t>
            </a:r>
            <a:r>
              <a:rPr lang="en-US" sz="1100" b="1" dirty="0"/>
              <a:t>Latent Space Feature Influence Map</a:t>
            </a:r>
            <a:r>
              <a:rPr lang="en-US" sz="1100" dirty="0"/>
              <a:t> (Fig. 8) isn't random. We observed clustering where, for instance, one region of the space was dominated by embeddings where VIX was the dominant feature (crisis states), while another was dominated by bond features (flight-to-safety states).</a:t>
            </a:r>
          </a:p>
          <a:p>
            <a:pPr marL="1828800" lvl="4" indent="0">
              <a:buNone/>
            </a:pPr>
            <a:r>
              <a:rPr lang="en-US" sz="1100" b="1" dirty="0"/>
              <a:t>The "So What?":</a:t>
            </a:r>
            <a:r>
              <a:rPr lang="en-US" sz="1100" dirty="0"/>
              <a:t> This proves TimeGAN isn't just memorizing; it's building an internal, non-linear map of financial regimes. This structured latent space is what allows it to generate </a:t>
            </a:r>
            <a:r>
              <a:rPr lang="en-US" sz="1100" i="1" dirty="0"/>
              <a:t>novel but plausible</a:t>
            </a:r>
            <a:r>
              <a:rPr lang="en-US" sz="1100" dirty="0"/>
              <a:t> trajectories by interpolating between these learned states.</a:t>
            </a:r>
          </a:p>
          <a:p>
            <a:pPr indent="0">
              <a:buNone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821883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OLIMI">
      <a:dk1>
        <a:srgbClr val="181818"/>
      </a:dk1>
      <a:lt1>
        <a:srgbClr val="FFFFFF"/>
      </a:lt1>
      <a:dk2>
        <a:srgbClr val="688197"/>
      </a:dk2>
      <a:lt2>
        <a:srgbClr val="FFFFFF"/>
      </a:lt2>
      <a:accent1>
        <a:srgbClr val="688197"/>
      </a:accent1>
      <a:accent2>
        <a:srgbClr val="6B9560"/>
      </a:accent2>
      <a:accent3>
        <a:srgbClr val="DBB6BB"/>
      </a:accent3>
      <a:accent4>
        <a:srgbClr val="B23C25"/>
      </a:accent4>
      <a:accent5>
        <a:srgbClr val="9D9D9C"/>
      </a:accent5>
      <a:accent6>
        <a:srgbClr val="000000"/>
      </a:accent6>
      <a:hlink>
        <a:srgbClr val="0563C1"/>
      </a:hlink>
      <a:folHlink>
        <a:srgbClr val="954F72"/>
      </a:folHlink>
    </a:clrScheme>
    <a:fontScheme name="POLIMI">
      <a:majorFont>
        <a:latin typeface="Söhne Halbfett"/>
        <a:ea typeface=""/>
        <a:cs typeface=""/>
      </a:majorFont>
      <a:minorFont>
        <a:latin typeface="Söh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5779ADFF7EDB7489A2EAB54D209804C" ma:contentTypeVersion="0" ma:contentTypeDescription="Creare un nuovo documento." ma:contentTypeScope="" ma:versionID="9b77461b615c1167014c78adeaadb24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225e9aae371dd734b3cca370db3570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504F11-45B8-4323-95B6-03EB58B95A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14CB9D-2B31-4D6C-856F-A569DCE6E1DB}">
  <ds:schemaRefs>
    <ds:schemaRef ds:uri="http://schemas.microsoft.com/office/2006/metadata/properties"/>
    <ds:schemaRef ds:uri="http://schemas.microsoft.com/office/infopath/2007/PartnerControls"/>
    <ds:schemaRef ds:uri="36e4b860-ca6f-48cd-abc8-7787b055731a"/>
    <ds:schemaRef ds:uri="c1b85e76-01eb-4e76-bb0c-d4eb29918edb"/>
  </ds:schemaRefs>
</ds:datastoreItem>
</file>

<file path=customXml/itemProps3.xml><?xml version="1.0" encoding="utf-8"?>
<ds:datastoreItem xmlns:ds="http://schemas.openxmlformats.org/officeDocument/2006/customXml" ds:itemID="{BA71EE27-423F-45A6-ACD0-830EAF6513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2513</TotalTime>
  <Words>697</Words>
  <Application>Microsoft Office PowerPoint</Application>
  <PresentationFormat>Panorámica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Calibri</vt:lpstr>
      <vt:lpstr>Arial</vt:lpstr>
      <vt:lpstr>Söhne</vt:lpstr>
      <vt:lpstr>Test Söhne Kräftig</vt:lpstr>
      <vt:lpstr>Söhne Schmal Kräftig</vt:lpstr>
      <vt:lpstr>Test Söhne Halbfett</vt:lpstr>
      <vt:lpstr>Söhne Halbfett</vt:lpstr>
      <vt:lpstr>Tema di Office</vt:lpstr>
      <vt:lpstr>An empirically Calibrated Timegan framework</vt:lpstr>
      <vt:lpstr>Presentación de PowerPoint</vt:lpstr>
      <vt:lpstr>Motivation: Financial Stress Testing</vt:lpstr>
      <vt:lpstr>Traditional methods &amp; Limitations</vt:lpstr>
      <vt:lpstr>New frontiers: Model overview</vt:lpstr>
      <vt:lpstr>Model Overview: GAN</vt:lpstr>
      <vt:lpstr>Model Overview: TimeGAN</vt:lpstr>
      <vt:lpstr>Data Gathering &amp; Preparation</vt:lpstr>
      <vt:lpstr>Model Development &amp; Calibration</vt:lpstr>
      <vt:lpstr>Results &amp; Diagnostics</vt:lpstr>
      <vt:lpstr>Results &amp; Diagnostics</vt:lpstr>
      <vt:lpstr>Practical Applications</vt:lpstr>
      <vt:lpstr>Limitations &amp; Future Work</vt:lpstr>
      <vt:lpstr>Presentación de PowerPoint</vt:lpstr>
      <vt:lpstr>Extra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ALESSANDRO TORRIERO</dc:creator>
  <cp:lastModifiedBy>Pablo Alfaro</cp:lastModifiedBy>
  <cp:revision>93</cp:revision>
  <dcterms:created xsi:type="dcterms:W3CDTF">2021-11-05T07:51:24Z</dcterms:created>
  <dcterms:modified xsi:type="dcterms:W3CDTF">2025-11-16T15:05:59Z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0x01010025779ADFF7EDB7489A2EAB54D209804C</vt:lpwstr>
  </property>
  <property fmtid="{D5CDD505-2E9C-101B-9397-08002B2CF9AE}" pid="3" name="MediaServiceImageTags">
    <vt:lpwstr/>
  </property>
</Properties>
</file>