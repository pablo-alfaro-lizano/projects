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9CBCF-3396-498D-A77D-EC93721CEEE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667137-BB00-4AAF-BB15-D0DB311628CE}">
      <dgm:prSet/>
      <dgm:spPr/>
      <dgm:t>
        <a:bodyPr/>
        <a:lstStyle/>
        <a:p>
          <a:r>
            <a:rPr lang="en-US"/>
            <a:t>Key factors that correlate with diabetes, prediabetes, and no diabetes?</a:t>
          </a:r>
        </a:p>
      </dgm:t>
    </dgm:pt>
    <dgm:pt modelId="{463B5E7B-3676-47A7-8EE8-6A223583A2A0}" type="parTrans" cxnId="{874598B8-6F5C-4D86-913E-6E3EE61C874D}">
      <dgm:prSet/>
      <dgm:spPr/>
      <dgm:t>
        <a:bodyPr/>
        <a:lstStyle/>
        <a:p>
          <a:endParaRPr lang="en-US"/>
        </a:p>
      </dgm:t>
    </dgm:pt>
    <dgm:pt modelId="{D2EA3FB3-7E19-4F07-BCF9-A402F7F8978C}" type="sibTrans" cxnId="{874598B8-6F5C-4D86-913E-6E3EE61C874D}">
      <dgm:prSet/>
      <dgm:spPr/>
      <dgm:t>
        <a:bodyPr/>
        <a:lstStyle/>
        <a:p>
          <a:endParaRPr lang="en-US"/>
        </a:p>
      </dgm:t>
    </dgm:pt>
    <dgm:pt modelId="{AC2F45FA-1AC7-4627-B91A-85FEA36B77E8}">
      <dgm:prSet/>
      <dgm:spPr/>
      <dgm:t>
        <a:bodyPr/>
        <a:lstStyle/>
        <a:p>
          <a:r>
            <a:rPr lang="en-US"/>
            <a:t>Does physical activity significantly reduce the likelihood of having diabetes?</a:t>
          </a:r>
        </a:p>
      </dgm:t>
    </dgm:pt>
    <dgm:pt modelId="{AC3440EB-F893-4175-9393-1ADADCADD4DE}" type="parTrans" cxnId="{670CB62D-CCA8-41D1-BFD0-075E7E61E222}">
      <dgm:prSet/>
      <dgm:spPr/>
      <dgm:t>
        <a:bodyPr/>
        <a:lstStyle/>
        <a:p>
          <a:endParaRPr lang="en-US"/>
        </a:p>
      </dgm:t>
    </dgm:pt>
    <dgm:pt modelId="{D65198D9-6760-457B-A8E1-B3C53BBBD1FB}" type="sibTrans" cxnId="{670CB62D-CCA8-41D1-BFD0-075E7E61E222}">
      <dgm:prSet/>
      <dgm:spPr/>
      <dgm:t>
        <a:bodyPr/>
        <a:lstStyle/>
        <a:p>
          <a:endParaRPr lang="en-US"/>
        </a:p>
      </dgm:t>
    </dgm:pt>
    <dgm:pt modelId="{99628BFC-03A4-4BD3-849D-2D31F912919F}">
      <dgm:prSet/>
      <dgm:spPr/>
      <dgm:t>
        <a:bodyPr/>
        <a:lstStyle/>
        <a:p>
          <a:r>
            <a:rPr lang="en-US"/>
            <a:t>How does age, income, and education level relate to diabetes prevalence?</a:t>
          </a:r>
        </a:p>
      </dgm:t>
    </dgm:pt>
    <dgm:pt modelId="{182F044C-6333-4BBE-80A7-509F3154A9BE}" type="parTrans" cxnId="{11E14CE0-5CD7-4F63-9DE1-486ED2C2B566}">
      <dgm:prSet/>
      <dgm:spPr/>
      <dgm:t>
        <a:bodyPr/>
        <a:lstStyle/>
        <a:p>
          <a:endParaRPr lang="en-US"/>
        </a:p>
      </dgm:t>
    </dgm:pt>
    <dgm:pt modelId="{A1ED5EB2-8449-4A6F-BA0A-7E91BE0C3B0D}" type="sibTrans" cxnId="{11E14CE0-5CD7-4F63-9DE1-486ED2C2B566}">
      <dgm:prSet/>
      <dgm:spPr/>
      <dgm:t>
        <a:bodyPr/>
        <a:lstStyle/>
        <a:p>
          <a:endParaRPr lang="en-US"/>
        </a:p>
      </dgm:t>
    </dgm:pt>
    <dgm:pt modelId="{7CC44BB0-A5F5-416C-BC88-6776D7105CF1}">
      <dgm:prSet/>
      <dgm:spPr/>
      <dgm:t>
        <a:bodyPr/>
        <a:lstStyle/>
        <a:p>
          <a:r>
            <a:rPr lang="en-US"/>
            <a:t>Can we predict the likelihood of having diabetes using logistic regression models?</a:t>
          </a:r>
        </a:p>
      </dgm:t>
    </dgm:pt>
    <dgm:pt modelId="{FB74C99F-66FC-46EA-A56F-6734EC9B8F96}" type="parTrans" cxnId="{74BCFDE5-53FF-4A6B-B91F-2D287C267521}">
      <dgm:prSet/>
      <dgm:spPr/>
      <dgm:t>
        <a:bodyPr/>
        <a:lstStyle/>
        <a:p>
          <a:endParaRPr lang="en-US"/>
        </a:p>
      </dgm:t>
    </dgm:pt>
    <dgm:pt modelId="{5D8EB16B-986B-4859-A65B-D4AA34D72B37}" type="sibTrans" cxnId="{74BCFDE5-53FF-4A6B-B91F-2D287C267521}">
      <dgm:prSet/>
      <dgm:spPr/>
      <dgm:t>
        <a:bodyPr/>
        <a:lstStyle/>
        <a:p>
          <a:endParaRPr lang="en-US"/>
        </a:p>
      </dgm:t>
    </dgm:pt>
    <dgm:pt modelId="{0D91540A-1541-4F0A-9AB6-C26B6FFB1006}">
      <dgm:prSet/>
      <dgm:spPr/>
      <dgm:t>
        <a:bodyPr/>
        <a:lstStyle/>
        <a:p>
          <a:r>
            <a:rPr lang="en-US"/>
            <a:t>Differences in health outcomes between diabetic and non-diabetic individuals?</a:t>
          </a:r>
        </a:p>
      </dgm:t>
    </dgm:pt>
    <dgm:pt modelId="{25793CF8-B60A-47D6-8B4C-A6FCEFFA99FC}" type="parTrans" cxnId="{A8B749D7-C1F9-44C3-8196-F2ADA0162204}">
      <dgm:prSet/>
      <dgm:spPr/>
      <dgm:t>
        <a:bodyPr/>
        <a:lstStyle/>
        <a:p>
          <a:endParaRPr lang="en-US"/>
        </a:p>
      </dgm:t>
    </dgm:pt>
    <dgm:pt modelId="{80CC7954-21CA-444D-8B55-F82156BEB663}" type="sibTrans" cxnId="{A8B749D7-C1F9-44C3-8196-F2ADA0162204}">
      <dgm:prSet/>
      <dgm:spPr/>
      <dgm:t>
        <a:bodyPr/>
        <a:lstStyle/>
        <a:p>
          <a:endParaRPr lang="en-US"/>
        </a:p>
      </dgm:t>
    </dgm:pt>
    <dgm:pt modelId="{4847600E-FE88-4390-B9F7-3A6FBC315FB3}">
      <dgm:prSet/>
      <dgm:spPr/>
      <dgm:t>
        <a:bodyPr/>
        <a:lstStyle/>
        <a:p>
          <a:r>
            <a:rPr lang="en-US"/>
            <a:t>Inequality in healthcare access for people with diabetes across income levels?</a:t>
          </a:r>
        </a:p>
      </dgm:t>
    </dgm:pt>
    <dgm:pt modelId="{5359D8A5-D431-4599-B504-04CEBB1B3887}" type="parTrans" cxnId="{C9A0D897-73FA-4E62-BF39-D49B2CBEB835}">
      <dgm:prSet/>
      <dgm:spPr/>
      <dgm:t>
        <a:bodyPr/>
        <a:lstStyle/>
        <a:p>
          <a:endParaRPr lang="en-US"/>
        </a:p>
      </dgm:t>
    </dgm:pt>
    <dgm:pt modelId="{837895F4-50ED-4F4D-B7AE-ACA6A7FDBF6C}" type="sibTrans" cxnId="{C9A0D897-73FA-4E62-BF39-D49B2CBEB835}">
      <dgm:prSet/>
      <dgm:spPr/>
      <dgm:t>
        <a:bodyPr/>
        <a:lstStyle/>
        <a:p>
          <a:endParaRPr lang="en-US"/>
        </a:p>
      </dgm:t>
    </dgm:pt>
    <dgm:pt modelId="{F9CD38B9-185F-4BAA-B0F1-5FFE668427E9}" type="pres">
      <dgm:prSet presAssocID="{F8E9CBCF-3396-498D-A77D-EC93721CEEE8}" presName="Name0" presStyleCnt="0">
        <dgm:presLayoutVars>
          <dgm:dir/>
          <dgm:resizeHandles val="exact"/>
        </dgm:presLayoutVars>
      </dgm:prSet>
      <dgm:spPr/>
    </dgm:pt>
    <dgm:pt modelId="{515E5649-2DE8-4471-8AD5-4DB747519E4C}" type="pres">
      <dgm:prSet presAssocID="{A8667137-BB00-4AAF-BB15-D0DB311628CE}" presName="node" presStyleLbl="node1" presStyleIdx="0" presStyleCnt="6">
        <dgm:presLayoutVars>
          <dgm:bulletEnabled val="1"/>
        </dgm:presLayoutVars>
      </dgm:prSet>
      <dgm:spPr/>
    </dgm:pt>
    <dgm:pt modelId="{81BE2121-4A5C-4854-A0EE-E93B2B0FBCD0}" type="pres">
      <dgm:prSet presAssocID="{D2EA3FB3-7E19-4F07-BCF9-A402F7F8978C}" presName="sibTrans" presStyleLbl="sibTrans1D1" presStyleIdx="0" presStyleCnt="5"/>
      <dgm:spPr/>
    </dgm:pt>
    <dgm:pt modelId="{E41F4E52-2B60-4620-B844-E93DCDDA3F58}" type="pres">
      <dgm:prSet presAssocID="{D2EA3FB3-7E19-4F07-BCF9-A402F7F8978C}" presName="connectorText" presStyleLbl="sibTrans1D1" presStyleIdx="0" presStyleCnt="5"/>
      <dgm:spPr/>
    </dgm:pt>
    <dgm:pt modelId="{A0E0473C-21A6-42D1-AF01-3058D69979FB}" type="pres">
      <dgm:prSet presAssocID="{AC2F45FA-1AC7-4627-B91A-85FEA36B77E8}" presName="node" presStyleLbl="node1" presStyleIdx="1" presStyleCnt="6">
        <dgm:presLayoutVars>
          <dgm:bulletEnabled val="1"/>
        </dgm:presLayoutVars>
      </dgm:prSet>
      <dgm:spPr/>
    </dgm:pt>
    <dgm:pt modelId="{7F0C4F94-1129-4C41-8E04-5D9D9B9550DA}" type="pres">
      <dgm:prSet presAssocID="{D65198D9-6760-457B-A8E1-B3C53BBBD1FB}" presName="sibTrans" presStyleLbl="sibTrans1D1" presStyleIdx="1" presStyleCnt="5"/>
      <dgm:spPr/>
    </dgm:pt>
    <dgm:pt modelId="{4AF73FB2-28F2-4EE6-A6D3-33BA15A32C48}" type="pres">
      <dgm:prSet presAssocID="{D65198D9-6760-457B-A8E1-B3C53BBBD1FB}" presName="connectorText" presStyleLbl="sibTrans1D1" presStyleIdx="1" presStyleCnt="5"/>
      <dgm:spPr/>
    </dgm:pt>
    <dgm:pt modelId="{1AD265D4-D5B3-4F87-9867-F29E6BD1A3AE}" type="pres">
      <dgm:prSet presAssocID="{99628BFC-03A4-4BD3-849D-2D31F912919F}" presName="node" presStyleLbl="node1" presStyleIdx="2" presStyleCnt="6">
        <dgm:presLayoutVars>
          <dgm:bulletEnabled val="1"/>
        </dgm:presLayoutVars>
      </dgm:prSet>
      <dgm:spPr/>
    </dgm:pt>
    <dgm:pt modelId="{0889C287-FB0C-4C04-85D2-FA2086265529}" type="pres">
      <dgm:prSet presAssocID="{A1ED5EB2-8449-4A6F-BA0A-7E91BE0C3B0D}" presName="sibTrans" presStyleLbl="sibTrans1D1" presStyleIdx="2" presStyleCnt="5"/>
      <dgm:spPr/>
    </dgm:pt>
    <dgm:pt modelId="{D62312F2-8C1D-4297-BC23-1218488343F4}" type="pres">
      <dgm:prSet presAssocID="{A1ED5EB2-8449-4A6F-BA0A-7E91BE0C3B0D}" presName="connectorText" presStyleLbl="sibTrans1D1" presStyleIdx="2" presStyleCnt="5"/>
      <dgm:spPr/>
    </dgm:pt>
    <dgm:pt modelId="{E8FA028E-3A22-40F2-93D3-6035A261BED1}" type="pres">
      <dgm:prSet presAssocID="{7CC44BB0-A5F5-416C-BC88-6776D7105CF1}" presName="node" presStyleLbl="node1" presStyleIdx="3" presStyleCnt="6">
        <dgm:presLayoutVars>
          <dgm:bulletEnabled val="1"/>
        </dgm:presLayoutVars>
      </dgm:prSet>
      <dgm:spPr/>
    </dgm:pt>
    <dgm:pt modelId="{DE65C94E-E85D-4223-A6B1-73C44894DADE}" type="pres">
      <dgm:prSet presAssocID="{5D8EB16B-986B-4859-A65B-D4AA34D72B37}" presName="sibTrans" presStyleLbl="sibTrans1D1" presStyleIdx="3" presStyleCnt="5"/>
      <dgm:spPr/>
    </dgm:pt>
    <dgm:pt modelId="{C3256964-2665-4C3E-A88C-622F44771DFF}" type="pres">
      <dgm:prSet presAssocID="{5D8EB16B-986B-4859-A65B-D4AA34D72B37}" presName="connectorText" presStyleLbl="sibTrans1D1" presStyleIdx="3" presStyleCnt="5"/>
      <dgm:spPr/>
    </dgm:pt>
    <dgm:pt modelId="{FA0D1F51-1DE5-49C4-9386-BA3B371C0A8B}" type="pres">
      <dgm:prSet presAssocID="{0D91540A-1541-4F0A-9AB6-C26B6FFB1006}" presName="node" presStyleLbl="node1" presStyleIdx="4" presStyleCnt="6">
        <dgm:presLayoutVars>
          <dgm:bulletEnabled val="1"/>
        </dgm:presLayoutVars>
      </dgm:prSet>
      <dgm:spPr/>
    </dgm:pt>
    <dgm:pt modelId="{66BB3A5E-F147-44EC-AE6E-EC4C7742EA8F}" type="pres">
      <dgm:prSet presAssocID="{80CC7954-21CA-444D-8B55-F82156BEB663}" presName="sibTrans" presStyleLbl="sibTrans1D1" presStyleIdx="4" presStyleCnt="5"/>
      <dgm:spPr/>
    </dgm:pt>
    <dgm:pt modelId="{17004C2B-38EE-4585-AA16-0D47A3DF2235}" type="pres">
      <dgm:prSet presAssocID="{80CC7954-21CA-444D-8B55-F82156BEB663}" presName="connectorText" presStyleLbl="sibTrans1D1" presStyleIdx="4" presStyleCnt="5"/>
      <dgm:spPr/>
    </dgm:pt>
    <dgm:pt modelId="{2C2336BA-47CA-46C4-A574-DA369143A7DA}" type="pres">
      <dgm:prSet presAssocID="{4847600E-FE88-4390-B9F7-3A6FBC315FB3}" presName="node" presStyleLbl="node1" presStyleIdx="5" presStyleCnt="6">
        <dgm:presLayoutVars>
          <dgm:bulletEnabled val="1"/>
        </dgm:presLayoutVars>
      </dgm:prSet>
      <dgm:spPr/>
    </dgm:pt>
  </dgm:ptLst>
  <dgm:cxnLst>
    <dgm:cxn modelId="{DD49CF08-9330-45AB-AFE5-D42B73049C4C}" type="presOf" srcId="{D65198D9-6760-457B-A8E1-B3C53BBBD1FB}" destId="{4AF73FB2-28F2-4EE6-A6D3-33BA15A32C48}" srcOrd="1" destOrd="0" presId="urn:microsoft.com/office/officeart/2016/7/layout/RepeatingBendingProcessNew"/>
    <dgm:cxn modelId="{EFA5780C-FA76-4550-8767-E5BB387373D9}" type="presOf" srcId="{0D91540A-1541-4F0A-9AB6-C26B6FFB1006}" destId="{FA0D1F51-1DE5-49C4-9386-BA3B371C0A8B}" srcOrd="0" destOrd="0" presId="urn:microsoft.com/office/officeart/2016/7/layout/RepeatingBendingProcessNew"/>
    <dgm:cxn modelId="{E9F7A81D-5BBB-47B3-AE69-FDC37108F785}" type="presOf" srcId="{AC2F45FA-1AC7-4627-B91A-85FEA36B77E8}" destId="{A0E0473C-21A6-42D1-AF01-3058D69979FB}" srcOrd="0" destOrd="0" presId="urn:microsoft.com/office/officeart/2016/7/layout/RepeatingBendingProcessNew"/>
    <dgm:cxn modelId="{670CB62D-CCA8-41D1-BFD0-075E7E61E222}" srcId="{F8E9CBCF-3396-498D-A77D-EC93721CEEE8}" destId="{AC2F45FA-1AC7-4627-B91A-85FEA36B77E8}" srcOrd="1" destOrd="0" parTransId="{AC3440EB-F893-4175-9393-1ADADCADD4DE}" sibTransId="{D65198D9-6760-457B-A8E1-B3C53BBBD1FB}"/>
    <dgm:cxn modelId="{3527453E-4957-4BE5-8D69-1ECEE10213CE}" type="presOf" srcId="{99628BFC-03A4-4BD3-849D-2D31F912919F}" destId="{1AD265D4-D5B3-4F87-9867-F29E6BD1A3AE}" srcOrd="0" destOrd="0" presId="urn:microsoft.com/office/officeart/2016/7/layout/RepeatingBendingProcessNew"/>
    <dgm:cxn modelId="{37CEBC5E-3087-48D2-882F-74FF0DF6A067}" type="presOf" srcId="{A1ED5EB2-8449-4A6F-BA0A-7E91BE0C3B0D}" destId="{D62312F2-8C1D-4297-BC23-1218488343F4}" srcOrd="1" destOrd="0" presId="urn:microsoft.com/office/officeart/2016/7/layout/RepeatingBendingProcessNew"/>
    <dgm:cxn modelId="{53695C6B-9FC1-4BA6-B7A4-AAFFBDD00854}" type="presOf" srcId="{7CC44BB0-A5F5-416C-BC88-6776D7105CF1}" destId="{E8FA028E-3A22-40F2-93D3-6035A261BED1}" srcOrd="0" destOrd="0" presId="urn:microsoft.com/office/officeart/2016/7/layout/RepeatingBendingProcessNew"/>
    <dgm:cxn modelId="{66C5E28D-B2BF-4D9A-9BC3-3CE2A0032CAE}" type="presOf" srcId="{4847600E-FE88-4390-B9F7-3A6FBC315FB3}" destId="{2C2336BA-47CA-46C4-A574-DA369143A7DA}" srcOrd="0" destOrd="0" presId="urn:microsoft.com/office/officeart/2016/7/layout/RepeatingBendingProcessNew"/>
    <dgm:cxn modelId="{C9A0D897-73FA-4E62-BF39-D49B2CBEB835}" srcId="{F8E9CBCF-3396-498D-A77D-EC93721CEEE8}" destId="{4847600E-FE88-4390-B9F7-3A6FBC315FB3}" srcOrd="5" destOrd="0" parTransId="{5359D8A5-D431-4599-B504-04CEBB1B3887}" sibTransId="{837895F4-50ED-4F4D-B7AE-ACA6A7FDBF6C}"/>
    <dgm:cxn modelId="{3D74DDAE-F998-46CB-9B15-4B88CFA0631E}" type="presOf" srcId="{5D8EB16B-986B-4859-A65B-D4AA34D72B37}" destId="{DE65C94E-E85D-4223-A6B1-73C44894DADE}" srcOrd="0" destOrd="0" presId="urn:microsoft.com/office/officeart/2016/7/layout/RepeatingBendingProcessNew"/>
    <dgm:cxn modelId="{4A85FAAF-5230-466B-BBB5-B8117021CD1E}" type="presOf" srcId="{D2EA3FB3-7E19-4F07-BCF9-A402F7F8978C}" destId="{81BE2121-4A5C-4854-A0EE-E93B2B0FBCD0}" srcOrd="0" destOrd="0" presId="urn:microsoft.com/office/officeart/2016/7/layout/RepeatingBendingProcessNew"/>
    <dgm:cxn modelId="{874598B8-6F5C-4D86-913E-6E3EE61C874D}" srcId="{F8E9CBCF-3396-498D-A77D-EC93721CEEE8}" destId="{A8667137-BB00-4AAF-BB15-D0DB311628CE}" srcOrd="0" destOrd="0" parTransId="{463B5E7B-3676-47A7-8EE8-6A223583A2A0}" sibTransId="{D2EA3FB3-7E19-4F07-BCF9-A402F7F8978C}"/>
    <dgm:cxn modelId="{ECC70CC7-ACFE-45B1-A585-305E8871B34E}" type="presOf" srcId="{F8E9CBCF-3396-498D-A77D-EC93721CEEE8}" destId="{F9CD38B9-185F-4BAA-B0F1-5FFE668427E9}" srcOrd="0" destOrd="0" presId="urn:microsoft.com/office/officeart/2016/7/layout/RepeatingBendingProcessNew"/>
    <dgm:cxn modelId="{A32833C7-D586-48C1-B0B2-0070ACC4FB9A}" type="presOf" srcId="{5D8EB16B-986B-4859-A65B-D4AA34D72B37}" destId="{C3256964-2665-4C3E-A88C-622F44771DFF}" srcOrd="1" destOrd="0" presId="urn:microsoft.com/office/officeart/2016/7/layout/RepeatingBendingProcessNew"/>
    <dgm:cxn modelId="{8254FECE-36D5-4E4A-8AED-D25812303242}" type="presOf" srcId="{80CC7954-21CA-444D-8B55-F82156BEB663}" destId="{17004C2B-38EE-4585-AA16-0D47A3DF2235}" srcOrd="1" destOrd="0" presId="urn:microsoft.com/office/officeart/2016/7/layout/RepeatingBendingProcessNew"/>
    <dgm:cxn modelId="{627364CF-708A-40D0-971F-0BBC108C1823}" type="presOf" srcId="{D65198D9-6760-457B-A8E1-B3C53BBBD1FB}" destId="{7F0C4F94-1129-4C41-8E04-5D9D9B9550DA}" srcOrd="0" destOrd="0" presId="urn:microsoft.com/office/officeart/2016/7/layout/RepeatingBendingProcessNew"/>
    <dgm:cxn modelId="{A8B749D7-C1F9-44C3-8196-F2ADA0162204}" srcId="{F8E9CBCF-3396-498D-A77D-EC93721CEEE8}" destId="{0D91540A-1541-4F0A-9AB6-C26B6FFB1006}" srcOrd="4" destOrd="0" parTransId="{25793CF8-B60A-47D6-8B4C-A6FCEFFA99FC}" sibTransId="{80CC7954-21CA-444D-8B55-F82156BEB663}"/>
    <dgm:cxn modelId="{B677E6D7-C2A3-4DDE-961E-8FF167C89320}" type="presOf" srcId="{80CC7954-21CA-444D-8B55-F82156BEB663}" destId="{66BB3A5E-F147-44EC-AE6E-EC4C7742EA8F}" srcOrd="0" destOrd="0" presId="urn:microsoft.com/office/officeart/2016/7/layout/RepeatingBendingProcessNew"/>
    <dgm:cxn modelId="{11E14CE0-5CD7-4F63-9DE1-486ED2C2B566}" srcId="{F8E9CBCF-3396-498D-A77D-EC93721CEEE8}" destId="{99628BFC-03A4-4BD3-849D-2D31F912919F}" srcOrd="2" destOrd="0" parTransId="{182F044C-6333-4BBE-80A7-509F3154A9BE}" sibTransId="{A1ED5EB2-8449-4A6F-BA0A-7E91BE0C3B0D}"/>
    <dgm:cxn modelId="{2DFCF4E0-6561-4E15-9234-C65109B8197C}" type="presOf" srcId="{A8667137-BB00-4AAF-BB15-D0DB311628CE}" destId="{515E5649-2DE8-4471-8AD5-4DB747519E4C}" srcOrd="0" destOrd="0" presId="urn:microsoft.com/office/officeart/2016/7/layout/RepeatingBendingProcessNew"/>
    <dgm:cxn modelId="{74BCFDE5-53FF-4A6B-B91F-2D287C267521}" srcId="{F8E9CBCF-3396-498D-A77D-EC93721CEEE8}" destId="{7CC44BB0-A5F5-416C-BC88-6776D7105CF1}" srcOrd="3" destOrd="0" parTransId="{FB74C99F-66FC-46EA-A56F-6734EC9B8F96}" sibTransId="{5D8EB16B-986B-4859-A65B-D4AA34D72B37}"/>
    <dgm:cxn modelId="{358E5AF6-3A41-4735-8EDA-3BEA76816C75}" type="presOf" srcId="{A1ED5EB2-8449-4A6F-BA0A-7E91BE0C3B0D}" destId="{0889C287-FB0C-4C04-85D2-FA2086265529}" srcOrd="0" destOrd="0" presId="urn:microsoft.com/office/officeart/2016/7/layout/RepeatingBendingProcessNew"/>
    <dgm:cxn modelId="{34DA42FB-2826-4CA6-A34A-459E894DFC82}" type="presOf" srcId="{D2EA3FB3-7E19-4F07-BCF9-A402F7F8978C}" destId="{E41F4E52-2B60-4620-B844-E93DCDDA3F58}" srcOrd="1" destOrd="0" presId="urn:microsoft.com/office/officeart/2016/7/layout/RepeatingBendingProcessNew"/>
    <dgm:cxn modelId="{EF8DB047-78BC-4DAB-8AC7-EC0104954D9F}" type="presParOf" srcId="{F9CD38B9-185F-4BAA-B0F1-5FFE668427E9}" destId="{515E5649-2DE8-4471-8AD5-4DB747519E4C}" srcOrd="0" destOrd="0" presId="urn:microsoft.com/office/officeart/2016/7/layout/RepeatingBendingProcessNew"/>
    <dgm:cxn modelId="{D7160503-0FFC-42AE-AF61-F6E396CE4FEB}" type="presParOf" srcId="{F9CD38B9-185F-4BAA-B0F1-5FFE668427E9}" destId="{81BE2121-4A5C-4854-A0EE-E93B2B0FBCD0}" srcOrd="1" destOrd="0" presId="urn:microsoft.com/office/officeart/2016/7/layout/RepeatingBendingProcessNew"/>
    <dgm:cxn modelId="{89C178AE-A012-4ACC-8406-D66959262790}" type="presParOf" srcId="{81BE2121-4A5C-4854-A0EE-E93B2B0FBCD0}" destId="{E41F4E52-2B60-4620-B844-E93DCDDA3F58}" srcOrd="0" destOrd="0" presId="urn:microsoft.com/office/officeart/2016/7/layout/RepeatingBendingProcessNew"/>
    <dgm:cxn modelId="{42858518-AC6B-491E-9BFD-0D7203EA38AC}" type="presParOf" srcId="{F9CD38B9-185F-4BAA-B0F1-5FFE668427E9}" destId="{A0E0473C-21A6-42D1-AF01-3058D69979FB}" srcOrd="2" destOrd="0" presId="urn:microsoft.com/office/officeart/2016/7/layout/RepeatingBendingProcessNew"/>
    <dgm:cxn modelId="{EBEBCD32-4946-495E-887A-05D6FDF38768}" type="presParOf" srcId="{F9CD38B9-185F-4BAA-B0F1-5FFE668427E9}" destId="{7F0C4F94-1129-4C41-8E04-5D9D9B9550DA}" srcOrd="3" destOrd="0" presId="urn:microsoft.com/office/officeart/2016/7/layout/RepeatingBendingProcessNew"/>
    <dgm:cxn modelId="{5A2A8456-45E7-459A-899D-E58D138810B2}" type="presParOf" srcId="{7F0C4F94-1129-4C41-8E04-5D9D9B9550DA}" destId="{4AF73FB2-28F2-4EE6-A6D3-33BA15A32C48}" srcOrd="0" destOrd="0" presId="urn:microsoft.com/office/officeart/2016/7/layout/RepeatingBendingProcessNew"/>
    <dgm:cxn modelId="{89E37936-DC66-4488-93C6-2C01A0FF25A1}" type="presParOf" srcId="{F9CD38B9-185F-4BAA-B0F1-5FFE668427E9}" destId="{1AD265D4-D5B3-4F87-9867-F29E6BD1A3AE}" srcOrd="4" destOrd="0" presId="urn:microsoft.com/office/officeart/2016/7/layout/RepeatingBendingProcessNew"/>
    <dgm:cxn modelId="{87CAE8FD-A495-416A-9957-C0E065AAD1C8}" type="presParOf" srcId="{F9CD38B9-185F-4BAA-B0F1-5FFE668427E9}" destId="{0889C287-FB0C-4C04-85D2-FA2086265529}" srcOrd="5" destOrd="0" presId="urn:microsoft.com/office/officeart/2016/7/layout/RepeatingBendingProcessNew"/>
    <dgm:cxn modelId="{40DDE2D5-CBD2-4AE7-AA0C-E05963A486EE}" type="presParOf" srcId="{0889C287-FB0C-4C04-85D2-FA2086265529}" destId="{D62312F2-8C1D-4297-BC23-1218488343F4}" srcOrd="0" destOrd="0" presId="urn:microsoft.com/office/officeart/2016/7/layout/RepeatingBendingProcessNew"/>
    <dgm:cxn modelId="{9E436133-94DE-485F-A2D0-37AA29834561}" type="presParOf" srcId="{F9CD38B9-185F-4BAA-B0F1-5FFE668427E9}" destId="{E8FA028E-3A22-40F2-93D3-6035A261BED1}" srcOrd="6" destOrd="0" presId="urn:microsoft.com/office/officeart/2016/7/layout/RepeatingBendingProcessNew"/>
    <dgm:cxn modelId="{BB2886A8-D21C-4909-BD5A-FFC2004B0C6E}" type="presParOf" srcId="{F9CD38B9-185F-4BAA-B0F1-5FFE668427E9}" destId="{DE65C94E-E85D-4223-A6B1-73C44894DADE}" srcOrd="7" destOrd="0" presId="urn:microsoft.com/office/officeart/2016/7/layout/RepeatingBendingProcessNew"/>
    <dgm:cxn modelId="{AEA9684E-0E54-47BD-85C9-2A7C81A1A5D6}" type="presParOf" srcId="{DE65C94E-E85D-4223-A6B1-73C44894DADE}" destId="{C3256964-2665-4C3E-A88C-622F44771DFF}" srcOrd="0" destOrd="0" presId="urn:microsoft.com/office/officeart/2016/7/layout/RepeatingBendingProcessNew"/>
    <dgm:cxn modelId="{3EEF7DA4-83FB-4A1A-B5EE-4A64F5C9CB85}" type="presParOf" srcId="{F9CD38B9-185F-4BAA-B0F1-5FFE668427E9}" destId="{FA0D1F51-1DE5-49C4-9386-BA3B371C0A8B}" srcOrd="8" destOrd="0" presId="urn:microsoft.com/office/officeart/2016/7/layout/RepeatingBendingProcessNew"/>
    <dgm:cxn modelId="{AB964F82-F3CA-49F6-9B98-31F96737EF6B}" type="presParOf" srcId="{F9CD38B9-185F-4BAA-B0F1-5FFE668427E9}" destId="{66BB3A5E-F147-44EC-AE6E-EC4C7742EA8F}" srcOrd="9" destOrd="0" presId="urn:microsoft.com/office/officeart/2016/7/layout/RepeatingBendingProcessNew"/>
    <dgm:cxn modelId="{28BE6379-C987-403D-BE0D-2B7255D21816}" type="presParOf" srcId="{66BB3A5E-F147-44EC-AE6E-EC4C7742EA8F}" destId="{17004C2B-38EE-4585-AA16-0D47A3DF2235}" srcOrd="0" destOrd="0" presId="urn:microsoft.com/office/officeart/2016/7/layout/RepeatingBendingProcessNew"/>
    <dgm:cxn modelId="{05E86CD7-B518-4F36-BE90-655938F675C8}" type="presParOf" srcId="{F9CD38B9-185F-4BAA-B0F1-5FFE668427E9}" destId="{2C2336BA-47CA-46C4-A574-DA369143A7D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E2121-4A5C-4854-A0EE-E93B2B0FBCD0}">
      <dsp:nvSpPr>
        <dsp:cNvPr id="0" name=""/>
        <dsp:cNvSpPr/>
      </dsp:nvSpPr>
      <dsp:spPr>
        <a:xfrm>
          <a:off x="3275874" y="581345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8491" y="624666"/>
        <a:ext cx="23991" cy="4798"/>
      </dsp:txXfrm>
    </dsp:sp>
    <dsp:sp modelId="{515E5649-2DE8-4471-8AD5-4DB747519E4C}">
      <dsp:nvSpPr>
        <dsp:cNvPr id="0" name=""/>
        <dsp:cNvSpPr/>
      </dsp:nvSpPr>
      <dsp:spPr>
        <a:xfrm>
          <a:off x="1191476" y="1206"/>
          <a:ext cx="2086197" cy="1251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factors that correlate with diabetes, prediabetes, and no diabetes?</a:t>
          </a:r>
        </a:p>
      </dsp:txBody>
      <dsp:txXfrm>
        <a:off x="1191476" y="1206"/>
        <a:ext cx="2086197" cy="1251718"/>
      </dsp:txXfrm>
    </dsp:sp>
    <dsp:sp modelId="{7F0C4F94-1129-4C41-8E04-5D9D9B9550DA}">
      <dsp:nvSpPr>
        <dsp:cNvPr id="0" name=""/>
        <dsp:cNvSpPr/>
      </dsp:nvSpPr>
      <dsp:spPr>
        <a:xfrm>
          <a:off x="5841897" y="581345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5">
              <a:hueOff val="248291"/>
              <a:satOff val="144"/>
              <a:lumOff val="142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4514" y="624666"/>
        <a:ext cx="23991" cy="4798"/>
      </dsp:txXfrm>
    </dsp:sp>
    <dsp:sp modelId="{A0E0473C-21A6-42D1-AF01-3058D69979FB}">
      <dsp:nvSpPr>
        <dsp:cNvPr id="0" name=""/>
        <dsp:cNvSpPr/>
      </dsp:nvSpPr>
      <dsp:spPr>
        <a:xfrm>
          <a:off x="3757499" y="1206"/>
          <a:ext cx="2086197" cy="1251718"/>
        </a:xfrm>
        <a:prstGeom prst="rect">
          <a:avLst/>
        </a:prstGeom>
        <a:solidFill>
          <a:schemeClr val="accent5">
            <a:hueOff val="198633"/>
            <a:satOff val="115"/>
            <a:lumOff val="11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Does physical activity significantly reduce the likelihood of having diabetes?</a:t>
          </a:r>
        </a:p>
      </dsp:txBody>
      <dsp:txXfrm>
        <a:off x="3757499" y="1206"/>
        <a:ext cx="2086197" cy="1251718"/>
      </dsp:txXfrm>
    </dsp:sp>
    <dsp:sp modelId="{0889C287-FB0C-4C04-85D2-FA2086265529}">
      <dsp:nvSpPr>
        <dsp:cNvPr id="0" name=""/>
        <dsp:cNvSpPr/>
      </dsp:nvSpPr>
      <dsp:spPr>
        <a:xfrm>
          <a:off x="2234575" y="1251124"/>
          <a:ext cx="5132046" cy="449225"/>
        </a:xfrm>
        <a:custGeom>
          <a:avLst/>
          <a:gdLst/>
          <a:ahLst/>
          <a:cxnLst/>
          <a:rect l="0" t="0" r="0" b="0"/>
          <a:pathLst>
            <a:path>
              <a:moveTo>
                <a:pt x="5132046" y="0"/>
              </a:moveTo>
              <a:lnTo>
                <a:pt x="5132046" y="241712"/>
              </a:lnTo>
              <a:lnTo>
                <a:pt x="0" y="241712"/>
              </a:lnTo>
              <a:lnTo>
                <a:pt x="0" y="449225"/>
              </a:lnTo>
            </a:path>
          </a:pathLst>
        </a:custGeom>
        <a:noFill/>
        <a:ln w="9525" cap="flat" cmpd="sng" algn="ctr">
          <a:solidFill>
            <a:schemeClr val="accent5">
              <a:hueOff val="496582"/>
              <a:satOff val="288"/>
              <a:lumOff val="28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1737" y="1473338"/>
        <a:ext cx="257721" cy="4798"/>
      </dsp:txXfrm>
    </dsp:sp>
    <dsp:sp modelId="{1AD265D4-D5B3-4F87-9867-F29E6BD1A3AE}">
      <dsp:nvSpPr>
        <dsp:cNvPr id="0" name=""/>
        <dsp:cNvSpPr/>
      </dsp:nvSpPr>
      <dsp:spPr>
        <a:xfrm>
          <a:off x="6323522" y="1206"/>
          <a:ext cx="2086197" cy="1251718"/>
        </a:xfrm>
        <a:prstGeom prst="rect">
          <a:avLst/>
        </a:prstGeom>
        <a:solidFill>
          <a:schemeClr val="accent5">
            <a:hueOff val="397266"/>
            <a:satOff val="230"/>
            <a:lumOff val="227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How does age, income, and education level relate to diabetes prevalence?</a:t>
          </a:r>
        </a:p>
      </dsp:txBody>
      <dsp:txXfrm>
        <a:off x="6323522" y="1206"/>
        <a:ext cx="2086197" cy="1251718"/>
      </dsp:txXfrm>
    </dsp:sp>
    <dsp:sp modelId="{DE65C94E-E85D-4223-A6B1-73C44894DADE}">
      <dsp:nvSpPr>
        <dsp:cNvPr id="0" name=""/>
        <dsp:cNvSpPr/>
      </dsp:nvSpPr>
      <dsp:spPr>
        <a:xfrm>
          <a:off x="3275874" y="2312889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5">
              <a:hueOff val="744874"/>
              <a:satOff val="432"/>
              <a:lumOff val="426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8491" y="2356210"/>
        <a:ext cx="23991" cy="4798"/>
      </dsp:txXfrm>
    </dsp:sp>
    <dsp:sp modelId="{E8FA028E-3A22-40F2-93D3-6035A261BED1}">
      <dsp:nvSpPr>
        <dsp:cNvPr id="0" name=""/>
        <dsp:cNvSpPr/>
      </dsp:nvSpPr>
      <dsp:spPr>
        <a:xfrm>
          <a:off x="1191476" y="1732750"/>
          <a:ext cx="2086197" cy="1251718"/>
        </a:xfrm>
        <a:prstGeom prst="rect">
          <a:avLst/>
        </a:prstGeom>
        <a:solidFill>
          <a:schemeClr val="accent5">
            <a:hueOff val="595899"/>
            <a:satOff val="346"/>
            <a:lumOff val="341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we predict the likelihood of having diabetes using logistic regression models?</a:t>
          </a:r>
        </a:p>
      </dsp:txBody>
      <dsp:txXfrm>
        <a:off x="1191476" y="1732750"/>
        <a:ext cx="2086197" cy="1251718"/>
      </dsp:txXfrm>
    </dsp:sp>
    <dsp:sp modelId="{66BB3A5E-F147-44EC-AE6E-EC4C7742EA8F}">
      <dsp:nvSpPr>
        <dsp:cNvPr id="0" name=""/>
        <dsp:cNvSpPr/>
      </dsp:nvSpPr>
      <dsp:spPr>
        <a:xfrm>
          <a:off x="5841897" y="2312889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5">
              <a:hueOff val="993165"/>
              <a:satOff val="576"/>
              <a:lumOff val="5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4514" y="2356210"/>
        <a:ext cx="23991" cy="4798"/>
      </dsp:txXfrm>
    </dsp:sp>
    <dsp:sp modelId="{FA0D1F51-1DE5-49C4-9386-BA3B371C0A8B}">
      <dsp:nvSpPr>
        <dsp:cNvPr id="0" name=""/>
        <dsp:cNvSpPr/>
      </dsp:nvSpPr>
      <dsp:spPr>
        <a:xfrm>
          <a:off x="3757499" y="1732750"/>
          <a:ext cx="2086197" cy="1251718"/>
        </a:xfrm>
        <a:prstGeom prst="rect">
          <a:avLst/>
        </a:prstGeom>
        <a:solidFill>
          <a:schemeClr val="accent5">
            <a:hueOff val="794532"/>
            <a:satOff val="461"/>
            <a:lumOff val="4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Differences in health outcomes between diabetic and non-diabetic individuals?</a:t>
          </a:r>
        </a:p>
      </dsp:txBody>
      <dsp:txXfrm>
        <a:off x="3757499" y="1732750"/>
        <a:ext cx="2086197" cy="1251718"/>
      </dsp:txXfrm>
    </dsp:sp>
    <dsp:sp modelId="{2C2336BA-47CA-46C4-A574-DA369143A7DA}">
      <dsp:nvSpPr>
        <dsp:cNvPr id="0" name=""/>
        <dsp:cNvSpPr/>
      </dsp:nvSpPr>
      <dsp:spPr>
        <a:xfrm>
          <a:off x="6323522" y="1732750"/>
          <a:ext cx="2086197" cy="1251718"/>
        </a:xfrm>
        <a:prstGeom prst="rect">
          <a:avLst/>
        </a:prstGeom>
        <a:solidFill>
          <a:schemeClr val="accent5">
            <a:hueOff val="993165"/>
            <a:satOff val="576"/>
            <a:lumOff val="568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25" tIns="107304" rIns="102225" bIns="1073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Inequality in healthcare access for people with diabetes across income levels?</a:t>
          </a:r>
        </a:p>
      </dsp:txBody>
      <dsp:txXfrm>
        <a:off x="6323522" y="1732750"/>
        <a:ext cx="2086197" cy="125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1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922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45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9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05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020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12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821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60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113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887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728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388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131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270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33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2E57EE-CF9B-4904-A3FC-BBD5672DE9B7}" type="datetimeFigureOut">
              <a:rPr lang="es-ES" smtClean="0"/>
              <a:t>24/01/2025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ECD882-2316-4AD6-A9D1-1272AFDCC9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167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857BD-EA6F-15CE-2F3E-C431A0536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Analysis of Diabetes in Population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05B600-84A1-FF7F-BEB1-37DF43375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Pablo Alfaro</a:t>
            </a:r>
          </a:p>
          <a:p>
            <a:r>
              <a:rPr lang="en-US" dirty="0"/>
              <a:t>David </a:t>
            </a:r>
            <a:r>
              <a:rPr lang="en-US" dirty="0" err="1"/>
              <a:t>Carrascosa</a:t>
            </a:r>
            <a:endParaRPr lang="en-US" dirty="0"/>
          </a:p>
          <a:p>
            <a:r>
              <a:rPr lang="en-US" dirty="0"/>
              <a:t>Camilo Mercado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821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C250E7F-2CB1-AA0A-8CC9-9C3D8D10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Research Questions</a:t>
            </a:r>
            <a:endParaRPr lang="es-ES" dirty="0">
              <a:solidFill>
                <a:srgbClr val="262626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D5AAB10-508B-01D2-4A02-A882BDD80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764580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4033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5E66D3F-14EA-4BCD-819B-EEF581746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D49D3EDE-CC3B-4573-A04B-26F32F1B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700D0D4B-CC81-434D-B595-71AA69192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B8047919-8C66-4EF3-9979-FB7112EB6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C00195C4-7BCF-469C-A003-AC2F0D2F9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CEE82425-33CD-4CF1-9623-91BECE687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7D1D503-B554-E62E-5652-FE6471D1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Our Stakeholders</a:t>
            </a:r>
            <a:endParaRPr lang="es-ES">
              <a:solidFill>
                <a:srgbClr val="262626"/>
              </a:solidFill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D5289D1-D3B7-4C53-823E-280A79C0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ealthcare provider Icon - Free PNG &amp; SVG 2279975 - Noun Project">
            <a:extLst>
              <a:ext uri="{FF2B5EF4-FFF2-40B4-BE49-F238E27FC236}">
                <a16:creationId xmlns:a16="http://schemas.microsoft.com/office/drawing/2014/main" id="{8F18D14C-DFAA-F3AB-5D4D-22183CADF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1693" y="1410208"/>
            <a:ext cx="3858780" cy="385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A456CE10-0EE3-4503-ACF3-1D53A6FDB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06DFF6-E622-160C-CC2B-7AB4EC379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Public Health Organization</a:t>
            </a:r>
          </a:p>
          <a:p>
            <a:r>
              <a:rPr lang="en-US">
                <a:solidFill>
                  <a:srgbClr val="262626"/>
                </a:solidFill>
              </a:rPr>
              <a:t>Healthcare Providers</a:t>
            </a:r>
          </a:p>
          <a:p>
            <a:r>
              <a:rPr lang="en-US">
                <a:solidFill>
                  <a:srgbClr val="262626"/>
                </a:solidFill>
              </a:rPr>
              <a:t>Policy makers</a:t>
            </a:r>
            <a:endParaRPr lang="es-ES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55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75ACF-C4DA-B2F3-80D9-61B0CF7A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Structure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68A236E-ABDD-1042-A236-8C4C6FF32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770903"/>
              </p:ext>
            </p:extLst>
          </p:nvPr>
        </p:nvGraphicFramePr>
        <p:xfrm>
          <a:off x="1295400" y="2557463"/>
          <a:ext cx="9601200" cy="1930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1304419265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25956424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02665038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033624218"/>
                    </a:ext>
                  </a:extLst>
                </a:gridCol>
              </a:tblGrid>
              <a:tr h="711376">
                <a:tc>
                  <a:txBody>
                    <a:bodyPr/>
                    <a:lstStyle/>
                    <a:p>
                      <a:r>
                        <a:rPr lang="en-US" dirty="0"/>
                        <a:t>Diabetes Status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Body Mass Index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Days of Poor Mental Health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Group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80328"/>
                  </a:ext>
                </a:extLst>
              </a:tr>
              <a:tr h="406501">
                <a:tc>
                  <a:txBody>
                    <a:bodyPr/>
                    <a:lstStyle/>
                    <a:p>
                      <a:r>
                        <a:rPr lang="en-US" dirty="0"/>
                        <a:t>0: No diabetes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18-24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07633"/>
                  </a:ext>
                </a:extLst>
              </a:tr>
              <a:tr h="406501">
                <a:tc>
                  <a:txBody>
                    <a:bodyPr/>
                    <a:lstStyle/>
                    <a:p>
                      <a:r>
                        <a:rPr lang="en-US" dirty="0"/>
                        <a:t>1: Prediabetes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60-64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476564"/>
                  </a:ext>
                </a:extLst>
              </a:tr>
              <a:tr h="406501">
                <a:tc>
                  <a:txBody>
                    <a:bodyPr/>
                    <a:lstStyle/>
                    <a:p>
                      <a:r>
                        <a:rPr lang="en-US" dirty="0"/>
                        <a:t>2: Diabetes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80+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0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E66D3F-14EA-4BCD-819B-EEF581746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9D3EDE-CC3B-4573-A04B-26F32F1B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00D0D4B-CC81-434D-B595-71AA69192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047919-8C66-4EF3-9979-FB7112EB6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00195C4-7BCF-469C-A003-AC2F0D2F9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EE82425-33CD-4CF1-9623-91BECE687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156785F-7FD3-D0C7-C1DD-61710299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Analysis</a:t>
            </a:r>
            <a:endParaRPr lang="es-ES">
              <a:solidFill>
                <a:srgbClr val="26262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289D1-D3B7-4C53-823E-280A79C0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stadísticas">
            <a:extLst>
              <a:ext uri="{FF2B5EF4-FFF2-40B4-BE49-F238E27FC236}">
                <a16:creationId xmlns:a16="http://schemas.microsoft.com/office/drawing/2014/main" id="{61164082-E854-2AD6-B586-FE0AA75D6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1693" y="1410208"/>
            <a:ext cx="3858780" cy="38587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56CE10-0EE3-4503-ACF3-1D53A6FDB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0E3608-E0D6-9519-1B6A-6DE05EBC7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Load &amp; Explore Dataset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Descriptive Statistics &amp; EDA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Hypothesis 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Logistic Regression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Clustering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>
                <a:solidFill>
                  <a:srgbClr val="262626"/>
                </a:solidFill>
              </a:rPr>
              <a:t>Inequality Analysis (GINI)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s-ES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36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35F25-E0AC-D0BF-2DB8-2A1E6C28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&amp; Explore Dataset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F2166E-81B4-2E1A-7824-EA256B40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56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4" name="Group 3213">
            <a:extLst>
              <a:ext uri="{FF2B5EF4-FFF2-40B4-BE49-F238E27FC236}">
                <a16:creationId xmlns:a16="http://schemas.microsoft.com/office/drawing/2014/main" id="{3FEEE78B-6EC9-4EE6-B42A-C56FE0583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3215" name="Picture 3214">
              <a:extLst>
                <a:ext uri="{FF2B5EF4-FFF2-40B4-BE49-F238E27FC236}">
                  <a16:creationId xmlns:a16="http://schemas.microsoft.com/office/drawing/2014/main" id="{2989D3D0-25DB-4F46-A08D-5FA66FBFD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216" name="Rectangle 3215">
              <a:extLst>
                <a:ext uri="{FF2B5EF4-FFF2-40B4-BE49-F238E27FC236}">
                  <a16:creationId xmlns:a16="http://schemas.microsoft.com/office/drawing/2014/main" id="{82F2E3AD-002C-47F6-A7F8-7D07CE2BA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3217" name="Picture 3216">
              <a:extLst>
                <a:ext uri="{FF2B5EF4-FFF2-40B4-BE49-F238E27FC236}">
                  <a16:creationId xmlns:a16="http://schemas.microsoft.com/office/drawing/2014/main" id="{9F26D44A-571B-4B37-B312-F1EB96D07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3218" name="Picture 3217">
              <a:extLst>
                <a:ext uri="{FF2B5EF4-FFF2-40B4-BE49-F238E27FC236}">
                  <a16:creationId xmlns:a16="http://schemas.microsoft.com/office/drawing/2014/main" id="{8912A71A-A72B-4A6F-92A9-2B170CE42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3220" name="Straight Connector 3219">
            <a:extLst>
              <a:ext uri="{FF2B5EF4-FFF2-40B4-BE49-F238E27FC236}">
                <a16:creationId xmlns:a16="http://schemas.microsoft.com/office/drawing/2014/main" id="{A82A5FDC-0CB0-426A-A974-5B7A646F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222" name="Rectangle 3221">
            <a:extLst>
              <a:ext uri="{FF2B5EF4-FFF2-40B4-BE49-F238E27FC236}">
                <a16:creationId xmlns:a16="http://schemas.microsoft.com/office/drawing/2014/main" id="{872A2106-619A-4547-972C-D15417B24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24" name="Group 3223">
            <a:extLst>
              <a:ext uri="{FF2B5EF4-FFF2-40B4-BE49-F238E27FC236}">
                <a16:creationId xmlns:a16="http://schemas.microsoft.com/office/drawing/2014/main" id="{45D8547F-80F6-4AFA-8B48-8A60511BB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29962" cy="6856214"/>
            <a:chOff x="-15736" y="0"/>
            <a:chExt cx="12229962" cy="6856214"/>
          </a:xfrm>
        </p:grpSpPr>
        <p:pic>
          <p:nvPicPr>
            <p:cNvPr id="3225" name="Picture 3224">
              <a:extLst>
                <a:ext uri="{FF2B5EF4-FFF2-40B4-BE49-F238E27FC236}">
                  <a16:creationId xmlns:a16="http://schemas.microsoft.com/office/drawing/2014/main" id="{AE5E8AB1-EE99-473C-9F5B-7E0A71082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226" name="Rectangle 3225">
              <a:extLst>
                <a:ext uri="{FF2B5EF4-FFF2-40B4-BE49-F238E27FC236}">
                  <a16:creationId xmlns:a16="http://schemas.microsoft.com/office/drawing/2014/main" id="{ACC31A8D-F93B-428A-874F-1C99A34DD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3227" name="Picture 3226">
              <a:extLst>
                <a:ext uri="{FF2B5EF4-FFF2-40B4-BE49-F238E27FC236}">
                  <a16:creationId xmlns:a16="http://schemas.microsoft.com/office/drawing/2014/main" id="{5DE4164C-38F6-4655-89D4-519E722C5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228" name="Picture 3227">
              <a:extLst>
                <a:ext uri="{FF2B5EF4-FFF2-40B4-BE49-F238E27FC236}">
                  <a16:creationId xmlns:a16="http://schemas.microsoft.com/office/drawing/2014/main" id="{8118AF37-9DEC-4E9F-A1E7-0B1B9DB7D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3DDE762-1206-179A-84E3-2433A7CE2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23" y="1041401"/>
            <a:ext cx="5014377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Descriptive Statistics &amp; EDA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A869F1-1079-9C93-3B63-05EA2A0501F7}"/>
              </a:ext>
            </a:extLst>
          </p:cNvPr>
          <p:cNvSpPr txBox="1"/>
          <p:nvPr/>
        </p:nvSpPr>
        <p:spPr>
          <a:xfrm>
            <a:off x="1081623" y="3657597"/>
            <a:ext cx="5001816" cy="20791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2100"/>
              <a:t>WITH OUTLIERS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E1A1CC0-70AB-7424-9BA6-04F225F0C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68" b="3"/>
          <a:stretch/>
        </p:blipFill>
        <p:spPr bwMode="auto">
          <a:xfrm>
            <a:off x="8997178" y="1232053"/>
            <a:ext cx="2140937" cy="2127424"/>
          </a:xfrm>
          <a:prstGeom prst="rect">
            <a:avLst/>
          </a:prstGeom>
          <a:noFill/>
          <a:ln w="57150" cmpd="thickThin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30" name="Straight Connector 3229">
            <a:extLst>
              <a:ext uri="{FF2B5EF4-FFF2-40B4-BE49-F238E27FC236}">
                <a16:creationId xmlns:a16="http://schemas.microsoft.com/office/drawing/2014/main" id="{366CF278-DE3C-44C3-B0CE-AF5136750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0" y="3522131"/>
            <a:ext cx="9601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260C38D5-4FAF-8B2B-5B00-2EA3640E3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75" r="-2" b="-2"/>
          <a:stretch/>
        </p:blipFill>
        <p:spPr bwMode="auto">
          <a:xfrm>
            <a:off x="6573176" y="3682997"/>
            <a:ext cx="4538834" cy="2137328"/>
          </a:xfrm>
          <a:prstGeom prst="rect">
            <a:avLst/>
          </a:prstGeom>
          <a:noFill/>
          <a:ln w="57150" cmpd="thickThin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62179EF0-B464-B131-3816-6B13C04F3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"/>
          <a:stretch/>
        </p:blipFill>
        <p:spPr bwMode="auto">
          <a:xfrm>
            <a:off x="6553874" y="1304537"/>
            <a:ext cx="2128698" cy="2054941"/>
          </a:xfrm>
          <a:prstGeom prst="rect">
            <a:avLst/>
          </a:prstGeom>
          <a:noFill/>
          <a:ln w="57150" cmpd="thickThin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02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AD36-6043-F578-9525-E0F82E87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55A30-6814-9BF7-C4D0-D8696412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23" y="1041401"/>
            <a:ext cx="5014377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Descriptive Statistics &amp; EDA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56D127-E2EC-C97F-F6B5-2B57474BA83B}"/>
              </a:ext>
            </a:extLst>
          </p:cNvPr>
          <p:cNvSpPr txBox="1"/>
          <p:nvPr/>
        </p:nvSpPr>
        <p:spPr>
          <a:xfrm>
            <a:off x="1081623" y="3657597"/>
            <a:ext cx="5001816" cy="20791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2100" dirty="0"/>
              <a:t>WITHOUT OUTLIERS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AD8D7AF-B108-D11C-5EEF-6296312A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960" y="1304537"/>
            <a:ext cx="2541967" cy="193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C8EA0E-38DC-37E1-5889-387E88189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370" y="1201989"/>
            <a:ext cx="2315223" cy="2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EFC0FACB-E21B-93D0-E4BF-A0F92E03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59" y="3359185"/>
            <a:ext cx="4089002" cy="267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82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BAEC3-7FD1-151D-68D2-FBE6AB7F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2B4777-DE33-C65F-FAF3-7DFE0C53F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01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4" name="Group 5126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5128" name="Picture 5127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146" name="Rectangle 5128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5130" name="Picture 5129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5131" name="Picture 5130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5147" name="Straight Connector 5132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148" name="Rectangle 5134">
            <a:extLst>
              <a:ext uri="{FF2B5EF4-FFF2-40B4-BE49-F238E27FC236}">
                <a16:creationId xmlns:a16="http://schemas.microsoft.com/office/drawing/2014/main" id="{28FA177F-145C-478A-A7ED-8D021CE76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49" name="Group 5136">
            <a:extLst>
              <a:ext uri="{FF2B5EF4-FFF2-40B4-BE49-F238E27FC236}">
                <a16:creationId xmlns:a16="http://schemas.microsoft.com/office/drawing/2014/main" id="{1A96A522-1258-462E-AFC5-F5E3F1411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138" name="Picture 5137">
              <a:extLst>
                <a:ext uri="{FF2B5EF4-FFF2-40B4-BE49-F238E27FC236}">
                  <a16:creationId xmlns:a16="http://schemas.microsoft.com/office/drawing/2014/main" id="{ECD43597-59D1-4246-A90D-26FE2B608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150" name="Rectangle 5138">
              <a:extLst>
                <a:ext uri="{FF2B5EF4-FFF2-40B4-BE49-F238E27FC236}">
                  <a16:creationId xmlns:a16="http://schemas.microsoft.com/office/drawing/2014/main" id="{2ED48CD8-BE7A-4992-8570-58DEE9826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5140" name="Picture 5139">
              <a:extLst>
                <a:ext uri="{FF2B5EF4-FFF2-40B4-BE49-F238E27FC236}">
                  <a16:creationId xmlns:a16="http://schemas.microsoft.com/office/drawing/2014/main" id="{9A68BD7C-72FC-4E92-88BB-3401D485D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141" name="Picture 5140">
              <a:extLst>
                <a:ext uri="{FF2B5EF4-FFF2-40B4-BE49-F238E27FC236}">
                  <a16:creationId xmlns:a16="http://schemas.microsoft.com/office/drawing/2014/main" id="{C8B73423-E00D-4FC9-9873-0C259A14B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BBD791-DB95-03A7-547E-A085FA71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770" y="1041401"/>
            <a:ext cx="453852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262626"/>
                </a:solidFill>
              </a:rPr>
              <a:t>Logistic Regression</a:t>
            </a:r>
          </a:p>
        </p:txBody>
      </p:sp>
      <p:sp>
        <p:nvSpPr>
          <p:cNvPr id="5143" name="Rectangle 5142">
            <a:extLst>
              <a:ext uri="{FF2B5EF4-FFF2-40B4-BE49-F238E27FC236}">
                <a16:creationId xmlns:a16="http://schemas.microsoft.com/office/drawing/2014/main" id="{22EEABFB-D1AB-4BFF-84FC-449548E9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4976494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EC7137-E4B5-0E94-20F3-9BF6551D6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8155" y="1305398"/>
            <a:ext cx="4897099" cy="416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45" name="Straight Connector 5144">
            <a:extLst>
              <a:ext uri="{FF2B5EF4-FFF2-40B4-BE49-F238E27FC236}">
                <a16:creationId xmlns:a16="http://schemas.microsoft.com/office/drawing/2014/main" id="{4231BC86-8965-4F95-9FD9-76313A7D6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770" y="3522131"/>
            <a:ext cx="4520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56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B2978-F43B-41F0-6D0C-287CA37D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3F5A1-BC20-011F-1338-C7AC4890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2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1B663-12C7-0B42-573B-FFDD8762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Inequality Analysis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EAB40-5864-6EAA-B29B-0D33371C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103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70BA0-6D46-363C-AC83-077C2BB6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7CA4DE-9702-1E65-CB02-091C17999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788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2" name="Picture 12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pic>
          <p:nvPicPr>
            <p:cNvPr id="23" name="Picture 14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52C0A4C-23FA-15FC-96C7-CD4971F3D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442" y="3022777"/>
            <a:ext cx="4094017" cy="812441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262626"/>
                </a:solidFill>
              </a:rPr>
              <a:t>Thank you!</a:t>
            </a:r>
            <a:endParaRPr lang="es-ES" sz="4800" dirty="0">
              <a:solidFill>
                <a:srgbClr val="262626"/>
              </a:solidFill>
            </a:endParaRPr>
          </a:p>
        </p:txBody>
      </p:sp>
      <p:pic>
        <p:nvPicPr>
          <p:cNvPr id="7" name="Graphic 6" descr="Apretón de manos">
            <a:extLst>
              <a:ext uri="{FF2B5EF4-FFF2-40B4-BE49-F238E27FC236}">
                <a16:creationId xmlns:a16="http://schemas.microsoft.com/office/drawing/2014/main" id="{E51BFF6B-4191-5B4B-7637-D24B8D359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6533" y="982131"/>
            <a:ext cx="489373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194245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99</TotalTime>
  <Words>173</Words>
  <Application>Microsoft Office PowerPoint</Application>
  <PresentationFormat>Panorámica</PresentationFormat>
  <Paragraphs>47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Orgánico</vt:lpstr>
      <vt:lpstr>Statistical Analysis of Diabetes in Population</vt:lpstr>
      <vt:lpstr>Research Questions</vt:lpstr>
      <vt:lpstr>Our Stakeholders</vt:lpstr>
      <vt:lpstr>Dataset Structure</vt:lpstr>
      <vt:lpstr>Analysis</vt:lpstr>
      <vt:lpstr>Load &amp; Explore Dataset</vt:lpstr>
      <vt:lpstr>Descriptive Statistics &amp; EDA</vt:lpstr>
      <vt:lpstr>Descriptive Statistics &amp; EDA</vt:lpstr>
      <vt:lpstr>Hypothesis Testing</vt:lpstr>
      <vt:lpstr>Logistic Regression</vt:lpstr>
      <vt:lpstr>Clustering</vt:lpstr>
      <vt:lpstr>Inequality Analysis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Alfaro</dc:creator>
  <cp:lastModifiedBy>Pablo Alfaro</cp:lastModifiedBy>
  <cp:revision>1</cp:revision>
  <dcterms:created xsi:type="dcterms:W3CDTF">2025-01-24T12:30:04Z</dcterms:created>
  <dcterms:modified xsi:type="dcterms:W3CDTF">2025-01-24T14:09:55Z</dcterms:modified>
</cp:coreProperties>
</file>