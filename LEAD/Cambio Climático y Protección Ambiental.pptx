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Economica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Economica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italic.fntdata"/><Relationship Id="rId25" Type="http://schemas.openxmlformats.org/officeDocument/2006/relationships/font" Target="fonts/Economica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Economic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a1265658d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a1265658d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a1265658d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a1265658d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ad95049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ad95049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c150f1c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c150f1c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ad950493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8ad950493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8c150f1c8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8c150f1c8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ad950493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ad950493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c150f1c8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8c150f1c8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21a5680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21a5680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c150f1c84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c150f1c84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8c150f1c8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8c150f1c8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8c150f1c8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8c150f1c8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ad950493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ad950493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gif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2759550" y="1423975"/>
            <a:ext cx="3624900" cy="165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Cambio 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Climático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y 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Protección</a:t>
            </a:r>
            <a:r>
              <a:rPr lang="en">
                <a:latin typeface="Economica"/>
                <a:ea typeface="Economica"/>
                <a:cs typeface="Economica"/>
                <a:sym typeface="Economica"/>
              </a:rPr>
              <a:t> Ambiental  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50493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Grupo: Descartes de realidad 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¿Qué es el cambio climático? 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714700" cy="16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32323"/>
                </a:solidFill>
                <a:latin typeface="Raleway"/>
                <a:ea typeface="Raleway"/>
                <a:cs typeface="Raleway"/>
                <a:sym typeface="Raleway"/>
              </a:rPr>
              <a:t>El cambio climático es un reto global que no tiene fronteras y que para combatirlo requiere del trabajo coordinado por parte de todos los países.</a:t>
            </a:r>
            <a:endParaRPr>
              <a:solidFill>
                <a:srgbClr val="232323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9300"/>
              </a:spcBef>
              <a:spcAft>
                <a:spcPts val="1600"/>
              </a:spcAft>
              <a:buNone/>
            </a:pPr>
            <a:r>
              <a:t/>
            </a:r>
            <a:endParaRPr sz="11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61325"/>
            <a:ext cx="9144000" cy="21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ciencia detrás del cambio climático 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333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Gases de efecto invernadero (CO2)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Petróleo, carbón, extractos de naturales, etc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Combustibles agregan 1,000 toneladas cada segundo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612" y="2385050"/>
            <a:ext cx="4891876" cy="23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Historia del calentamiento global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5225"/>
            <a:ext cx="823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Cambio observado en 1850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 Svante Arrhenius 1896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 Charles Keeling 1960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- 2011 - 2019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75" y="3214000"/>
            <a:ext cx="2510089" cy="141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4572" y="1292312"/>
            <a:ext cx="5210976" cy="321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188" y="673063"/>
            <a:ext cx="6551625" cy="379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Discusión sobre el cambio climático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8382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-Cambio climático siempre ha existido.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-No todos los científicos lo confirman.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-CO2 es bueno para las plantas.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-Nuevas zonas fértiles.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200" y="1711313"/>
            <a:ext cx="4147950" cy="238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809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Daños ocasionados 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382100" y="1193299"/>
            <a:ext cx="4617300" cy="30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Mayor intensidad en inviernos y veranos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Huracanes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 de mayor fuerza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Ondas de calor, sequías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Pérdida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 exponencial de glaciares  → incremento de niveles marítimos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Incremento de acidez en el mar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Plantas y animales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aleway"/>
              <a:buChar char="●"/>
            </a:pP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Pérdida de seguridad 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alimentaria</a:t>
            </a:r>
            <a:r>
              <a:rPr lang="en" sz="15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00" y="1727988"/>
            <a:ext cx="3937574" cy="16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Protección ambiental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316725"/>
            <a:ext cx="7662300" cy="32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Conservar vida humana, flora y fauna.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Bienestar para futuras generaciones.</a:t>
            </a:r>
            <a:endParaRPr/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Responsabilidad ambiental.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04008"/>
            <a:ext cx="3465850" cy="360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Estrategias para combatir el cambio climático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En el 2015 se logró alcanzar el acuerdo internacional de 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París</a:t>
            </a:r>
            <a:r>
              <a:rPr lang="en">
                <a:latin typeface="Raleway"/>
                <a:ea typeface="Raleway"/>
                <a:cs typeface="Raleway"/>
                <a:sym typeface="Raleway"/>
              </a:rPr>
              <a:t>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Dicho acuerdo tiene la finalidad de evitar que el la Tierra se caliente más de 1,5</a:t>
            </a:r>
            <a:r>
              <a:rPr lang="en" sz="1200">
                <a:solidFill>
                  <a:srgbClr val="2222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°C.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Se propone buscar estrategias que mitiguen el Cambio Climático y que nos permitan adaptarnos.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CR tuvo una labor clave en la formulación del acuerdo.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Hasta el momento, países como EEUU han decidido retirarse del acuerdo.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16575"/>
            <a:ext cx="4367725" cy="3134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Protección</a:t>
            </a:r>
            <a:r>
              <a:rPr lang="en"/>
              <a:t> ambiental en Costa Rica 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Actualmente, Costa Rica cuenta con la mayor superficie protegida del mundo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en">
                <a:latin typeface="Raleway"/>
                <a:ea typeface="Raleway"/>
                <a:cs typeface="Raleway"/>
                <a:sym typeface="Raleway"/>
              </a:rPr>
              <a:t>El 25,6% de la superficie del país se encuentra sometida a algún tipo de protección estatal, junto con alr</a:t>
            </a:r>
            <a:r>
              <a:rPr lang="en" sz="1400">
                <a:latin typeface="Raleway"/>
                <a:ea typeface="Raleway"/>
                <a:cs typeface="Raleway"/>
                <a:sym typeface="Raleway"/>
              </a:rPr>
              <a:t>ededor de un 8% en manos privadas</a:t>
            </a:r>
            <a:endParaRPr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7272" y="1264960"/>
            <a:ext cx="3769075" cy="32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34600" y="421325"/>
            <a:ext cx="7868700" cy="6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M</a:t>
            </a:r>
            <a:r>
              <a:rPr lang="en" sz="4100"/>
              <a:t>ercado de bonos de carbono</a:t>
            </a:r>
            <a:endParaRPr sz="4100"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Propuesto en el artículo 6 del Acuerdo de París.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Mecanismo para que empresas y gobiernos compensen su huella de emisión de G.E.I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Los bonos de carbono financian proyectos que buscan mitigar el CC.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Font typeface="Raleway"/>
              <a:buChar char="●"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CR es uno de los principales vendedores de bonos de carbono.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3300" y="1691722"/>
            <a:ext cx="3999901" cy="2421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 de la OECD 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Apoya a la ONU a cumplir la agenda 2030 para el desarrollo sostenible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Monitorea el rendimiento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Trabajo con las 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políticas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 de los 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países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 Promueve inversión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Crecimiento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inclusivo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 y bienestar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Sostenibilidad 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global</a:t>
            </a: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Provee datos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aleway"/>
              <a:buChar char="●"/>
            </a:pPr>
            <a:r>
              <a:rPr lang="en" sz="1700">
                <a:latin typeface="Raleway"/>
                <a:ea typeface="Raleway"/>
                <a:cs typeface="Raleway"/>
                <a:sym typeface="Raleway"/>
              </a:rPr>
              <a:t>Promueve alianzas </a:t>
            </a:r>
            <a:endParaRPr sz="17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650" y="1394500"/>
            <a:ext cx="4527601" cy="3015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Evaluación OCDE cambio climático: Políticas 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306450"/>
            <a:ext cx="4790700" cy="312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Políticas consumo de agua 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Plan energético nacional (2015-30)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Política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nacional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 de biodiversidad (2015-30)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Estrategia</a:t>
            </a: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 para el CC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Plan de descarbonización (2018 - 50)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latin typeface="Raleway"/>
                <a:ea typeface="Raleway"/>
                <a:cs typeface="Raleway"/>
                <a:sym typeface="Raleway"/>
              </a:rPr>
              <a:t>Política de manejo de desperdicios       (2010 -21)</a:t>
            </a:r>
            <a:endParaRPr sz="16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713" y="1656819"/>
            <a:ext cx="3738582" cy="249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017400" y="1142000"/>
            <a:ext cx="31092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¡Muchas gracias!</a:t>
            </a:r>
            <a:endParaRPr sz="3000"/>
          </a:p>
        </p:txBody>
      </p:sp>
      <p:pic>
        <p:nvPicPr>
          <p:cNvPr id="152" name="Google Shape;152;p26"/>
          <p:cNvPicPr preferRelativeResize="0"/>
          <p:nvPr/>
        </p:nvPicPr>
        <p:blipFill rotWithShape="1">
          <a:blip r:embed="rId3">
            <a:alphaModFix/>
          </a:blip>
          <a:srcRect b="8584" l="0" r="0" t="0"/>
          <a:stretch/>
        </p:blipFill>
        <p:spPr>
          <a:xfrm>
            <a:off x="3215700" y="2198475"/>
            <a:ext cx="2712600" cy="2678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